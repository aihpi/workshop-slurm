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jpeg" ContentType="image/jpeg"/>
  <Override PartName="/ppt/media/image2.jpeg" ContentType="image/jpeg"/>
  <Override PartName="/ppt/media/image3.jpeg" ContentType="image/jpeg"/>
  <Override PartName="/ppt/notesSlides/notesSlide2.xml" ContentType="application/vnd.openxmlformats-officedocument.presentationml.notesSlide+xml"/>
  <Override PartName="/ppt/media/image4.jpeg" ContentType="image/jpeg"/>
  <Override PartName="/ppt/charts/chart1.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4CACD"/>
          </a:solidFill>
        </a:fill>
      </a:tcStyle>
    </a:wholeTbl>
    <a:band2H>
      <a:tcTxStyle b="def" i="def"/>
      <a:tcStyle>
        <a:tcBdr/>
        <a:fill>
          <a:solidFill>
            <a:srgbClr val="F2E6E7"/>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BE1CA"/>
          </a:solidFill>
        </a:fill>
      </a:tcStyle>
    </a:wholeTbl>
    <a:band2H>
      <a:tcTxStyle b="def" i="def"/>
      <a:tcStyle>
        <a:tcBdr/>
        <a:fill>
          <a:solidFill>
            <a:srgbClr val="FDF1E6"/>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DBDC"/>
          </a:solidFill>
        </a:fill>
      </a:tcStyle>
    </a:wholeTbl>
    <a:band2H>
      <a:tcTxStyle b="def" i="def"/>
      <a:tcStyle>
        <a:tcBdr/>
        <a:fill>
          <a:solidFill>
            <a:srgbClr val="EDEEEE"/>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Verdana"/>
          <a:ea typeface="Verdana"/>
          <a:cs typeface="Verdana"/>
        </a:font>
        <a:srgbClr val="5A6065"/>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A"/>
          </a:solidFill>
        </a:fill>
      </a:tcStyle>
    </a:wholeTbl>
    <a:band2H>
      <a:tcTxStyle b="def" i="def"/>
      <a:tcStyle>
        <a:tcBdr/>
        <a:fill>
          <a:solidFill>
            <a:srgbClr val="FFFFFF"/>
          </a:solidFill>
        </a:fill>
      </a:tcStyle>
    </a:band2H>
    <a:firstCol>
      <a:tcTxStyle b="on" i="off">
        <a:font>
          <a:latin typeface="Verdana"/>
          <a:ea typeface="Verdana"/>
          <a:cs typeface="Verdan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Verdana"/>
          <a:ea typeface="Verdana"/>
          <a:cs typeface="Verdana"/>
        </a:font>
        <a:srgbClr val="5A6065"/>
      </a:tcTxStyle>
      <a:tcStyle>
        <a:tcBdr>
          <a:left>
            <a:ln w="12700" cap="flat">
              <a:noFill/>
              <a:miter lim="400000"/>
            </a:ln>
          </a:left>
          <a:right>
            <a:ln w="12700" cap="flat">
              <a:noFill/>
              <a:miter lim="400000"/>
            </a:ln>
          </a:right>
          <a:top>
            <a:ln w="508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Verdana"/>
          <a:ea typeface="Verdana"/>
          <a:cs typeface="Verdana"/>
        </a:font>
        <a:srgbClr val="FFFFFF"/>
      </a:tcTxStyle>
      <a:tcStyle>
        <a:tcBdr>
          <a:left>
            <a:ln w="12700" cap="flat">
              <a:noFill/>
              <a:miter lim="400000"/>
            </a:ln>
          </a:left>
          <a:right>
            <a:ln w="12700" cap="flat">
              <a:noFill/>
              <a:miter lim="400000"/>
            </a:ln>
          </a:right>
          <a:top>
            <a:ln w="254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1D2"/>
          </a:solidFill>
        </a:fill>
      </a:tcStyle>
    </a:wholeTbl>
    <a:band2H>
      <a:tcTxStyle b="def" i="def"/>
      <a:tcStyle>
        <a:tcBdr/>
        <a:fill>
          <a:solidFill>
            <a:srgbClr val="E9E9EA"/>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Row>
  </a:tblStyle>
  <a:tblStyle styleId="{2708684C-4D16-4618-839F-0558EEFCDFE6}" styleName="">
    <a:tblBg/>
    <a:wholeTbl>
      <a:tcTxStyle b="off"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wholeTbl>
    <a:band2H>
      <a:tcTxStyle b="def" i="def"/>
      <a:tcStyle>
        <a:tcBdr/>
        <a:fill>
          <a:solidFill>
            <a:srgbClr val="FFFFFF"/>
          </a:solidFill>
        </a:fill>
      </a:tcStyle>
    </a:band2H>
    <a:firstCol>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firstCol>
    <a:la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508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lastRow>
    <a:fir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254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charts/_rels/chart1.xml.rels><?xml version="1.0" encoding="UTF-8"?>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1"/>
  <c:roundedCorners val="0"/>
  <c:chart>
    <c:autoTitleDeleted val="1"/>
    <c:plotArea>
      <c:layout>
        <c:manualLayout>
          <c:layoutTarget val="inner"/>
          <c:xMode val="edge"/>
          <c:yMode val="edge"/>
          <c:x val="0.171484"/>
          <c:y val="0.115346"/>
          <c:w val="0.800069"/>
          <c:h val="0.696839"/>
        </c:manualLayout>
      </c:layout>
      <c:lineChart>
        <c:grouping val="standard"/>
        <c:varyColors val="0"/>
        <c:ser>
          <c:idx val="0"/>
          <c:order val="0"/>
          <c:tx>
            <c:strRef>
              <c:f>Sheet1!$A$2</c:f>
              <c:strCache>
                <c:ptCount val="1"/>
                <c:pt idx="0">
                  <c:v>Good Share</c:v>
                </c:pt>
              </c:strCache>
            </c:strRef>
          </c:tx>
          <c:spPr>
            <a:solidFill>
              <a:schemeClr val="accent1"/>
            </a:solidFill>
            <a:ln w="31750" cap="flat">
              <a:solidFill>
                <a:schemeClr val="accent1"/>
              </a:solidFill>
              <a:prstDash val="solid"/>
              <a:miter lim="800000"/>
            </a:ln>
            <a:effectLst/>
          </c:spPr>
          <c:marker>
            <c:symbol val="circle"/>
            <c:size val="7"/>
            <c:spPr>
              <a:solidFill>
                <a:schemeClr val="accent1"/>
              </a:solidFill>
              <a:ln w="6350" cap="flat">
                <a:solidFill>
                  <a:schemeClr val="accent1"/>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Sheet1!$B$2:$H$2</c:f>
              <c:numCache>
                <c:ptCount val="7"/>
                <c:pt idx="0">
                  <c:v>100.000000</c:v>
                </c:pt>
                <c:pt idx="1">
                  <c:v>90.000000</c:v>
                </c:pt>
                <c:pt idx="2">
                  <c:v>85.000000</c:v>
                </c:pt>
                <c:pt idx="3">
                  <c:v>80.000000</c:v>
                </c:pt>
                <c:pt idx="4">
                  <c:v>75.000000</c:v>
                </c:pt>
                <c:pt idx="5">
                  <c:v>70.000000</c:v>
                </c:pt>
                <c:pt idx="6">
                  <c:v>65.000000</c:v>
                </c:pt>
              </c:numCache>
            </c:numRef>
          </c:val>
          <c:smooth val="0"/>
        </c:ser>
        <c:ser>
          <c:idx val="1"/>
          <c:order val="1"/>
          <c:tx>
            <c:strRef>
              <c:f>Sheet1!$A$3</c:f>
              <c:strCache>
                <c:ptCount val="1"/>
                <c:pt idx="0">
                  <c:v>Bad Share</c:v>
                </c:pt>
              </c:strCache>
            </c:strRef>
          </c:tx>
          <c:spPr>
            <a:solidFill>
              <a:schemeClr val="accent2"/>
            </a:solidFill>
            <a:ln w="31750" cap="flat">
              <a:solidFill>
                <a:schemeClr val="accent2"/>
              </a:solidFill>
              <a:prstDash val="solid"/>
              <a:miter lim="800000"/>
            </a:ln>
            <a:effectLst/>
          </c:spPr>
          <c:marker>
            <c:symbol val="circle"/>
            <c:size val="7"/>
            <c:spPr>
              <a:solidFill>
                <a:schemeClr val="accent2"/>
              </a:solidFill>
              <a:ln w="6350" cap="flat">
                <a:solidFill>
                  <a:schemeClr val="accent2"/>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Sheet1!$B$3:$H$3</c:f>
              <c:numCache>
                <c:ptCount val="7"/>
                <c:pt idx="0">
                  <c:v>100.000000</c:v>
                </c:pt>
                <c:pt idx="1">
                  <c:v>60.000000</c:v>
                </c:pt>
                <c:pt idx="2">
                  <c:v>30.000000</c:v>
                </c:pt>
                <c:pt idx="3">
                  <c:v>15.000000</c:v>
                </c:pt>
                <c:pt idx="4">
                  <c:v>10.000000</c:v>
                </c:pt>
                <c:pt idx="5">
                  <c:v>25.000000</c:v>
                </c:pt>
                <c:pt idx="6">
                  <c:v>50.000000</c:v>
                </c:pt>
              </c:numCache>
            </c:numRef>
          </c:val>
          <c:smooth val="0"/>
        </c:ser>
        <c:marker val="1"/>
        <c:axId val="2094734552"/>
        <c:axId val="2094734553"/>
      </c:lineChart>
      <c:catAx>
        <c:axId val="2094734552"/>
        <c:scaling>
          <c:orientation val="minMax"/>
        </c:scaling>
        <c:delete val="0"/>
        <c:axPos val="b"/>
        <c:numFmt formatCode="General" sourceLinked="0"/>
        <c:majorTickMark val="out"/>
        <c:minorTickMark val="none"/>
        <c:tickLblPos val="low"/>
        <c:spPr>
          <a:ln w="12700" cap="flat">
            <a:noFill/>
            <a:miter lim="400000"/>
          </a:ln>
        </c:spPr>
        <c:txPr>
          <a:bodyPr rot="0"/>
          <a:lstStyle/>
          <a:p>
            <a:pPr>
              <a:defRPr b="0" i="0" strike="noStrike" sz="1800" u="none">
                <a:solidFill>
                  <a:srgbClr val="5A6065"/>
                </a:solidFill>
                <a:latin typeface="Verdana"/>
              </a:defRPr>
            </a:pPr>
          </a:p>
        </c:txPr>
        <c:crossAx val="2094734553"/>
        <c:crosses val="autoZero"/>
        <c:auto val="1"/>
        <c:lblAlgn val="ctr"/>
        <c:noMultiLvlLbl val="1"/>
      </c:catAx>
      <c:valAx>
        <c:axId val="2094734553"/>
        <c:scaling>
          <c:orientation val="minMax"/>
        </c:scaling>
        <c:delete val="0"/>
        <c:axPos val="l"/>
        <c:majorGridlines>
          <c:spPr>
            <a:ln w="12700" cap="flat">
              <a:solidFill>
                <a:srgbClr val="999C9E"/>
              </a:solidFill>
              <a:prstDash val="solid"/>
              <a:miter lim="800000"/>
            </a:ln>
          </c:spPr>
        </c:majorGridlines>
        <c:title>
          <c:tx>
            <c:rich>
              <a:bodyPr rot="-5400000"/>
              <a:lstStyle/>
              <a:p>
                <a:pPr>
                  <a:defRPr b="0" i="0" strike="noStrike" sz="1800" u="none">
                    <a:solidFill>
                      <a:srgbClr val="5A6065"/>
                    </a:solidFill>
                    <a:latin typeface="Verdana"/>
                  </a:defRPr>
                </a:pPr>
                <a:r>
                  <a:rPr b="0" i="0" strike="noStrike" sz="1800" u="none">
                    <a:solidFill>
                      <a:srgbClr val="5A6065"/>
                    </a:solidFill>
                    <a:latin typeface="Verdana"/>
                  </a:rPr>
                  <a:t>Priority (0-100)</a:t>
                </a:r>
              </a:p>
            </c:rich>
          </c:tx>
          <c:layout/>
          <c:overlay val="1"/>
        </c:title>
        <c:numFmt formatCode="General" sourceLinked="0"/>
        <c:majorTickMark val="out"/>
        <c:minorTickMark val="none"/>
        <c:tickLblPos val="nextTo"/>
        <c:spPr>
          <a:ln w="12700" cap="flat">
            <a:noFill/>
            <a:miter lim="400000"/>
          </a:ln>
        </c:spPr>
        <c:txPr>
          <a:bodyPr rot="0"/>
          <a:lstStyle/>
          <a:p>
            <a:pPr>
              <a:defRPr b="0" i="0" strike="noStrike" sz="1800" u="none">
                <a:solidFill>
                  <a:srgbClr val="5A6065"/>
                </a:solidFill>
                <a:latin typeface="Verdana"/>
              </a:defRPr>
            </a:pPr>
          </a:p>
        </c:txPr>
        <c:crossAx val="2094734552"/>
        <c:crosses val="autoZero"/>
        <c:crossBetween val="midCat"/>
        <c:majorUnit val="25"/>
        <c:minorUnit val="12.5"/>
      </c:valAx>
      <c:spPr>
        <a:noFill/>
        <a:ln w="12700" cap="flat">
          <a:noFill/>
          <a:miter lim="400000"/>
        </a:ln>
        <a:effectLst/>
      </c:spPr>
    </c:plotArea>
    <c:legend>
      <c:legendPos val="r"/>
      <c:layout>
        <c:manualLayout>
          <c:xMode val="edge"/>
          <c:yMode val="edge"/>
          <c:x val="0.740519"/>
          <c:y val="0.0176197"/>
          <c:w val="0.24595"/>
          <c:h val="0.255692"/>
        </c:manualLayout>
      </c:layout>
      <c:overlay val="1"/>
      <c:spPr>
        <a:noFill/>
        <a:ln w="12700" cap="flat">
          <a:noFill/>
          <a:miter lim="400000"/>
        </a:ln>
        <a:effectLst/>
      </c:spPr>
      <c:txPr>
        <a:bodyPr rot="0"/>
        <a:lstStyle/>
        <a:p>
          <a:pPr>
            <a:defRPr b="0" i="0" strike="noStrike" sz="1800" u="none">
              <a:solidFill>
                <a:srgbClr val="5A6065"/>
              </a:solidFill>
              <a:latin typeface="Verdana"/>
            </a:defRPr>
          </a:pPr>
        </a:p>
      </c:txPr>
    </c:legend>
    <c:plotVisOnly val="1"/>
    <c:dispBlanksAs val="gap"/>
  </c:chart>
  <c:spPr>
    <a:noFill/>
    <a:ln>
      <a:noFill/>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92" name="Shape 292"/>
          <p:cNvSpPr/>
          <p:nvPr>
            <p:ph type="sldImg"/>
          </p:nvPr>
        </p:nvSpPr>
        <p:spPr>
          <a:xfrm>
            <a:off x="1143000" y="685800"/>
            <a:ext cx="4572000" cy="3429000"/>
          </a:xfrm>
          <a:prstGeom prst="rect">
            <a:avLst/>
          </a:prstGeom>
        </p:spPr>
        <p:txBody>
          <a:bodyPr/>
          <a:lstStyle/>
          <a:p>
            <a:pPr/>
          </a:p>
        </p:txBody>
      </p:sp>
      <p:sp>
        <p:nvSpPr>
          <p:cNvPr id="293" name="Shape 29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Shape 302"/>
          <p:cNvSpPr/>
          <p:nvPr>
            <p:ph type="sldImg"/>
          </p:nvPr>
        </p:nvSpPr>
        <p:spPr>
          <a:prstGeom prst="rect">
            <a:avLst/>
          </a:prstGeom>
        </p:spPr>
        <p:txBody>
          <a:bodyPr/>
          <a:lstStyle/>
          <a:p>
            <a:pPr/>
          </a:p>
        </p:txBody>
      </p:sp>
      <p:sp>
        <p:nvSpPr>
          <p:cNvPr id="303" name="Shape 303"/>
          <p:cNvSpPr/>
          <p:nvPr>
            <p:ph type="body" sz="quarter" idx="1"/>
          </p:nvPr>
        </p:nvSpPr>
        <p:spPr>
          <a:prstGeom prst="rect">
            <a:avLst/>
          </a:prstGeom>
        </p:spPr>
        <p:txBody>
          <a:bodyPr/>
          <a:lstStyle>
            <a:lvl1pPr>
              <a:defRPr sz="1600"/>
            </a:lvl1pPr>
          </a:lstStyle>
          <a:p>
            <a:pPr/>
            <a:r>
              <a:t>Sie kennen das: Man sucht ewig im Netz oder in eigenen PDFs, nur um einen Text zu schreiben oder zu verbessern. Könnten KI-Modelle das nicht übernehmen? Genau das schauen wir uns in ‚Chatbots leicht gemacht – Große Sprachmodelle einfach nutzen‘ an.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Damit Sie wissen, wohin die Reise geht: Zuerst klären wir die Motivation. Warum überhaupt Chatbots? Und dann die Kompetenzen, die Sie hier mitnehmen. Danach stelle ich die Werkzeuge vor und zeige eine kurze Demo. Zum Schluss erkläre ich, wie der Kurs aufgebaut ist. </a:t>
            </a:r>
          </a:p>
          <a:p>
            <a:pPr/>
            <a:r>
              <a:t>Beginnen wir also mit Punkt eins – der Motivation.</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elfolie">
    <p:spTree>
      <p:nvGrpSpPr>
        <p:cNvPr id="1" name=""/>
        <p:cNvGrpSpPr/>
        <p:nvPr/>
      </p:nvGrpSpPr>
      <p:grpSpPr>
        <a:xfrm>
          <a:off x="0" y="0"/>
          <a:ext cx="0" cy="0"/>
          <a:chOff x="0" y="0"/>
          <a:chExt cx="0" cy="0"/>
        </a:xfrm>
      </p:grpSpPr>
      <p:sp>
        <p:nvSpPr>
          <p:cNvPr id="13" name="Title of presenta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presentation</a:t>
            </a:r>
          </a:p>
        </p:txBody>
      </p:sp>
      <p:pic>
        <p:nvPicPr>
          <p:cNvPr id="14" name="Grafik 13" descr="Grafik 13"/>
          <p:cNvPicPr>
            <a:picLocks noChangeAspect="1"/>
          </p:cNvPicPr>
          <p:nvPr/>
        </p:nvPicPr>
        <p:blipFill>
          <a:blip r:embed="rId2">
            <a:extLst/>
          </a:blip>
          <a:stretch>
            <a:fillRect/>
          </a:stretch>
        </p:blipFill>
        <p:spPr>
          <a:xfrm>
            <a:off x="434471" y="5609578"/>
            <a:ext cx="2229231" cy="828001"/>
          </a:xfrm>
          <a:prstGeom prst="rect">
            <a:avLst/>
          </a:prstGeom>
          <a:ln w="12700">
            <a:miter lim="400000"/>
          </a:ln>
        </p:spPr>
      </p:pic>
      <p:sp>
        <p:nvSpPr>
          <p:cNvPr id="15"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pic>
        <p:nvPicPr>
          <p:cNvPr id="16" name="Grafik 9" descr="Grafik 9"/>
          <p:cNvPicPr>
            <a:picLocks noChangeAspect="1"/>
          </p:cNvPicPr>
          <p:nvPr/>
        </p:nvPicPr>
        <p:blipFill>
          <a:blip r:embed="rId3">
            <a:extLst/>
          </a:blip>
          <a:srcRect l="0" t="0" r="12216" b="7183"/>
          <a:stretch>
            <a:fillRect/>
          </a:stretch>
        </p:blipFill>
        <p:spPr>
          <a:xfrm>
            <a:off x="5593831" y="3624398"/>
            <a:ext cx="6598170" cy="3233603"/>
          </a:xfrm>
          <a:prstGeom prst="rect">
            <a:avLst/>
          </a:prstGeom>
          <a:ln w="12700">
            <a:miter lim="400000"/>
          </a:ln>
        </p:spPr>
      </p:pic>
      <p:sp>
        <p:nvSpPr>
          <p:cNvPr id="17"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18"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20"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1">
    <p:spTree>
      <p:nvGrpSpPr>
        <p:cNvPr id="1" name=""/>
        <p:cNvGrpSpPr/>
        <p:nvPr/>
      </p:nvGrpSpPr>
      <p:grpSpPr>
        <a:xfrm>
          <a:off x="0" y="0"/>
          <a:ext cx="0" cy="0"/>
          <a:chOff x="0" y="0"/>
          <a:chExt cx="0" cy="0"/>
        </a:xfrm>
      </p:grpSpPr>
      <p:pic>
        <p:nvPicPr>
          <p:cNvPr id="27" name="Grafik 8" descr="Grafik 8"/>
          <p:cNvPicPr>
            <a:picLocks noChangeAspect="1"/>
          </p:cNvPicPr>
          <p:nvPr/>
        </p:nvPicPr>
        <p:blipFill>
          <a:blip r:embed="rId2">
            <a:extLst/>
          </a:blip>
          <a:stretch>
            <a:fillRect/>
          </a:stretch>
        </p:blipFill>
        <p:spPr>
          <a:xfrm>
            <a:off x="4776201" y="1737349"/>
            <a:ext cx="7415800" cy="5120651"/>
          </a:xfrm>
          <a:prstGeom prst="rect">
            <a:avLst/>
          </a:prstGeom>
          <a:ln w="12700">
            <a:miter lim="400000"/>
          </a:ln>
        </p:spPr>
      </p:pic>
      <p:pic>
        <p:nvPicPr>
          <p:cNvPr id="28"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29"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30"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sp>
        <p:nvSpPr>
          <p:cNvPr id="31"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32"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3"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3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2">
    <p:spTree>
      <p:nvGrpSpPr>
        <p:cNvPr id="1" name=""/>
        <p:cNvGrpSpPr/>
        <p:nvPr/>
      </p:nvGrpSpPr>
      <p:grpSpPr>
        <a:xfrm>
          <a:off x="0" y="0"/>
          <a:ext cx="0" cy="0"/>
          <a:chOff x="0" y="0"/>
          <a:chExt cx="0" cy="0"/>
        </a:xfrm>
      </p:grpSpPr>
      <p:pic>
        <p:nvPicPr>
          <p:cNvPr id="41" name="Grafik 10" descr="Grafik 10"/>
          <p:cNvPicPr>
            <a:picLocks noChangeAspect="1"/>
          </p:cNvPicPr>
          <p:nvPr/>
        </p:nvPicPr>
        <p:blipFill>
          <a:blip r:embed="rId2">
            <a:extLst/>
          </a:blip>
          <a:stretch>
            <a:fillRect/>
          </a:stretch>
        </p:blipFill>
        <p:spPr>
          <a:xfrm>
            <a:off x="4775999" y="2104152"/>
            <a:ext cx="7416001" cy="4753848"/>
          </a:xfrm>
          <a:prstGeom prst="rect">
            <a:avLst/>
          </a:prstGeom>
          <a:ln w="12700">
            <a:miter lim="400000"/>
          </a:ln>
        </p:spPr>
      </p:pic>
      <p:pic>
        <p:nvPicPr>
          <p:cNvPr id="42"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43"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44"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 maximum two lines</a:t>
            </a:r>
          </a:p>
          <a:p>
            <a:pPr lvl="1"/>
            <a:r>
              <a:t/>
            </a:r>
          </a:p>
          <a:p>
            <a:pPr lvl="2"/>
            <a:r>
              <a:t/>
            </a:r>
          </a:p>
          <a:p>
            <a:pPr lvl="3"/>
            <a:r>
              <a:t/>
            </a:r>
          </a:p>
          <a:p>
            <a:pPr lvl="4"/>
            <a:r>
              <a:t/>
            </a:r>
          </a:p>
        </p:txBody>
      </p:sp>
      <p:sp>
        <p:nvSpPr>
          <p:cNvPr id="45"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46"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48"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3">
    <p:bg>
      <p:bgPr>
        <a:solidFill>
          <a:schemeClr val="accent3"/>
        </a:solidFill>
      </p:bgPr>
    </p:bg>
    <p:spTree>
      <p:nvGrpSpPr>
        <p:cNvPr id="1" name=""/>
        <p:cNvGrpSpPr/>
        <p:nvPr/>
      </p:nvGrpSpPr>
      <p:grpSpPr>
        <a:xfrm>
          <a:off x="0" y="0"/>
          <a:ext cx="0" cy="0"/>
          <a:chOff x="0" y="0"/>
          <a:chExt cx="0" cy="0"/>
        </a:xfrm>
      </p:grpSpPr>
      <p:sp>
        <p:nvSpPr>
          <p:cNvPr id="55" name="Presentation Titlemaximum 2 lines"/>
          <p:cNvSpPr txBox="1"/>
          <p:nvPr>
            <p:ph type="title" hasCustomPrompt="1"/>
          </p:nvPr>
        </p:nvSpPr>
        <p:spPr>
          <a:xfrm>
            <a:off x="754380" y="1105199"/>
            <a:ext cx="8436851" cy="813955"/>
          </a:xfrm>
          <a:prstGeom prst="rect">
            <a:avLst/>
          </a:prstGeom>
        </p:spPr>
        <p:txBody>
          <a:bodyPr/>
          <a:lstStyle>
            <a:lvl1pPr>
              <a:defRPr spc="10">
                <a:solidFill>
                  <a:srgbClr val="FFFFFF"/>
                </a:solidFill>
              </a:defRPr>
            </a:lvl1pPr>
          </a:lstStyle>
          <a:p>
            <a:pPr/>
            <a:r>
              <a:t>Presentation Titlemaximum 2 lines</a:t>
            </a:r>
          </a:p>
        </p:txBody>
      </p:sp>
      <p:grpSp>
        <p:nvGrpSpPr>
          <p:cNvPr id="58" name="Claim"/>
          <p:cNvGrpSpPr/>
          <p:nvPr/>
        </p:nvGrpSpPr>
        <p:grpSpPr>
          <a:xfrm>
            <a:off x="992188" y="6558030"/>
            <a:ext cx="1874047" cy="131708"/>
            <a:chOff x="0" y="0"/>
            <a:chExt cx="1874045" cy="131707"/>
          </a:xfrm>
        </p:grpSpPr>
        <p:sp>
          <p:nvSpPr>
            <p:cNvPr id="56" name="Freihandform: Form 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57" name="Freihandform: Form 10"/>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59" name="Grafik 13"/>
          <p:cNvSpPr/>
          <p:nvPr/>
        </p:nvSpPr>
        <p:spPr>
          <a:xfrm>
            <a:off x="250423" y="257679"/>
            <a:ext cx="1167249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pic>
        <p:nvPicPr>
          <p:cNvPr id="60" name="Grafik 13" descr="Grafik 13"/>
          <p:cNvPicPr>
            <a:picLocks noChangeAspect="1"/>
          </p:cNvPicPr>
          <p:nvPr/>
        </p:nvPicPr>
        <p:blipFill>
          <a:blip r:embed="rId2">
            <a:alphaModFix amt="70000"/>
            <a:extLst/>
          </a:blip>
          <a:srcRect l="32139" t="0" r="0" b="20782"/>
          <a:stretch>
            <a:fillRect/>
          </a:stretch>
        </p:blipFill>
        <p:spPr>
          <a:xfrm>
            <a:off x="0" y="1919153"/>
            <a:ext cx="5135001" cy="4938847"/>
          </a:xfrm>
          <a:prstGeom prst="rect">
            <a:avLst/>
          </a:prstGeom>
          <a:ln w="12700">
            <a:miter lim="400000"/>
          </a:ln>
        </p:spPr>
      </p:pic>
      <p:sp>
        <p:nvSpPr>
          <p:cNvPr id="61"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Slide">
    <p:spTree>
      <p:nvGrpSpPr>
        <p:cNvPr id="1" name=""/>
        <p:cNvGrpSpPr/>
        <p:nvPr/>
      </p:nvGrpSpPr>
      <p:grpSpPr>
        <a:xfrm>
          <a:off x="0" y="0"/>
          <a:ext cx="0" cy="0"/>
          <a:chOff x="0" y="0"/>
          <a:chExt cx="0" cy="0"/>
        </a:xfrm>
      </p:grpSpPr>
      <p:sp>
        <p:nvSpPr>
          <p:cNvPr id="68" name="Agenda"/>
          <p:cNvSpPr txBox="1"/>
          <p:nvPr>
            <p:ph type="title" hasCustomPrompt="1"/>
          </p:nvPr>
        </p:nvSpPr>
        <p:spPr>
          <a:prstGeom prst="rect">
            <a:avLst/>
          </a:prstGeom>
        </p:spPr>
        <p:txBody>
          <a:bodyPr/>
          <a:lstStyle/>
          <a:p>
            <a:pPr/>
            <a:r>
              <a:t>Agenda</a:t>
            </a:r>
          </a:p>
        </p:txBody>
      </p:sp>
      <p:sp>
        <p:nvSpPr>
          <p:cNvPr id="69" name="Slide Number"/>
          <p:cNvSpPr txBox="1"/>
          <p:nvPr>
            <p:ph type="sldNum" sz="quarter" idx="2"/>
          </p:nvPr>
        </p:nvSpPr>
        <p:spPr>
          <a:prstGeom prst="rect">
            <a:avLst/>
          </a:prstGeom>
        </p:spPr>
        <p:txBody>
          <a:bodyPr/>
          <a:lstStyle/>
          <a:p>
            <a:pPr/>
            <a:fld id="{86CB4B4D-7CA3-9044-876B-883B54F8677D}" type="slidenum"/>
          </a:p>
        </p:txBody>
      </p:sp>
      <p:sp>
        <p:nvSpPr>
          <p:cNvPr id="70" name="Body Level One…"/>
          <p:cNvSpPr txBox="1"/>
          <p:nvPr>
            <p:ph type="body" idx="1" hasCustomPrompt="1"/>
          </p:nvPr>
        </p:nvSpPr>
        <p:spPr>
          <a:prstGeom prst="rect">
            <a:avLst/>
          </a:prstGeom>
        </p:spPr>
        <p:txBody>
          <a:bodyPr/>
          <a:lstStyle/>
          <a:p>
            <a:pPr/>
            <a:r>
              <a:t>Write your first topic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Quote &amp; Picture">
    <p:bg>
      <p:bgPr>
        <a:solidFill>
          <a:schemeClr val="accent3"/>
        </a:solidFill>
      </p:bgPr>
    </p:bg>
    <p:spTree>
      <p:nvGrpSpPr>
        <p:cNvPr id="1" name=""/>
        <p:cNvGrpSpPr/>
        <p:nvPr/>
      </p:nvGrpSpPr>
      <p:grpSpPr>
        <a:xfrm>
          <a:off x="0" y="0"/>
          <a:ext cx="0" cy="0"/>
          <a:chOff x="0" y="0"/>
          <a:chExt cx="0" cy="0"/>
        </a:xfrm>
      </p:grpSpPr>
      <p:sp>
        <p:nvSpPr>
          <p:cNvPr id="77" name="Rechteck 1"/>
          <p:cNvSpPr/>
          <p:nvPr/>
        </p:nvSpPr>
        <p:spPr>
          <a:xfrm>
            <a:off x="5976939" y="-1"/>
            <a:ext cx="6215063" cy="68580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78" name="Body Level One…"/>
          <p:cNvSpPr txBox="1"/>
          <p:nvPr>
            <p:ph type="body" sz="half" idx="1" hasCustomPrompt="1"/>
          </p:nvPr>
        </p:nvSpPr>
        <p:spPr>
          <a:xfrm>
            <a:off x="754380" y="1105199"/>
            <a:ext cx="4836796" cy="5166997"/>
          </a:xfrm>
          <a:prstGeom prst="rect">
            <a:avLst/>
          </a:prstGeom>
        </p:spPr>
        <p:txBody>
          <a:bodyPr/>
          <a:lstStyle>
            <a:lvl1pPr marL="0" indent="0">
              <a:lnSpc>
                <a:spcPts val="3600"/>
              </a:lnSpc>
              <a:spcBef>
                <a:spcPts val="3000"/>
              </a:spcBef>
              <a:buClrTx/>
              <a:buSzTx/>
              <a:buNone/>
              <a:defRPr spc="-10" sz="2400">
                <a:solidFill>
                  <a:srgbClr val="FFFFFF"/>
                </a:solidFill>
              </a:defRPr>
            </a:lvl1pPr>
            <a:lvl2pPr marL="0" indent="0">
              <a:lnSpc>
                <a:spcPts val="3600"/>
              </a:lnSpc>
              <a:spcBef>
                <a:spcPts val="3000"/>
              </a:spcBef>
              <a:buClrTx/>
              <a:buSzTx/>
              <a:buNone/>
              <a:defRPr spc="-10" sz="2400">
                <a:solidFill>
                  <a:srgbClr val="FFFFFF"/>
                </a:solidFill>
              </a:defRPr>
            </a:lvl2pPr>
            <a:lvl3pPr marL="0" indent="0">
              <a:lnSpc>
                <a:spcPts val="3600"/>
              </a:lnSpc>
              <a:spcBef>
                <a:spcPts val="3000"/>
              </a:spcBef>
              <a:buClrTx/>
              <a:buSzTx/>
              <a:buNone/>
              <a:defRPr spc="-10" sz="2400">
                <a:solidFill>
                  <a:srgbClr val="FFFFFF"/>
                </a:solidFill>
              </a:defRPr>
            </a:lvl3pPr>
            <a:lvl4pPr marL="431999" indent="-863999">
              <a:lnSpc>
                <a:spcPts val="3600"/>
              </a:lnSpc>
              <a:spcBef>
                <a:spcPts val="3000"/>
              </a:spcBef>
              <a:buClrTx/>
              <a:defRPr spc="-10" sz="2400">
                <a:solidFill>
                  <a:srgbClr val="FFFFFF"/>
                </a:solidFill>
              </a:defRPr>
            </a:lvl4pPr>
            <a:lvl5pPr marL="431999" indent="-863999">
              <a:lnSpc>
                <a:spcPts val="3600"/>
              </a:lnSpc>
              <a:spcBef>
                <a:spcPts val="3000"/>
              </a:spcBef>
              <a:buClrTx/>
              <a:buAutoNum type="arabicPeriod" startAt="1"/>
              <a:defRPr spc="-10" sz="2400">
                <a:solidFill>
                  <a:srgbClr val="FFFFFF"/>
                </a:solidFill>
              </a:defRPr>
            </a:lvl5pPr>
          </a:lstStyle>
          <a:p>
            <a:pPr/>
            <a:r>
              <a:t>Citation</a:t>
            </a:r>
          </a:p>
          <a:p>
            <a:pPr lvl="1"/>
            <a:r>
              <a:t/>
            </a:r>
          </a:p>
          <a:p>
            <a:pPr lvl="2"/>
            <a:r>
              <a:t/>
            </a:r>
          </a:p>
          <a:p>
            <a:pPr lvl="3"/>
            <a:r>
              <a:t/>
            </a:r>
          </a:p>
          <a:p>
            <a:pPr lvl="4"/>
            <a:r>
              <a:t/>
            </a:r>
          </a:p>
        </p:txBody>
      </p:sp>
      <p:grpSp>
        <p:nvGrpSpPr>
          <p:cNvPr id="81" name="Claim"/>
          <p:cNvGrpSpPr/>
          <p:nvPr/>
        </p:nvGrpSpPr>
        <p:grpSpPr>
          <a:xfrm>
            <a:off x="987425" y="6568750"/>
            <a:ext cx="1874046" cy="131708"/>
            <a:chOff x="0" y="0"/>
            <a:chExt cx="1874045" cy="131707"/>
          </a:xfrm>
        </p:grpSpPr>
        <p:sp>
          <p:nvSpPr>
            <p:cNvPr id="79" name="Freihandform: Form 1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80" name="Freihandform: Form 18"/>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82" name="Bildplatzhalter 27"/>
          <p:cNvSpPr/>
          <p:nvPr>
            <p:ph type="pic" idx="21"/>
          </p:nvPr>
        </p:nvSpPr>
        <p:spPr>
          <a:xfrm>
            <a:off x="5976937" y="-1863"/>
            <a:ext cx="6215063" cy="6858001"/>
          </a:xfrm>
          <a:prstGeom prst="rect">
            <a:avLst/>
          </a:prstGeom>
        </p:spPr>
        <p:txBody>
          <a:bodyPr lIns="91439" tIns="45719" rIns="91439" bIns="45719">
            <a:noAutofit/>
          </a:bodyPr>
          <a:lstStyle/>
          <a:p>
            <a:pPr/>
          </a:p>
        </p:txBody>
      </p:sp>
      <p:sp>
        <p:nvSpPr>
          <p:cNvPr id="83" name="Grafik 13"/>
          <p:cNvSpPr/>
          <p:nvPr/>
        </p:nvSpPr>
        <p:spPr>
          <a:xfrm>
            <a:off x="269478" y="257679"/>
            <a:ext cx="1164778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sp>
        <p:nvSpPr>
          <p:cNvPr id="8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left">
    <p:spTree>
      <p:nvGrpSpPr>
        <p:cNvPr id="1" name=""/>
        <p:cNvGrpSpPr/>
        <p:nvPr/>
      </p:nvGrpSpPr>
      <p:grpSpPr>
        <a:xfrm>
          <a:off x="0" y="0"/>
          <a:ext cx="0" cy="0"/>
          <a:chOff x="0" y="0"/>
          <a:chExt cx="0" cy="0"/>
        </a:xfrm>
      </p:grpSpPr>
      <p:sp>
        <p:nvSpPr>
          <p:cNvPr id="91"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92" name="Body Level One…"/>
          <p:cNvSpPr txBox="1"/>
          <p:nvPr>
            <p:ph type="body" sz="quarter" idx="1" hasCustomPrompt="1"/>
          </p:nvPr>
        </p:nvSpPr>
        <p:spPr>
          <a:xfrm>
            <a:off x="0" y="5271230"/>
            <a:ext cx="4283075"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93" name="Write your titlemaximum two lines"/>
          <p:cNvSpPr txBox="1"/>
          <p:nvPr>
            <p:ph type="title" hasCustomPrompt="1"/>
          </p:nvPr>
        </p:nvSpPr>
        <p:spPr>
          <a:prstGeom prst="rect">
            <a:avLst/>
          </a:prstGeom>
        </p:spPr>
        <p:txBody>
          <a:bodyPr/>
          <a:lstStyle/>
          <a:p>
            <a:pPr/>
            <a:r>
              <a:t>Write your titlemaximum two lines</a:t>
            </a:r>
          </a:p>
        </p:txBody>
      </p:sp>
      <p:sp>
        <p:nvSpPr>
          <p:cNvPr id="94" name="Slide Number"/>
          <p:cNvSpPr txBox="1"/>
          <p:nvPr>
            <p:ph type="sldNum" sz="quarter" idx="2"/>
          </p:nvPr>
        </p:nvSpPr>
        <p:spPr>
          <a:prstGeom prst="rect">
            <a:avLst/>
          </a:prstGeom>
        </p:spPr>
        <p:txBody>
          <a:bodyPr/>
          <a:lstStyle/>
          <a:p>
            <a:pPr/>
            <a:fld id="{86CB4B4D-7CA3-9044-876B-883B54F8677D}" type="slidenum"/>
          </a:p>
        </p:txBody>
      </p:sp>
      <p:pic>
        <p:nvPicPr>
          <p:cNvPr id="95" name="Grafik 1" descr="Grafik 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right">
    <p:spTree>
      <p:nvGrpSpPr>
        <p:cNvPr id="1" name=""/>
        <p:cNvGrpSpPr/>
        <p:nvPr/>
      </p:nvGrpSpPr>
      <p:grpSpPr>
        <a:xfrm>
          <a:off x="0" y="0"/>
          <a:ext cx="0" cy="0"/>
          <a:chOff x="0" y="0"/>
          <a:chExt cx="0" cy="0"/>
        </a:xfrm>
      </p:grpSpPr>
      <p:sp>
        <p:nvSpPr>
          <p:cNvPr id="102"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103" name="Body Level One…"/>
          <p:cNvSpPr txBox="1"/>
          <p:nvPr>
            <p:ph type="body" sz="quarter" idx="1" hasCustomPrompt="1"/>
          </p:nvPr>
        </p:nvSpPr>
        <p:spPr>
          <a:xfrm>
            <a:off x="7908927" y="5271230"/>
            <a:ext cx="4283076"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104" name="Write your titlemaximum two lines"/>
          <p:cNvSpPr txBox="1"/>
          <p:nvPr>
            <p:ph type="title" hasCustomPrompt="1"/>
          </p:nvPr>
        </p:nvSpPr>
        <p:spPr>
          <a:prstGeom prst="rect">
            <a:avLst/>
          </a:prstGeom>
        </p:spPr>
        <p:txBody>
          <a:bodyPr/>
          <a:lstStyle/>
          <a:p>
            <a:pPr/>
            <a:r>
              <a:t>Write your titlemaximum two lines</a:t>
            </a:r>
          </a:p>
        </p:txBody>
      </p:sp>
      <p:sp>
        <p:nvSpPr>
          <p:cNvPr id="105" name="Slide Number"/>
          <p:cNvSpPr txBox="1"/>
          <p:nvPr>
            <p:ph type="sldNum" sz="quarter" idx="2"/>
          </p:nvPr>
        </p:nvSpPr>
        <p:spPr>
          <a:prstGeom prst="rect">
            <a:avLst/>
          </a:prstGeom>
        </p:spPr>
        <p:txBody>
          <a:bodyPr/>
          <a:lstStyle/>
          <a:p>
            <a:pPr/>
            <a:fld id="{86CB4B4D-7CA3-9044-876B-883B54F8677D}" type="slidenum"/>
          </a:p>
        </p:txBody>
      </p:sp>
      <p:pic>
        <p:nvPicPr>
          <p:cNvPr id="106" name="Grafik 2" descr="Grafik 2"/>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Topics">
    <p:spTree>
      <p:nvGrpSpPr>
        <p:cNvPr id="1" name=""/>
        <p:cNvGrpSpPr/>
        <p:nvPr/>
      </p:nvGrpSpPr>
      <p:grpSpPr>
        <a:xfrm>
          <a:off x="0" y="0"/>
          <a:ext cx="0" cy="0"/>
          <a:chOff x="0" y="0"/>
          <a:chExt cx="0" cy="0"/>
        </a:xfrm>
      </p:grpSpPr>
      <p:pic>
        <p:nvPicPr>
          <p:cNvPr id="11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14" name="Body Level One…"/>
          <p:cNvSpPr txBox="1"/>
          <p:nvPr>
            <p:ph type="body" sz="quarter" idx="1" hasCustomPrompt="1"/>
          </p:nvPr>
        </p:nvSpPr>
        <p:spPr>
          <a:xfrm>
            <a:off x="450000" y="1417672"/>
            <a:ext cx="55404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15" name="Textplatzhalter 9"/>
          <p:cNvSpPr/>
          <p:nvPr>
            <p:ph type="body" sz="quarter" idx="21" hasCustomPrompt="1"/>
          </p:nvPr>
        </p:nvSpPr>
        <p:spPr>
          <a:xfrm>
            <a:off x="6201838" y="1417672"/>
            <a:ext cx="5541457"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16" name="Textplatzhalter 13"/>
          <p:cNvSpPr/>
          <p:nvPr>
            <p:ph type="body" sz="half" idx="22" hasCustomPrompt="1"/>
          </p:nvPr>
        </p:nvSpPr>
        <p:spPr>
          <a:xfrm>
            <a:off x="449999" y="2073310"/>
            <a:ext cx="55404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7" name="Textplatzhalter 13"/>
          <p:cNvSpPr/>
          <p:nvPr>
            <p:ph type="body" sz="half" idx="23" hasCustomPrompt="1"/>
          </p:nvPr>
        </p:nvSpPr>
        <p:spPr>
          <a:xfrm>
            <a:off x="6201838" y="2073310"/>
            <a:ext cx="5541457"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8" name="Write your titlemaximum two lines"/>
          <p:cNvSpPr txBox="1"/>
          <p:nvPr>
            <p:ph type="title" hasCustomPrompt="1"/>
          </p:nvPr>
        </p:nvSpPr>
        <p:spPr>
          <a:prstGeom prst="rect">
            <a:avLst/>
          </a:prstGeom>
        </p:spPr>
        <p:txBody>
          <a:bodyPr/>
          <a:lstStyle/>
          <a:p>
            <a:pPr/>
            <a:r>
              <a:t>Write your titlemaximum two lines</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3 Topics">
    <p:spTree>
      <p:nvGrpSpPr>
        <p:cNvPr id="1" name=""/>
        <p:cNvGrpSpPr/>
        <p:nvPr/>
      </p:nvGrpSpPr>
      <p:grpSpPr>
        <a:xfrm>
          <a:off x="0" y="0"/>
          <a:ext cx="0" cy="0"/>
          <a:chOff x="0" y="0"/>
          <a:chExt cx="0" cy="0"/>
        </a:xfrm>
      </p:grpSpPr>
      <p:pic>
        <p:nvPicPr>
          <p:cNvPr id="126"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27" name="Body Level One…"/>
          <p:cNvSpPr txBox="1"/>
          <p:nvPr>
            <p:ph type="body" sz="quarter" idx="1" hasCustomPrompt="1"/>
          </p:nvPr>
        </p:nvSpPr>
        <p:spPr>
          <a:xfrm>
            <a:off x="450000" y="1417672"/>
            <a:ext cx="36360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28" name="Textplatzhalter 9"/>
          <p:cNvSpPr/>
          <p:nvPr>
            <p:ph type="body" sz="quarter" idx="21" hasCustomPrompt="1"/>
          </p:nvPr>
        </p:nvSpPr>
        <p:spPr>
          <a:xfrm>
            <a:off x="4278600" y="1417672"/>
            <a:ext cx="3636001"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29" name="Textplatzhalter 9"/>
          <p:cNvSpPr/>
          <p:nvPr>
            <p:ph type="body" sz="quarter" idx="22" hasCustomPrompt="1"/>
          </p:nvPr>
        </p:nvSpPr>
        <p:spPr>
          <a:xfrm>
            <a:off x="8107199" y="1417672"/>
            <a:ext cx="3636001" cy="655638"/>
          </a:xfrm>
          <a:prstGeom prst="rect">
            <a:avLst/>
          </a:prstGeom>
          <a:solidFill>
            <a:schemeClr val="accent3"/>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30" name="Textplatzhalter 13"/>
          <p:cNvSpPr/>
          <p:nvPr>
            <p:ph type="body" sz="quarter" idx="23" hasCustomPrompt="1"/>
          </p:nvPr>
        </p:nvSpPr>
        <p:spPr>
          <a:xfrm>
            <a:off x="449999" y="2073310"/>
            <a:ext cx="36360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1" name="Textplatzhalter 13"/>
          <p:cNvSpPr/>
          <p:nvPr>
            <p:ph type="body" sz="quarter" idx="24" hasCustomPrompt="1"/>
          </p:nvPr>
        </p:nvSpPr>
        <p:spPr>
          <a:xfrm>
            <a:off x="4278600"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2" name="Textplatzhalter 13"/>
          <p:cNvSpPr/>
          <p:nvPr>
            <p:ph type="body" sz="quarter" idx="25" hasCustomPrompt="1"/>
          </p:nvPr>
        </p:nvSpPr>
        <p:spPr>
          <a:xfrm>
            <a:off x="8107199"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3" name="Write your titlemaximum two lines"/>
          <p:cNvSpPr txBox="1"/>
          <p:nvPr>
            <p:ph type="title" hasCustomPrompt="1"/>
          </p:nvPr>
        </p:nvSpPr>
        <p:spPr>
          <a:prstGeom prst="rect">
            <a:avLst/>
          </a:prstGeom>
        </p:spPr>
        <p:txBody>
          <a:bodyPr/>
          <a:lstStyle/>
          <a:p>
            <a:pPr/>
            <a:r>
              <a:t>Write your titlemaximum two lines</a:t>
            </a:r>
          </a:p>
        </p:txBody>
      </p:sp>
      <p:sp>
        <p:nvSpPr>
          <p:cNvPr id="13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Picture right">
    <p:spTree>
      <p:nvGrpSpPr>
        <p:cNvPr id="1" name=""/>
        <p:cNvGrpSpPr/>
        <p:nvPr/>
      </p:nvGrpSpPr>
      <p:grpSpPr>
        <a:xfrm>
          <a:off x="0" y="0"/>
          <a:ext cx="0" cy="0"/>
          <a:chOff x="0" y="0"/>
          <a:chExt cx="0" cy="0"/>
        </a:xfrm>
      </p:grpSpPr>
      <p:pic>
        <p:nvPicPr>
          <p:cNvPr id="141"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42" name="Write your titlemaximum two lines"/>
          <p:cNvSpPr txBox="1"/>
          <p:nvPr>
            <p:ph type="title" hasCustomPrompt="1"/>
          </p:nvPr>
        </p:nvSpPr>
        <p:spPr>
          <a:prstGeom prst="rect">
            <a:avLst/>
          </a:prstGeom>
        </p:spPr>
        <p:txBody>
          <a:bodyPr/>
          <a:lstStyle/>
          <a:p>
            <a:pPr/>
            <a:r>
              <a:t>Write your titlemaximum two lines</a:t>
            </a:r>
          </a:p>
        </p:txBody>
      </p:sp>
      <p:sp>
        <p:nvSpPr>
          <p:cNvPr id="143" name="Slide Number"/>
          <p:cNvSpPr txBox="1"/>
          <p:nvPr>
            <p:ph type="sldNum" sz="quarter" idx="2"/>
          </p:nvPr>
        </p:nvSpPr>
        <p:spPr>
          <a:prstGeom prst="rect">
            <a:avLst/>
          </a:prstGeom>
        </p:spPr>
        <p:txBody>
          <a:bodyPr/>
          <a:lstStyle/>
          <a:p>
            <a:pPr/>
            <a:fld id="{86CB4B4D-7CA3-9044-876B-883B54F8677D}" type="slidenum"/>
          </a:p>
        </p:txBody>
      </p:sp>
      <p:sp>
        <p:nvSpPr>
          <p:cNvPr id="144"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45" name="Bildplatzhalter 6"/>
          <p:cNvSpPr/>
          <p:nvPr>
            <p:ph type="pic" sz="half" idx="21"/>
          </p:nvPr>
        </p:nvSpPr>
        <p:spPr>
          <a:xfrm>
            <a:off x="6195762" y="1417672"/>
            <a:ext cx="5547533" cy="4958284"/>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2 Pictures right">
    <p:spTree>
      <p:nvGrpSpPr>
        <p:cNvPr id="1" name=""/>
        <p:cNvGrpSpPr/>
        <p:nvPr/>
      </p:nvGrpSpPr>
      <p:grpSpPr>
        <a:xfrm>
          <a:off x="0" y="0"/>
          <a:ext cx="0" cy="0"/>
          <a:chOff x="0" y="0"/>
          <a:chExt cx="0" cy="0"/>
        </a:xfrm>
      </p:grpSpPr>
      <p:sp>
        <p:nvSpPr>
          <p:cNvPr id="152"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pic>
        <p:nvPicPr>
          <p:cNvPr id="153"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54" name="Write your titlemaximum two lines"/>
          <p:cNvSpPr txBox="1"/>
          <p:nvPr>
            <p:ph type="title" hasCustomPrompt="1"/>
          </p:nvPr>
        </p:nvSpPr>
        <p:spPr>
          <a:prstGeom prst="rect">
            <a:avLst/>
          </a:prstGeom>
        </p:spPr>
        <p:txBody>
          <a:bodyPr/>
          <a:lstStyle/>
          <a:p>
            <a:pPr/>
            <a:r>
              <a:t>Write your titlemaximum two lines</a:t>
            </a:r>
          </a:p>
        </p:txBody>
      </p:sp>
      <p:sp>
        <p:nvSpPr>
          <p:cNvPr id="155" name="Slide Number"/>
          <p:cNvSpPr txBox="1"/>
          <p:nvPr>
            <p:ph type="sldNum" sz="quarter" idx="2"/>
          </p:nvPr>
        </p:nvSpPr>
        <p:spPr>
          <a:prstGeom prst="rect">
            <a:avLst/>
          </a:prstGeom>
        </p:spPr>
        <p:txBody>
          <a:bodyPr/>
          <a:lstStyle/>
          <a:p>
            <a:pPr/>
            <a:fld id="{86CB4B4D-7CA3-9044-876B-883B54F8677D}" type="slidenum"/>
          </a:p>
        </p:txBody>
      </p:sp>
      <p:sp>
        <p:nvSpPr>
          <p:cNvPr id="156" name="Bildplatzhalter 15"/>
          <p:cNvSpPr/>
          <p:nvPr>
            <p:ph type="pic" sz="quarter" idx="21"/>
          </p:nvPr>
        </p:nvSpPr>
        <p:spPr>
          <a:xfrm>
            <a:off x="6195759" y="3939518"/>
            <a:ext cx="5547536" cy="2436438"/>
          </a:xfrm>
          <a:prstGeom prst="rect">
            <a:avLst/>
          </a:prstGeom>
        </p:spPr>
        <p:txBody>
          <a:bodyPr lIns="91439" tIns="45719" rIns="91439" bIns="45719">
            <a:noAutofit/>
          </a:bodyPr>
          <a:lstStyle/>
          <a:p>
            <a:pPr/>
          </a:p>
        </p:txBody>
      </p:sp>
      <p:sp>
        <p:nvSpPr>
          <p:cNvPr id="157" name="Bildplatzhalter 15"/>
          <p:cNvSpPr/>
          <p:nvPr>
            <p:ph type="pic" sz="quarter" idx="22"/>
          </p:nvPr>
        </p:nvSpPr>
        <p:spPr>
          <a:xfrm>
            <a:off x="6195759" y="1417672"/>
            <a:ext cx="5547536" cy="2466907"/>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3 Pictures right">
    <p:spTree>
      <p:nvGrpSpPr>
        <p:cNvPr id="1" name=""/>
        <p:cNvGrpSpPr/>
        <p:nvPr/>
      </p:nvGrpSpPr>
      <p:grpSpPr>
        <a:xfrm>
          <a:off x="0" y="0"/>
          <a:ext cx="0" cy="0"/>
          <a:chOff x="0" y="0"/>
          <a:chExt cx="0" cy="0"/>
        </a:xfrm>
      </p:grpSpPr>
      <p:sp>
        <p:nvSpPr>
          <p:cNvPr id="164" name="Bildplatzhalter 15"/>
          <p:cNvSpPr/>
          <p:nvPr>
            <p:ph type="pic" sz="quarter" idx="21"/>
          </p:nvPr>
        </p:nvSpPr>
        <p:spPr>
          <a:xfrm>
            <a:off x="6195759" y="1417672"/>
            <a:ext cx="5547536" cy="2466907"/>
          </a:xfrm>
          <a:prstGeom prst="rect">
            <a:avLst/>
          </a:prstGeom>
        </p:spPr>
        <p:txBody>
          <a:bodyPr lIns="91439" tIns="45719" rIns="91439" bIns="45719">
            <a:noAutofit/>
          </a:bodyPr>
          <a:lstStyle/>
          <a:p>
            <a:pPr/>
          </a:p>
        </p:txBody>
      </p:sp>
      <p:sp>
        <p:nvSpPr>
          <p:cNvPr id="165" name="Bildplatzhalter 15"/>
          <p:cNvSpPr/>
          <p:nvPr>
            <p:ph type="pic" sz="quarter" idx="22"/>
          </p:nvPr>
        </p:nvSpPr>
        <p:spPr>
          <a:xfrm>
            <a:off x="8999869" y="3939518"/>
            <a:ext cx="2743426" cy="2436438"/>
          </a:xfrm>
          <a:prstGeom prst="rect">
            <a:avLst/>
          </a:prstGeom>
        </p:spPr>
        <p:txBody>
          <a:bodyPr lIns="91439" tIns="45719" rIns="91439" bIns="45719">
            <a:noAutofit/>
          </a:bodyPr>
          <a:lstStyle/>
          <a:p>
            <a:pPr/>
          </a:p>
        </p:txBody>
      </p:sp>
      <p:sp>
        <p:nvSpPr>
          <p:cNvPr id="166" name="Bildplatzhalter 15"/>
          <p:cNvSpPr/>
          <p:nvPr>
            <p:ph type="pic" sz="quarter" idx="23"/>
          </p:nvPr>
        </p:nvSpPr>
        <p:spPr>
          <a:xfrm>
            <a:off x="6195759" y="3939518"/>
            <a:ext cx="2743426" cy="2436438"/>
          </a:xfrm>
          <a:prstGeom prst="rect">
            <a:avLst/>
          </a:prstGeom>
        </p:spPr>
        <p:txBody>
          <a:bodyPr lIns="91439" tIns="45719" rIns="91439" bIns="45719">
            <a:noAutofit/>
          </a:bodyPr>
          <a:lstStyle/>
          <a:p>
            <a:pPr/>
          </a:p>
        </p:txBody>
      </p:sp>
      <p:pic>
        <p:nvPicPr>
          <p:cNvPr id="167"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68" name="Write your titlemaximum two lines"/>
          <p:cNvSpPr txBox="1"/>
          <p:nvPr>
            <p:ph type="title" hasCustomPrompt="1"/>
          </p:nvPr>
        </p:nvSpPr>
        <p:spPr>
          <a:prstGeom prst="rect">
            <a:avLst/>
          </a:prstGeom>
        </p:spPr>
        <p:txBody>
          <a:bodyPr/>
          <a:lstStyle/>
          <a:p>
            <a:pPr/>
            <a:r>
              <a:t>Write your titlemaximum two lines</a:t>
            </a:r>
          </a:p>
        </p:txBody>
      </p:sp>
      <p:sp>
        <p:nvSpPr>
          <p:cNvPr id="169" name="Slide Number"/>
          <p:cNvSpPr txBox="1"/>
          <p:nvPr>
            <p:ph type="sldNum" sz="quarter" idx="2"/>
          </p:nvPr>
        </p:nvSpPr>
        <p:spPr>
          <a:prstGeom prst="rect">
            <a:avLst/>
          </a:prstGeom>
        </p:spPr>
        <p:txBody>
          <a:bodyPr/>
          <a:lstStyle/>
          <a:p>
            <a:pPr/>
            <a:fld id="{86CB4B4D-7CA3-9044-876B-883B54F8677D}" type="slidenum"/>
          </a:p>
        </p:txBody>
      </p:sp>
      <p:sp>
        <p:nvSpPr>
          <p:cNvPr id="170" name="Body Level One…"/>
          <p:cNvSpPr txBox="1"/>
          <p:nvPr>
            <p:ph type="body" sz="half" idx="1" hasCustomPrompt="1"/>
          </p:nvPr>
        </p:nvSpPr>
        <p:spPr>
          <a:xfrm>
            <a:off x="450000" y="1357200"/>
            <a:ext cx="5554663" cy="5018757"/>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Picture or Icon left">
    <p:bg>
      <p:bgPr>
        <a:solidFill>
          <a:srgbClr val="5A6065"/>
        </a:solidFill>
      </p:bgPr>
    </p:bg>
    <p:spTree>
      <p:nvGrpSpPr>
        <p:cNvPr id="1" name=""/>
        <p:cNvGrpSpPr/>
        <p:nvPr/>
      </p:nvGrpSpPr>
      <p:grpSpPr>
        <a:xfrm>
          <a:off x="0" y="0"/>
          <a:ext cx="0" cy="0"/>
          <a:chOff x="0" y="0"/>
          <a:chExt cx="0" cy="0"/>
        </a:xfrm>
      </p:grpSpPr>
      <p:sp>
        <p:nvSpPr>
          <p:cNvPr id="177" name="Rechteck 10"/>
          <p:cNvSpPr/>
          <p:nvPr/>
        </p:nvSpPr>
        <p:spPr>
          <a:xfrm>
            <a:off x="6005014" y="0"/>
            <a:ext cx="6186986"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pic>
        <p:nvPicPr>
          <p:cNvPr id="178"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79" name="Write your titlemaximum two lines"/>
          <p:cNvSpPr txBox="1"/>
          <p:nvPr>
            <p:ph type="title" hasCustomPrompt="1"/>
          </p:nvPr>
        </p:nvSpPr>
        <p:spPr>
          <a:xfrm>
            <a:off x="6624000" y="1329728"/>
            <a:ext cx="4860669" cy="974656"/>
          </a:xfrm>
          <a:prstGeom prst="rect">
            <a:avLst/>
          </a:prstGeom>
        </p:spPr>
        <p:txBody>
          <a:bodyPr/>
          <a:lstStyle/>
          <a:p>
            <a:pPr/>
            <a:r>
              <a:t>Write your titlemaximum two lines</a:t>
            </a:r>
          </a:p>
        </p:txBody>
      </p:sp>
      <p:sp>
        <p:nvSpPr>
          <p:cNvPr id="180" name="Body Level One…"/>
          <p:cNvSpPr txBox="1"/>
          <p:nvPr>
            <p:ph type="body" sz="half" idx="1" hasCustomPrompt="1"/>
          </p:nvPr>
        </p:nvSpPr>
        <p:spPr>
          <a:xfrm>
            <a:off x="6624000" y="2363158"/>
            <a:ext cx="4864101"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81" name="Bildplatzhalter 15"/>
          <p:cNvSpPr/>
          <p:nvPr>
            <p:ph type="pic" idx="21"/>
          </p:nvPr>
        </p:nvSpPr>
        <p:spPr>
          <a:xfrm>
            <a:off x="-2" y="0"/>
            <a:ext cx="6005018" cy="6858000"/>
          </a:xfrm>
          <a:prstGeom prst="rect">
            <a:avLst/>
          </a:prstGeom>
        </p:spPr>
        <p:txBody>
          <a:bodyPr lIns="91439" tIns="45719" rIns="91439" bIns="45719">
            <a:noAutofit/>
          </a:bodyPr>
          <a:lstStyle/>
          <a:p>
            <a:pPr/>
          </a:p>
        </p:txBody>
      </p:sp>
      <p:sp>
        <p:nvSpPr>
          <p:cNvPr id="18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Small Picture or Icon left">
    <p:bg>
      <p:bgPr>
        <a:solidFill>
          <a:srgbClr val="5A6065"/>
        </a:solidFill>
      </p:bgPr>
    </p:bg>
    <p:spTree>
      <p:nvGrpSpPr>
        <p:cNvPr id="1" name=""/>
        <p:cNvGrpSpPr/>
        <p:nvPr/>
      </p:nvGrpSpPr>
      <p:grpSpPr>
        <a:xfrm>
          <a:off x="0" y="0"/>
          <a:ext cx="0" cy="0"/>
          <a:chOff x="0" y="0"/>
          <a:chExt cx="0" cy="0"/>
        </a:xfrm>
      </p:grpSpPr>
      <p:sp>
        <p:nvSpPr>
          <p:cNvPr id="189" name="Rechteck 10"/>
          <p:cNvSpPr/>
          <p:nvPr/>
        </p:nvSpPr>
        <p:spPr>
          <a:xfrm>
            <a:off x="3588463" y="0"/>
            <a:ext cx="8603538"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0" name="Write your titlemaximum two lines"/>
          <p:cNvSpPr txBox="1"/>
          <p:nvPr>
            <p:ph type="title" hasCustomPrompt="1"/>
          </p:nvPr>
        </p:nvSpPr>
        <p:spPr>
          <a:xfrm>
            <a:off x="4176000" y="1329728"/>
            <a:ext cx="7308668" cy="974656"/>
          </a:xfrm>
          <a:prstGeom prst="rect">
            <a:avLst/>
          </a:prstGeom>
        </p:spPr>
        <p:txBody>
          <a:bodyPr/>
          <a:lstStyle/>
          <a:p>
            <a:pPr/>
            <a:r>
              <a:t>Write your titlemaximum two lines</a:t>
            </a:r>
          </a:p>
        </p:txBody>
      </p:sp>
      <p:sp>
        <p:nvSpPr>
          <p:cNvPr id="191" name="Body Level One…"/>
          <p:cNvSpPr txBox="1"/>
          <p:nvPr>
            <p:ph type="body" sz="half" idx="1" hasCustomPrompt="1"/>
          </p:nvPr>
        </p:nvSpPr>
        <p:spPr>
          <a:xfrm>
            <a:off x="4176000" y="2363158"/>
            <a:ext cx="7308668"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92" name="Bildplatzhalter 15"/>
          <p:cNvSpPr/>
          <p:nvPr>
            <p:ph type="pic" sz="half" idx="21"/>
          </p:nvPr>
        </p:nvSpPr>
        <p:spPr>
          <a:xfrm>
            <a:off x="-2" y="0"/>
            <a:ext cx="3588465" cy="6858000"/>
          </a:xfrm>
          <a:prstGeom prst="rect">
            <a:avLst/>
          </a:prstGeom>
        </p:spPr>
        <p:txBody>
          <a:bodyPr lIns="91439" tIns="45719" rIns="91439" bIns="45719">
            <a:noAutofit/>
          </a:bodyPr>
          <a:lstStyle/>
          <a:p>
            <a:pPr/>
          </a:p>
        </p:txBody>
      </p:sp>
      <p:sp>
        <p:nvSpPr>
          <p:cNvPr id="193" name="Slide Number"/>
          <p:cNvSpPr txBox="1"/>
          <p:nvPr>
            <p:ph type="sldNum" sz="quarter" idx="2"/>
          </p:nvPr>
        </p:nvSpPr>
        <p:spPr>
          <a:prstGeom prst="rect">
            <a:avLst/>
          </a:prstGeom>
        </p:spPr>
        <p:txBody>
          <a:bodyPr/>
          <a:lstStyle/>
          <a:p>
            <a:pPr/>
            <a:fld id="{86CB4B4D-7CA3-9044-876B-883B54F8677D}" type="slidenum"/>
          </a:p>
        </p:txBody>
      </p:sp>
      <p:sp>
        <p:nvSpPr>
          <p:cNvPr id="194"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5"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2 columns">
    <p:spTree>
      <p:nvGrpSpPr>
        <p:cNvPr id="1" name=""/>
        <p:cNvGrpSpPr/>
        <p:nvPr/>
      </p:nvGrpSpPr>
      <p:grpSpPr>
        <a:xfrm>
          <a:off x="0" y="0"/>
          <a:ext cx="0" cy="0"/>
          <a:chOff x="0" y="0"/>
          <a:chExt cx="0" cy="0"/>
        </a:xfrm>
      </p:grpSpPr>
      <p:sp>
        <p:nvSpPr>
          <p:cNvPr id="202" name="Body Level One…"/>
          <p:cNvSpPr txBox="1"/>
          <p:nvPr>
            <p:ph type="body" idx="1" hasCustomPrompt="1"/>
          </p:nvPr>
        </p:nvSpPr>
        <p:spPr>
          <a:xfrm>
            <a:off x="450000" y="1357200"/>
            <a:ext cx="9912012" cy="5022001"/>
          </a:xfrm>
          <a:prstGeom prst="rect">
            <a:avLst/>
          </a:prstGeom>
        </p:spPr>
        <p:txBody>
          <a:bodyPr numCol="2" spcCol="18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03" name="Write your titlemaximum two lines"/>
          <p:cNvSpPr txBox="1"/>
          <p:nvPr>
            <p:ph type="title" hasCustomPrompt="1"/>
          </p:nvPr>
        </p:nvSpPr>
        <p:spPr>
          <a:prstGeom prst="rect">
            <a:avLst/>
          </a:prstGeom>
        </p:spPr>
        <p:txBody>
          <a:bodyPr/>
          <a:lstStyle/>
          <a:p>
            <a:pPr/>
            <a:r>
              <a:t>Write your titlemaximum two lines</a:t>
            </a:r>
          </a:p>
        </p:txBody>
      </p:sp>
      <p:sp>
        <p:nvSpPr>
          <p:cNvPr id="2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3 columns">
    <p:spTree>
      <p:nvGrpSpPr>
        <p:cNvPr id="1" name=""/>
        <p:cNvGrpSpPr/>
        <p:nvPr/>
      </p:nvGrpSpPr>
      <p:grpSpPr>
        <a:xfrm>
          <a:off x="0" y="0"/>
          <a:ext cx="0" cy="0"/>
          <a:chOff x="0" y="0"/>
          <a:chExt cx="0" cy="0"/>
        </a:xfrm>
      </p:grpSpPr>
      <p:sp>
        <p:nvSpPr>
          <p:cNvPr id="211" name="Body Level One…"/>
          <p:cNvSpPr txBox="1"/>
          <p:nvPr>
            <p:ph type="body" idx="1" hasCustomPrompt="1"/>
          </p:nvPr>
        </p:nvSpPr>
        <p:spPr>
          <a:xfrm>
            <a:off x="450000" y="1357200"/>
            <a:ext cx="9912012" cy="5022001"/>
          </a:xfrm>
          <a:prstGeom prst="rect">
            <a:avLst/>
          </a:prstGeom>
        </p:spPr>
        <p:txBody>
          <a:bodyPr numCol="3" spcCol="9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12" name="Write your titlemaximum two lines"/>
          <p:cNvSpPr txBox="1"/>
          <p:nvPr>
            <p:ph type="title" hasCustomPrompt="1"/>
          </p:nvPr>
        </p:nvSpPr>
        <p:spPr>
          <a:prstGeom prst="rect">
            <a:avLst/>
          </a:prstGeom>
        </p:spPr>
        <p:txBody>
          <a:bodyPr/>
          <a:lstStyle/>
          <a:p>
            <a:pPr/>
            <a:r>
              <a:t>Write your titlemaximum two lines</a:t>
            </a:r>
          </a:p>
        </p:txBody>
      </p:sp>
      <p:sp>
        <p:nvSpPr>
          <p:cNvPr id="2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flexible Content – with Text">
    <p:spTree>
      <p:nvGrpSpPr>
        <p:cNvPr id="1" name=""/>
        <p:cNvGrpSpPr/>
        <p:nvPr/>
      </p:nvGrpSpPr>
      <p:grpSpPr>
        <a:xfrm>
          <a:off x="0" y="0"/>
          <a:ext cx="0" cy="0"/>
          <a:chOff x="0" y="0"/>
          <a:chExt cx="0" cy="0"/>
        </a:xfrm>
      </p:grpSpPr>
      <p:sp>
        <p:nvSpPr>
          <p:cNvPr id="220" name="Body Level One…"/>
          <p:cNvSpPr txBox="1"/>
          <p:nvPr>
            <p:ph type="body" idx="1" hasCustomPrompt="1"/>
          </p:nvPr>
        </p:nvSpPr>
        <p:spPr>
          <a:xfrm>
            <a:off x="450000" y="1355724"/>
            <a:ext cx="11293294"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221" name="Write your titlemaximum two lines"/>
          <p:cNvSpPr txBox="1"/>
          <p:nvPr>
            <p:ph type="title" hasCustomPrompt="1"/>
          </p:nvPr>
        </p:nvSpPr>
        <p:spPr>
          <a:prstGeom prst="rect">
            <a:avLst/>
          </a:prstGeom>
        </p:spPr>
        <p:txBody>
          <a:bodyPr/>
          <a:lstStyle/>
          <a:p>
            <a:pPr/>
            <a:r>
              <a:t>Write your titlemaximum two lines</a:t>
            </a:r>
          </a:p>
        </p:txBody>
      </p:sp>
      <p:sp>
        <p:nvSpPr>
          <p:cNvPr id="2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lexible Content – full size">
    <p:spTree>
      <p:nvGrpSpPr>
        <p:cNvPr id="1" name=""/>
        <p:cNvGrpSpPr/>
        <p:nvPr/>
      </p:nvGrpSpPr>
      <p:grpSpPr>
        <a:xfrm>
          <a:off x="0" y="0"/>
          <a:ext cx="0" cy="0"/>
          <a:chOff x="0" y="0"/>
          <a:chExt cx="0" cy="0"/>
        </a:xfrm>
      </p:grpSpPr>
      <p:sp>
        <p:nvSpPr>
          <p:cNvPr id="229" name="Body Level One…"/>
          <p:cNvSpPr txBox="1"/>
          <p:nvPr>
            <p:ph type="body" idx="1" hasCustomPrompt="1"/>
          </p:nvPr>
        </p:nvSpPr>
        <p:spPr>
          <a:xfrm>
            <a:off x="0" y="0"/>
            <a:ext cx="12192000" cy="6858000"/>
          </a:xfrm>
          <a:prstGeom prst="rect">
            <a:avLst/>
          </a:prstGeom>
        </p:spPr>
        <p:txBody>
          <a:bodyPr anchor="ctr"/>
          <a:lstStyle>
            <a:lvl1pPr marL="0" indent="0" algn="ctr">
              <a:buClrTx/>
              <a:buSzTx/>
              <a:buNone/>
            </a:lvl1pPr>
            <a:lvl2pPr marL="431999" indent="-431999" algn="ctr">
              <a:buClrTx/>
            </a:lvl2pPr>
            <a:lvl3pPr marL="863999" indent="-431999" algn="ctr">
              <a:buClrTx/>
              <a:buChar char="o"/>
            </a:lvl3pPr>
            <a:lvl4pPr marL="1295999" indent="-431999" algn="ctr">
              <a:buClrTx/>
            </a:lvl4pPr>
            <a:lvl5pPr marL="431999" indent="-431999" algn="ctr">
              <a:buClrTx/>
              <a:buAutoNum type="arabicPeriod" startAt="1"/>
            </a:lvl5pPr>
          </a:lstStyle>
          <a:p>
            <a:pPr/>
            <a:r>
              <a:t>Enter content here</a:t>
            </a:r>
          </a:p>
          <a:p>
            <a:pPr lvl="1"/>
            <a:r>
              <a:t/>
            </a:r>
          </a:p>
          <a:p>
            <a:pPr lvl="2"/>
            <a:r>
              <a:t/>
            </a:r>
          </a:p>
          <a:p>
            <a:pPr lvl="3"/>
            <a:r>
              <a:t/>
            </a:r>
          </a:p>
          <a:p>
            <a:pPr lvl="4"/>
            <a:r>
              <a:t/>
            </a:r>
          </a:p>
        </p:txBody>
      </p:sp>
      <p:pic>
        <p:nvPicPr>
          <p:cNvPr id="230" name="Grafik 11" descr="Grafik 1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 Picture">
    <p:spTree>
      <p:nvGrpSpPr>
        <p:cNvPr id="1" name=""/>
        <p:cNvGrpSpPr/>
        <p:nvPr/>
      </p:nvGrpSpPr>
      <p:grpSpPr>
        <a:xfrm>
          <a:off x="0" y="0"/>
          <a:ext cx="0" cy="0"/>
          <a:chOff x="0" y="0"/>
          <a:chExt cx="0" cy="0"/>
        </a:xfrm>
      </p:grpSpPr>
      <p:pic>
        <p:nvPicPr>
          <p:cNvPr id="238"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9" name="Body Level One…"/>
          <p:cNvSpPr txBox="1"/>
          <p:nvPr>
            <p:ph type="body" sz="quarter" idx="1" hasCustomPrompt="1"/>
          </p:nvPr>
        </p:nvSpPr>
        <p:spPr>
          <a:xfrm>
            <a:off x="450000" y="3782086"/>
            <a:ext cx="3636001" cy="1980002"/>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40" name="Bildplatzhalter 8"/>
          <p:cNvSpPr/>
          <p:nvPr>
            <p:ph type="pic" sz="quarter" idx="21"/>
          </p:nvPr>
        </p:nvSpPr>
        <p:spPr>
          <a:xfrm>
            <a:off x="450000" y="1417672"/>
            <a:ext cx="3636001" cy="2043796"/>
          </a:xfrm>
          <a:prstGeom prst="rect">
            <a:avLst/>
          </a:prstGeom>
        </p:spPr>
        <p:txBody>
          <a:bodyPr lIns="91439" tIns="45719" rIns="91439" bIns="45719">
            <a:noAutofit/>
          </a:bodyPr>
          <a:lstStyle/>
          <a:p>
            <a:pPr/>
          </a:p>
        </p:txBody>
      </p:sp>
      <p:sp>
        <p:nvSpPr>
          <p:cNvPr id="241" name="Write your titlemaximum two lines"/>
          <p:cNvSpPr txBox="1"/>
          <p:nvPr>
            <p:ph type="title" hasCustomPrompt="1"/>
          </p:nvPr>
        </p:nvSpPr>
        <p:spPr>
          <a:prstGeom prst="rect">
            <a:avLst/>
          </a:prstGeom>
        </p:spPr>
        <p:txBody>
          <a:bodyPr/>
          <a:lstStyle/>
          <a:p>
            <a:pPr/>
            <a:r>
              <a:t>Write your titlemaximum two lines</a:t>
            </a:r>
          </a:p>
        </p:txBody>
      </p:sp>
      <p:sp>
        <p:nvSpPr>
          <p:cNvPr id="242" name="Slide Number"/>
          <p:cNvSpPr txBox="1"/>
          <p:nvPr>
            <p:ph type="sldNum" sz="quarter" idx="2"/>
          </p:nvPr>
        </p:nvSpPr>
        <p:spPr>
          <a:prstGeom prst="rect">
            <a:avLst/>
          </a:prstGeom>
        </p:spPr>
        <p:txBody>
          <a:bodyPr/>
          <a:lstStyle/>
          <a:p>
            <a:pPr/>
            <a:fld id="{86CB4B4D-7CA3-9044-876B-883B54F8677D}" type="slidenum"/>
          </a:p>
        </p:txBody>
      </p:sp>
      <p:sp>
        <p:nvSpPr>
          <p:cNvPr id="243" name="Textplatzhalter 13"/>
          <p:cNvSpPr/>
          <p:nvPr>
            <p:ph type="body" sz="quarter" idx="22" hasCustomPrompt="1"/>
          </p:nvPr>
        </p:nvSpPr>
        <p:spPr>
          <a:xfrm>
            <a:off x="4274441"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4" name="Bildplatzhalter 8"/>
          <p:cNvSpPr/>
          <p:nvPr>
            <p:ph type="pic" sz="quarter" idx="23"/>
          </p:nvPr>
        </p:nvSpPr>
        <p:spPr>
          <a:xfrm>
            <a:off x="4274441" y="1417672"/>
            <a:ext cx="3636001" cy="2043796"/>
          </a:xfrm>
          <a:prstGeom prst="rect">
            <a:avLst/>
          </a:prstGeom>
        </p:spPr>
        <p:txBody>
          <a:bodyPr lIns="91439" tIns="45719" rIns="91439" bIns="45719">
            <a:noAutofit/>
          </a:bodyPr>
          <a:lstStyle/>
          <a:p>
            <a:pPr/>
          </a:p>
        </p:txBody>
      </p:sp>
      <p:sp>
        <p:nvSpPr>
          <p:cNvPr id="245" name="Textplatzhalter 13"/>
          <p:cNvSpPr/>
          <p:nvPr>
            <p:ph type="body" sz="quarter" idx="24" hasCustomPrompt="1"/>
          </p:nvPr>
        </p:nvSpPr>
        <p:spPr>
          <a:xfrm>
            <a:off x="8107199"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6" name="Bildplatzhalter 8"/>
          <p:cNvSpPr/>
          <p:nvPr>
            <p:ph type="pic" sz="quarter" idx="25"/>
          </p:nvPr>
        </p:nvSpPr>
        <p:spPr>
          <a:xfrm>
            <a:off x="8107199" y="1417672"/>
            <a:ext cx="3636001" cy="2043796"/>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out Picture">
    <p:spTree>
      <p:nvGrpSpPr>
        <p:cNvPr id="1" name=""/>
        <p:cNvGrpSpPr/>
        <p:nvPr/>
      </p:nvGrpSpPr>
      <p:grpSpPr>
        <a:xfrm>
          <a:off x="0" y="0"/>
          <a:ext cx="0" cy="0"/>
          <a:chOff x="0" y="0"/>
          <a:chExt cx="0" cy="0"/>
        </a:xfrm>
      </p:grpSpPr>
      <p:pic>
        <p:nvPicPr>
          <p:cNvPr id="25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54" name="Body Level One…"/>
          <p:cNvSpPr txBox="1"/>
          <p:nvPr>
            <p:ph type="body" sz="quarter" idx="1" hasCustomPrompt="1"/>
          </p:nvPr>
        </p:nvSpPr>
        <p:spPr>
          <a:xfrm>
            <a:off x="449234" y="1553506"/>
            <a:ext cx="3643119" cy="1980001"/>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55" name="Write your titlemaximum two lines"/>
          <p:cNvSpPr txBox="1"/>
          <p:nvPr>
            <p:ph type="title" hasCustomPrompt="1"/>
          </p:nvPr>
        </p:nvSpPr>
        <p:spPr>
          <a:prstGeom prst="rect">
            <a:avLst/>
          </a:prstGeom>
        </p:spPr>
        <p:txBody>
          <a:bodyPr/>
          <a:lstStyle/>
          <a:p>
            <a:pPr/>
            <a:r>
              <a:t>Write your titlemaximum two lines</a:t>
            </a:r>
          </a:p>
        </p:txBody>
      </p:sp>
      <p:sp>
        <p:nvSpPr>
          <p:cNvPr id="256" name="Slide Number"/>
          <p:cNvSpPr txBox="1"/>
          <p:nvPr>
            <p:ph type="sldNum" sz="quarter" idx="2"/>
          </p:nvPr>
        </p:nvSpPr>
        <p:spPr>
          <a:prstGeom prst="rect">
            <a:avLst/>
          </a:prstGeom>
        </p:spPr>
        <p:txBody>
          <a:bodyPr/>
          <a:lstStyle/>
          <a:p>
            <a:pPr/>
            <a:fld id="{86CB4B4D-7CA3-9044-876B-883B54F8677D}" type="slidenum"/>
          </a:p>
        </p:txBody>
      </p:sp>
      <p:sp>
        <p:nvSpPr>
          <p:cNvPr id="257" name="Textplatzhalter 13"/>
          <p:cNvSpPr/>
          <p:nvPr>
            <p:ph type="body" sz="quarter" idx="21" hasCustomPrompt="1"/>
          </p:nvPr>
        </p:nvSpPr>
        <p:spPr>
          <a:xfrm>
            <a:off x="4274441" y="1553506"/>
            <a:ext cx="3643118" cy="1980001"/>
          </a:xfrm>
          <a:prstGeom prst="rect">
            <a:avLst/>
          </a:prstGeom>
        </p:spPr>
        <p:txBody>
          <a:bodyPr/>
          <a:lstStyle>
            <a:lvl1pPr marL="0" indent="0">
              <a:lnSpc>
                <a:spcPts val="2700"/>
              </a:lnSpc>
              <a:buClrTx/>
              <a:buSzTx/>
              <a:buNone/>
              <a:defRPr b="1"/>
            </a:lvl1pPr>
          </a:lstStyle>
          <a:p>
            <a:pPr/>
            <a:r>
              <a:t>First Level
Second Level</a:t>
            </a:r>
          </a:p>
        </p:txBody>
      </p:sp>
      <p:sp>
        <p:nvSpPr>
          <p:cNvPr id="258" name="Textplatzhalter 13"/>
          <p:cNvSpPr/>
          <p:nvPr>
            <p:ph type="body" sz="quarter" idx="22" hasCustomPrompt="1"/>
          </p:nvPr>
        </p:nvSpPr>
        <p:spPr>
          <a:xfrm>
            <a:off x="8107199" y="1553506"/>
            <a:ext cx="3643119" cy="1980001"/>
          </a:xfrm>
          <a:prstGeom prst="rect">
            <a:avLst/>
          </a:prstGeom>
        </p:spPr>
        <p:txBody>
          <a:bodyPr/>
          <a:lstStyle>
            <a:lvl1pPr marL="0" indent="0">
              <a:lnSpc>
                <a:spcPts val="2700"/>
              </a:lnSpc>
              <a:buClrTx/>
              <a:buSzTx/>
              <a:buNone/>
              <a:defRPr b="1"/>
            </a:lvl1pPr>
          </a:lstStyle>
          <a:p>
            <a:pPr/>
            <a:r>
              <a:t>First Level
Second Level</a:t>
            </a:r>
          </a:p>
        </p:txBody>
      </p:sp>
      <p:sp>
        <p:nvSpPr>
          <p:cNvPr id="259" name="Textplatzhalter 13"/>
          <p:cNvSpPr/>
          <p:nvPr>
            <p:ph type="body" sz="quarter" idx="23" hasCustomPrompt="1"/>
          </p:nvPr>
        </p:nvSpPr>
        <p:spPr>
          <a:xfrm>
            <a:off x="449235"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0" name="Textplatzhalter 13"/>
          <p:cNvSpPr/>
          <p:nvPr>
            <p:ph type="body" sz="quarter" idx="24" hasCustomPrompt="1"/>
          </p:nvPr>
        </p:nvSpPr>
        <p:spPr>
          <a:xfrm>
            <a:off x="4274441"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1" name="Textplatzhalter 13"/>
          <p:cNvSpPr/>
          <p:nvPr>
            <p:ph type="body" sz="quarter" idx="25" hasCustomPrompt="1"/>
          </p:nvPr>
        </p:nvSpPr>
        <p:spPr>
          <a:xfrm>
            <a:off x="8107199" y="3782086"/>
            <a:ext cx="3643119" cy="1980002"/>
          </a:xfrm>
          <a:prstGeom prst="rect">
            <a:avLst/>
          </a:prstGeom>
        </p:spPr>
        <p:txBody>
          <a:bodyPr/>
          <a:lstStyle>
            <a:lvl1pPr marL="0" indent="0">
              <a:lnSpc>
                <a:spcPts val="2700"/>
              </a:lnSpc>
              <a:buClrTx/>
              <a:buSzTx/>
              <a:buNone/>
              <a:defRPr b="1"/>
            </a:lvl1pPr>
          </a:lstStyle>
          <a:p>
            <a:pPr/>
            <a:r>
              <a:t>First Level
Second Level</a:t>
            </a:r>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p:spTree>
      <p:nvGrpSpPr>
        <p:cNvPr id="1" name=""/>
        <p:cNvGrpSpPr/>
        <p:nvPr/>
      </p:nvGrpSpPr>
      <p:grpSpPr>
        <a:xfrm>
          <a:off x="0" y="0"/>
          <a:ext cx="0" cy="0"/>
          <a:chOff x="0" y="0"/>
          <a:chExt cx="0" cy="0"/>
        </a:xfrm>
      </p:grpSpPr>
      <p:sp>
        <p:nvSpPr>
          <p:cNvPr id="268" name="Title Text"/>
          <p:cNvSpPr txBox="1"/>
          <p:nvPr>
            <p:ph type="title"/>
          </p:nvPr>
        </p:nvSpPr>
        <p:spPr>
          <a:xfrm>
            <a:off x="304799" y="183091"/>
            <a:ext cx="5486401" cy="762001"/>
          </a:xfrm>
          <a:prstGeom prst="rect">
            <a:avLst/>
          </a:prstGeom>
        </p:spPr>
        <p:txBody>
          <a:bodyPr lIns="30479" tIns="30479" rIns="30479" bIns="30479" anchor="ctr"/>
          <a:lstStyle>
            <a:lvl1pPr algn="ctr" defTabSz="609600">
              <a:lnSpc>
                <a:spcPct val="100000"/>
              </a:lnSpc>
              <a:defRPr sz="2800">
                <a:solidFill>
                  <a:srgbClr val="000000"/>
                </a:solidFill>
                <a:latin typeface="+mj-lt"/>
                <a:ea typeface="+mj-ea"/>
                <a:cs typeface="+mj-cs"/>
                <a:sym typeface="Calibri"/>
              </a:defRPr>
            </a:lvl1pPr>
          </a:lstStyle>
          <a:p>
            <a:pPr/>
            <a:r>
              <a:t>Title Text</a:t>
            </a:r>
          </a:p>
        </p:txBody>
      </p:sp>
      <p:sp>
        <p:nvSpPr>
          <p:cNvPr id="269" name="Body Level One…"/>
          <p:cNvSpPr txBox="1"/>
          <p:nvPr>
            <p:ph type="body" sz="quarter" idx="1"/>
          </p:nvPr>
        </p:nvSpPr>
        <p:spPr>
          <a:xfrm>
            <a:off x="304799" y="1066799"/>
            <a:ext cx="5486401" cy="3017310"/>
          </a:xfrm>
          <a:prstGeom prst="rect">
            <a:avLst/>
          </a:prstGeom>
        </p:spPr>
        <p:txBody>
          <a:bodyPr lIns="30479" tIns="30479" rIns="30479" bIns="30479"/>
          <a:lstStyle>
            <a:lvl1pPr marL="214312" indent="-214312" defTabSz="609600">
              <a:lnSpc>
                <a:spcPct val="100000"/>
              </a:lnSpc>
              <a:spcBef>
                <a:spcPts val="500"/>
              </a:spcBef>
              <a:buClrTx/>
              <a:buFont typeface="Arial"/>
              <a:buChar char="•"/>
              <a:defRPr sz="2000">
                <a:solidFill>
                  <a:srgbClr val="000000"/>
                </a:solidFill>
                <a:latin typeface="+mj-lt"/>
                <a:ea typeface="+mj-ea"/>
                <a:cs typeface="+mj-cs"/>
                <a:sym typeface="Calibri"/>
              </a:defRPr>
            </a:lvl1pPr>
            <a:lvl2pPr marL="661307" indent="-204107" defTabSz="609600">
              <a:lnSpc>
                <a:spcPct val="100000"/>
              </a:lnSpc>
              <a:spcBef>
                <a:spcPts val="500"/>
              </a:spcBef>
              <a:buClrTx/>
              <a:buFont typeface="Arial"/>
              <a:buChar char="–"/>
              <a:defRPr sz="2000">
                <a:solidFill>
                  <a:srgbClr val="000000"/>
                </a:solidFill>
                <a:latin typeface="+mj-lt"/>
                <a:ea typeface="+mj-ea"/>
                <a:cs typeface="+mj-cs"/>
                <a:sym typeface="Calibri"/>
              </a:defRPr>
            </a:lvl2pPr>
            <a:lvl3pPr marL="1104900" indent="-190500" defTabSz="609600">
              <a:lnSpc>
                <a:spcPct val="100000"/>
              </a:lnSpc>
              <a:spcBef>
                <a:spcPts val="500"/>
              </a:spcBef>
              <a:buClrTx/>
              <a:buFont typeface="Arial"/>
              <a:buChar char="•"/>
              <a:defRPr sz="2000">
                <a:solidFill>
                  <a:srgbClr val="000000"/>
                </a:solidFill>
                <a:latin typeface="+mj-lt"/>
                <a:ea typeface="+mj-ea"/>
                <a:cs typeface="+mj-cs"/>
                <a:sym typeface="Calibri"/>
              </a:defRPr>
            </a:lvl3pPr>
            <a:lvl4pPr marL="16002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4pPr>
            <a:lvl5pPr marL="20574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270"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277"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Slide">
    <p:spTree>
      <p:nvGrpSpPr>
        <p:cNvPr id="1" name=""/>
        <p:cNvGrpSpPr/>
        <p:nvPr/>
      </p:nvGrpSpPr>
      <p:grpSpPr>
        <a:xfrm>
          <a:off x="0" y="0"/>
          <a:ext cx="0" cy="0"/>
          <a:chOff x="0" y="0"/>
          <a:chExt cx="0" cy="0"/>
        </a:xfrm>
      </p:grpSpPr>
      <p:sp>
        <p:nvSpPr>
          <p:cNvPr id="284" name="Slide Number"/>
          <p:cNvSpPr txBox="1"/>
          <p:nvPr>
            <p:ph type="sldNum" sz="quarter" idx="2"/>
          </p:nvPr>
        </p:nvSpPr>
        <p:spPr>
          <a:xfrm>
            <a:off x="11828527" y="6534070"/>
            <a:ext cx="190073" cy="165101"/>
          </a:xfrm>
          <a:prstGeom prst="rect">
            <a:avLst/>
          </a:prstGeom>
        </p:spPr>
        <p:txBody>
          <a:bodyPr/>
          <a:lstStyle>
            <a:lvl1pPr>
              <a:defRPr spc="-1" sz="1100"/>
            </a:lvl1pPr>
          </a:lstStyle>
          <a:p>
            <a:pPr/>
            <a:fld id="{86CB4B4D-7CA3-9044-876B-883B54F8677D}" type="slidenum"/>
          </a:p>
        </p:txBody>
      </p:sp>
      <p:pic>
        <p:nvPicPr>
          <p:cNvPr id="285" name="Picture 8" descr="Picture 8"/>
          <p:cNvPicPr>
            <a:picLocks noChangeAspect="1"/>
          </p:cNvPicPr>
          <p:nvPr/>
        </p:nvPicPr>
        <p:blipFill>
          <a:blip r:embed="rId2">
            <a:extLst/>
          </a:blip>
          <a:stretch>
            <a:fillRect/>
          </a:stretch>
        </p:blipFill>
        <p:spPr>
          <a:xfrm>
            <a:off x="9826200" y="260279"/>
            <a:ext cx="2105281" cy="743402"/>
          </a:xfrm>
          <a:prstGeom prst="rect">
            <a:avLst/>
          </a:prstGeom>
          <a:ln w="12700">
            <a:miter lim="400000"/>
          </a:ln>
        </p:spPr>
      </p:pic>
      <p:sp>
        <p:nvSpPr>
          <p:cNvPr id="286" name="Freeform 85"/>
          <p:cNvSpPr/>
          <p:nvPr/>
        </p:nvSpPr>
        <p:spPr>
          <a:xfrm>
            <a:off x="10756110" y="1393882"/>
            <a:ext cx="1629433" cy="976225"/>
          </a:xfrm>
          <a:prstGeom prst="rect">
            <a:avLst/>
          </a:prstGeom>
          <a:blipFill>
            <a:blip r:embed="rId3"/>
            <a:stretch>
              <a:fillRect/>
            </a:stretch>
          </a:blipFill>
          <a:ln w="12700">
            <a:miter lim="400000"/>
          </a:ln>
        </p:spPr>
        <p:txBody>
          <a:bodyPr lIns="30479" tIns="30479" rIns="30479" bIns="30479"/>
          <a:lstStyle/>
          <a:p>
            <a:pPr defTabSz="609600">
              <a:defRPr sz="1100">
                <a:solidFill>
                  <a:srgbClr val="000000"/>
                </a:solidFill>
                <a:latin typeface="+mj-lt"/>
                <a:ea typeface="+mj-ea"/>
                <a:cs typeface="+mj-cs"/>
                <a:sym typeface="Calibri"/>
              </a:defRPr>
            </a:pPr>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Relationship Id="rId16" Type="http://schemas.openxmlformats.org/officeDocument/2006/relationships/slideLayout" Target="../slideLayouts/slideLayout13.xml"/><Relationship Id="rId17" Type="http://schemas.openxmlformats.org/officeDocument/2006/relationships/slideLayout" Target="../slideLayouts/slideLayout14.xml"/><Relationship Id="rId18" Type="http://schemas.openxmlformats.org/officeDocument/2006/relationships/slideLayout" Target="../slideLayouts/slideLayout15.xml"/><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 Id="rId23" Type="http://schemas.openxmlformats.org/officeDocument/2006/relationships/slideLayout" Target="../slideLayouts/slideLayout20.xml"/><Relationship Id="rId24" Type="http://schemas.openxmlformats.org/officeDocument/2006/relationships/slideLayout" Target="../slideLayouts/slideLayout21.xml"/><Relationship Id="rId25" Type="http://schemas.openxmlformats.org/officeDocument/2006/relationships/slideLayout" Target="../slideLayouts/slideLayout22.xml"/><Relationship Id="rId26" Type="http://schemas.openxmlformats.org/officeDocument/2006/relationships/slideLayout" Target="../slideLayouts/slideLayout23.xml"/><Relationship Id="rId27"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Agenda"/>
          <p:cNvSpPr txBox="1"/>
          <p:nvPr>
            <p:ph type="title" hasCustomPrompt="1"/>
          </p:nvPr>
        </p:nvSpPr>
        <p:spPr>
          <a:xfrm>
            <a:off x="450000" y="330270"/>
            <a:ext cx="9912012" cy="97465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Agenda</a:t>
            </a:r>
          </a:p>
        </p:txBody>
      </p:sp>
      <p:sp>
        <p:nvSpPr>
          <p:cNvPr id="3" name="Slide Number"/>
          <p:cNvSpPr txBox="1"/>
          <p:nvPr>
            <p:ph type="sldNum" sz="quarter" idx="2"/>
          </p:nvPr>
        </p:nvSpPr>
        <p:spPr>
          <a:xfrm>
            <a:off x="11844580" y="6539678"/>
            <a:ext cx="174179" cy="152401"/>
          </a:xfrm>
          <a:prstGeom prst="rect">
            <a:avLst/>
          </a:prstGeom>
          <a:ln w="12700">
            <a:miter lim="400000"/>
          </a:ln>
        </p:spPr>
        <p:txBody>
          <a:bodyPr wrap="none" lIns="0" tIns="0" rIns="0" bIns="0" anchor="ctr">
            <a:spAutoFit/>
          </a:bodyPr>
          <a:lstStyle>
            <a:lvl1pPr algn="r">
              <a:defRPr sz="1000"/>
            </a:lvl1pPr>
          </a:lstStyle>
          <a:p>
            <a:pPr/>
            <a:fld id="{86CB4B4D-7CA3-9044-876B-883B54F8677D}" type="slidenum"/>
          </a:p>
        </p:txBody>
      </p:sp>
      <p:sp>
        <p:nvSpPr>
          <p:cNvPr id="4" name="Body Level One…"/>
          <p:cNvSpPr txBox="1"/>
          <p:nvPr>
            <p:ph type="body" idx="1" hasCustomPrompt="1"/>
          </p:nvPr>
        </p:nvSpPr>
        <p:spPr>
          <a:xfrm>
            <a:off x="450000" y="1729104"/>
            <a:ext cx="9912351" cy="464685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Write your first topic here</a:t>
            </a:r>
          </a:p>
          <a:p>
            <a:pPr lvl="1"/>
            <a:r>
              <a:t/>
            </a:r>
          </a:p>
          <a:p>
            <a:pPr lvl="2"/>
            <a:r>
              <a:t/>
            </a:r>
          </a:p>
          <a:p>
            <a:pPr lvl="3"/>
            <a:r>
              <a:t/>
            </a:r>
          </a:p>
          <a:p>
            <a:pPr lvl="4"/>
            <a:r>
              <a:t/>
            </a:r>
          </a:p>
        </p:txBody>
      </p:sp>
      <p:sp>
        <p:nvSpPr>
          <p:cNvPr id="5"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6"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 bg1="lt1" tx1="dk1" bg2="lt2"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 id="2147483661" r:id="rId16"/>
    <p:sldLayoutId id="2147483662" r:id="rId17"/>
    <p:sldLayoutId id="2147483663" r:id="rId18"/>
    <p:sldLayoutId id="2147483664" r:id="rId19"/>
    <p:sldLayoutId id="2147483665" r:id="rId20"/>
    <p:sldLayoutId id="2147483666" r:id="rId21"/>
    <p:sldLayoutId id="2147483667" r:id="rId22"/>
    <p:sldLayoutId id="2147483668" r:id="rId23"/>
    <p:sldLayoutId id="2147483669" r:id="rId24"/>
    <p:sldLayoutId id="2147483670" r:id="rId25"/>
    <p:sldLayoutId id="2147483671" r:id="rId26"/>
    <p:sldLayoutId id="2147483672" r:id="rId27"/>
  </p:sldLayoutIdLst>
  <p:transition xmlns:p14="http://schemas.microsoft.com/office/powerpoint/2010/main" spd="med" advClick="1"/>
  <p:txStyles>
    <p:titleStyle>
      <a:lvl1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1pPr>
      <a:lvl2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2pPr>
      <a:lvl3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3pPr>
      <a:lvl4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4pPr>
      <a:lvl5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5pPr>
      <a:lvl6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6pPr>
      <a:lvl7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7pPr>
      <a:lvl8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8pPr>
      <a:lvl9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9pPr>
    </p:titleStyle>
    <p:bodyStyle>
      <a:lvl1pPr marL="359999" marR="0" indent="-358775" algn="l" defTabSz="914400" rtl="0" latinLnBrk="0">
        <a:lnSpc>
          <a:spcPct val="150000"/>
        </a:lnSpc>
        <a:spcBef>
          <a:spcPts val="0"/>
        </a:spcBef>
        <a:spcAft>
          <a:spcPts val="0"/>
        </a:spcAft>
        <a:buClr>
          <a:schemeClr val="accent1"/>
        </a:buClr>
        <a:buSzPct val="100000"/>
        <a:buFontTx/>
        <a:buAutoNum type="arabicPeriod" startAt="1"/>
        <a:tabLst/>
        <a:defRPr b="0" baseline="0" cap="none" i="0" spc="0" strike="noStrike" sz="1800" u="none">
          <a:solidFill>
            <a:srgbClr val="5A6065"/>
          </a:solidFill>
          <a:uFillTx/>
          <a:latin typeface="Verdana"/>
          <a:ea typeface="Verdana"/>
          <a:cs typeface="Verdana"/>
          <a:sym typeface="Verdana"/>
        </a:defRPr>
      </a:lvl1pPr>
      <a:lvl2pPr marL="719137" marR="0" indent="-360363"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2pPr>
      <a:lvl3pPr marL="1079999" marR="0" indent="-360362" algn="l" defTabSz="914400" rtl="0" latinLnBrk="0">
        <a:lnSpc>
          <a:spcPct val="150000"/>
        </a:lnSpc>
        <a:spcBef>
          <a:spcPts val="0"/>
        </a:spcBef>
        <a:spcAft>
          <a:spcPts val="0"/>
        </a:spcAft>
        <a:buClr>
          <a:schemeClr val="accent1"/>
        </a:buClr>
        <a:buSzPct val="100000"/>
        <a:buFontTx/>
        <a:buAutoNum type="alphaLcParenR" startAt="1"/>
        <a:tabLst/>
        <a:defRPr b="0" baseline="0" cap="none" i="0" spc="0" strike="noStrike" sz="1800" u="none">
          <a:solidFill>
            <a:srgbClr val="5A6065"/>
          </a:solidFill>
          <a:uFillTx/>
          <a:latin typeface="Verdana"/>
          <a:ea typeface="Verdana"/>
          <a:cs typeface="Verdana"/>
          <a:sym typeface="Verdana"/>
        </a:defRPr>
      </a:lvl3pPr>
      <a:lvl4pPr marL="1439999" marR="0" indent="-360362"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4pPr>
      <a:lvl5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5pPr>
      <a:lvl6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6pPr>
      <a:lvl7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7pPr>
      <a:lvl8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8pPr>
      <a:lvl9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1pPr>
      <a:lvl2pPr marL="0" marR="0" indent="457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2pPr>
      <a:lvl3pPr marL="0" marR="0" indent="914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3pPr>
      <a:lvl4pPr marL="0" marR="0" indent="1371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4pPr>
      <a:lvl5pPr marL="0" marR="0" indent="18288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5pPr>
      <a:lvl6pPr marL="0" marR="0" indent="22860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6pPr>
      <a:lvl7pPr marL="0" marR="0" indent="2743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7pPr>
      <a:lvl8pPr marL="0" marR="0" indent="3200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8pPr>
      <a:lvl9pPr marL="0" marR="0" indent="3657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3.png"/><Relationship Id="rId6" Type="http://schemas.openxmlformats.org/officeDocument/2006/relationships/image" Target="../media/image28.png"/><Relationship Id="rId7" Type="http://schemas.openxmlformats.org/officeDocument/2006/relationships/image" Target="../media/image20.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jpeg"/><Relationship Id="rId6" Type="http://schemas.openxmlformats.org/officeDocument/2006/relationships/image" Target="../media/image34.png"/><Relationship Id="rId7" Type="http://schemas.openxmlformats.org/officeDocument/2006/relationships/image" Target="../media/image20.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35.png"/><Relationship Id="rId6" Type="http://schemas.openxmlformats.org/officeDocument/2006/relationships/image" Target="../media/image20.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 Id="rId6" Type="http://schemas.openxmlformats.org/officeDocument/2006/relationships/image" Target="../media/image3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jpeg"/><Relationship Id="rId4" Type="http://schemas.openxmlformats.org/officeDocument/2006/relationships/image" Target="../media/image2.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sc.hpi.de/aisc/FAQ/" TargetMode="External"/><Relationship Id="rId3" Type="http://schemas.openxmlformats.org/officeDocument/2006/relationships/hyperlink" Target="mailto:aisc-helpdesk@hpi.de" TargetMode="External"/><Relationship Id="rId4" Type="http://schemas.openxmlformats.org/officeDocument/2006/relationships/hyperlink" Target="mailto:ki-servicezentrum@hpi.de" TargetMode="External"/><Relationship Id="rId5" Type="http://schemas.openxmlformats.org/officeDocument/2006/relationships/image" Target="../media/image38.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github.com/aihpi/workshop-slurm" TargetMode="External"/><Relationship Id="rId6" Type="http://schemas.openxmlformats.org/officeDocument/2006/relationships/image" Target="../media/image39.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0.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1.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 Id="rId6" Type="http://schemas.openxmlformats.org/officeDocument/2006/relationships/image" Target="../media/image43.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docs.sc.hpi.de/Terms-of-Usage/" TargetMode="External"/></Relationships>

</file>

<file path=ppt/slides/_rels/slide1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4.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chart" Target="../charts/chart1.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Freeform 2"/>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6" name="Freeform 3"/>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7" name="Freeform 4"/>
          <p:cNvSpPr/>
          <p:nvPr/>
        </p:nvSpPr>
        <p:spPr>
          <a:xfrm>
            <a:off x="5593830" y="3624398"/>
            <a:ext cx="7516385" cy="348387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8" name="Freeform 5"/>
          <p:cNvSpPr/>
          <p:nvPr/>
        </p:nvSpPr>
        <p:spPr>
          <a:xfrm>
            <a:off x="10087640" y="423064"/>
            <a:ext cx="1580342" cy="55893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9" name="TextBox 6"/>
          <p:cNvSpPr txBox="1"/>
          <p:nvPr/>
        </p:nvSpPr>
        <p:spPr>
          <a:xfrm>
            <a:off x="1462126" y="2046371"/>
            <a:ext cx="6424168" cy="7498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2900"/>
              </a:lnSpc>
              <a:defRPr sz="2400">
                <a:solidFill>
                  <a:srgbClr val="5A6165"/>
                </a:solidFill>
                <a:latin typeface="Futura Bold"/>
                <a:ea typeface="Futura Bold"/>
                <a:cs typeface="Futura Bold"/>
                <a:sym typeface="Futura Bold"/>
              </a:defRPr>
            </a:pPr>
            <a:r>
              <a:t>Workshop</a:t>
            </a:r>
          </a:p>
          <a:p>
            <a:pPr defTabSz="609600">
              <a:lnSpc>
                <a:spcPts val="2900"/>
              </a:lnSpc>
              <a:defRPr sz="2400">
                <a:solidFill>
                  <a:srgbClr val="5A6165"/>
                </a:solidFill>
                <a:latin typeface="Futura Bold"/>
                <a:ea typeface="Futura Bold"/>
                <a:cs typeface="Futura Bold"/>
                <a:sym typeface="Futura Bold"/>
              </a:defRPr>
            </a:pPr>
            <a:r>
              <a:t>How to use our HPC Cluster</a:t>
            </a:r>
          </a:p>
        </p:txBody>
      </p:sp>
      <p:pic>
        <p:nvPicPr>
          <p:cNvPr id="300" name="Picture 9" descr="Picture 9"/>
          <p:cNvPicPr>
            <a:picLocks noChangeAspect="1"/>
          </p:cNvPicPr>
          <p:nvPr/>
        </p:nvPicPr>
        <p:blipFill>
          <a:blip r:embed="rId6">
            <a:extLst/>
          </a:blip>
          <a:stretch>
            <a:fillRect/>
          </a:stretch>
        </p:blipFill>
        <p:spPr>
          <a:xfrm>
            <a:off x="9832023" y="1018337"/>
            <a:ext cx="2091576" cy="1397666"/>
          </a:xfrm>
          <a:prstGeom prst="rect">
            <a:avLst/>
          </a:prstGeom>
          <a:ln w="12700">
            <a:miter lim="400000"/>
          </a:ln>
        </p:spPr>
      </p:pic>
      <p:sp>
        <p:nvSpPr>
          <p:cNvPr id="301" name="TextBox 6"/>
          <p:cNvSpPr txBox="1"/>
          <p:nvPr/>
        </p:nvSpPr>
        <p:spPr>
          <a:xfrm>
            <a:off x="1462126" y="3023852"/>
            <a:ext cx="5537201" cy="3508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2900"/>
              </a:lnSpc>
              <a:defRPr sz="1600">
                <a:solidFill>
                  <a:srgbClr val="5A6165"/>
                </a:solidFill>
                <a:latin typeface="Futura Bold"/>
                <a:ea typeface="Futura Bold"/>
                <a:cs typeface="Futura Bold"/>
                <a:sym typeface="Futura Bold"/>
              </a:defRPr>
            </a:lvl1pPr>
          </a:lstStyle>
          <a:p>
            <a:pPr/>
            <a:r>
              <a:t>Felix Boelter and David Goll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AutoShape 2"/>
          <p:cNvSpPr/>
          <p:nvPr/>
        </p:nvSpPr>
        <p:spPr>
          <a:xfrm rot="10800000">
            <a:off x="7019000" y="26567"/>
            <a:ext cx="5173001" cy="6858001"/>
          </a:xfrm>
          <a:prstGeom prst="rect">
            <a:avLst/>
          </a:prstGeom>
          <a:solidFill>
            <a:srgbClr val="FFFFFF"/>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6"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7" name="Freeform 4"/>
          <p:cNvSpPr/>
          <p:nvPr/>
        </p:nvSpPr>
        <p:spPr>
          <a:xfrm>
            <a:off x="10720750" y="477331"/>
            <a:ext cx="1178860" cy="41693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8" name="TextBox 5"/>
          <p:cNvSpPr txBox="1"/>
          <p:nvPr/>
        </p:nvSpPr>
        <p:spPr>
          <a:xfrm>
            <a:off x="466098" y="463165"/>
            <a:ext cx="8603812" cy="3944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200"/>
              </a:lnSpc>
              <a:defRPr sz="2600">
                <a:solidFill>
                  <a:srgbClr val="17161C"/>
                </a:solidFill>
              </a:defRPr>
            </a:lvl1pPr>
          </a:lstStyle>
          <a:p>
            <a:pPr/>
            <a:r>
              <a:t>KI-Servicezentrum Berlin-Brandenburg</a:t>
            </a:r>
          </a:p>
        </p:txBody>
      </p:sp>
      <p:sp>
        <p:nvSpPr>
          <p:cNvPr id="309" name="TextBox 6"/>
          <p:cNvSpPr txBox="1"/>
          <p:nvPr/>
        </p:nvSpPr>
        <p:spPr>
          <a:xfrm>
            <a:off x="7502218" y="4565811"/>
            <a:ext cx="4206564" cy="22212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Hasso-Plattner-Institut gGmbH</a:t>
            </a:r>
          </a:p>
          <a:p>
            <a:pPr defTabSz="609600">
              <a:lnSpc>
                <a:spcPts val="1600"/>
              </a:lnSpc>
              <a:defRPr b="1" sz="1000">
                <a:solidFill>
                  <a:srgbClr val="000000"/>
                </a:solidFill>
              </a:defRPr>
            </a:pPr>
          </a:p>
          <a:p>
            <a:pPr lvl="1" marL="238567" indent="-91756" defTabSz="609600">
              <a:lnSpc>
                <a:spcPts val="1600"/>
              </a:lnSpc>
              <a:buSzPct val="100000"/>
              <a:buFont typeface="Arial"/>
              <a:buChar char="•"/>
              <a:defRPr sz="1000">
                <a:solidFill>
                  <a:srgbClr val="000000"/>
                </a:solidFill>
              </a:defRPr>
            </a:pPr>
            <a:r>
              <a:t>Bildet mit </a:t>
            </a:r>
            <a:r>
              <a:rPr b="1"/>
              <a:t>Universität Potsdam</a:t>
            </a:r>
            <a:r>
              <a:t> die</a:t>
            </a:r>
            <a:r>
              <a:rPr b="1"/>
              <a:t> Digital Engineering Fakultät</a:t>
            </a:r>
            <a:endParaRPr b="1"/>
          </a:p>
          <a:p>
            <a:pPr lvl="1" marL="238567" indent="-91756" defTabSz="609600">
              <a:lnSpc>
                <a:spcPts val="1600"/>
              </a:lnSpc>
              <a:buSzPct val="100000"/>
              <a:buFont typeface="Arial"/>
              <a:buChar char="•"/>
              <a:defRPr sz="1000">
                <a:solidFill>
                  <a:srgbClr val="000000"/>
                </a:solidFill>
              </a:defRPr>
            </a:pPr>
            <a:r>
              <a:t>Vereint</a:t>
            </a:r>
            <a:r>
              <a:rPr b="1"/>
              <a:t> Forschung, Lehre</a:t>
            </a:r>
            <a:r>
              <a:t> mit den Vorteilen einer </a:t>
            </a:r>
            <a:r>
              <a:rPr b="1"/>
              <a:t>privat finanzierten, gebührenfreien Institution</a:t>
            </a:r>
            <a:endParaRPr b="1"/>
          </a:p>
          <a:p>
            <a:pPr lvl="1" marL="238567" indent="-91756" defTabSz="609600">
              <a:lnSpc>
                <a:spcPts val="1600"/>
              </a:lnSpc>
              <a:buSzPct val="100000"/>
              <a:buFont typeface="Arial"/>
              <a:buChar char="•"/>
              <a:defRPr sz="1000">
                <a:solidFill>
                  <a:srgbClr val="000000"/>
                </a:solidFill>
              </a:defRPr>
            </a:pPr>
            <a:r>
              <a:t>Besteht aus Einrichtungen wie der </a:t>
            </a:r>
            <a:r>
              <a:rPr b="1"/>
              <a:t>E-School</a:t>
            </a:r>
            <a:r>
              <a:t>, der </a:t>
            </a:r>
            <a:r>
              <a:rPr b="1"/>
              <a:t>D-School,</a:t>
            </a:r>
            <a:r>
              <a:t> </a:t>
            </a:r>
          </a:p>
          <a:p>
            <a:pPr lvl="1" marL="238567" indent="-91756" defTabSz="609600">
              <a:lnSpc>
                <a:spcPts val="1600"/>
              </a:lnSpc>
              <a:buSzPct val="100000"/>
              <a:buFont typeface="Arial"/>
              <a:buChar char="•"/>
              <a:defRPr sz="1000">
                <a:solidFill>
                  <a:srgbClr val="000000"/>
                </a:solidFill>
              </a:defRPr>
            </a:pPr>
            <a:r>
              <a:t>dem </a:t>
            </a:r>
            <a:r>
              <a:rPr b="1"/>
              <a:t>Mittelstandsdigitalzentrum </a:t>
            </a:r>
            <a:r>
              <a:t>und </a:t>
            </a:r>
            <a:r>
              <a:rPr b="1"/>
              <a:t>dem KI-Servicezentrum </a:t>
            </a:r>
            <a:endParaRPr b="1"/>
          </a:p>
          <a:p>
            <a:pPr defTabSz="609600">
              <a:lnSpc>
                <a:spcPts val="1600"/>
              </a:lnSpc>
              <a:defRPr b="1" sz="1000">
                <a:solidFill>
                  <a:srgbClr val="000000"/>
                </a:solidFill>
              </a:defRPr>
            </a:pPr>
          </a:p>
        </p:txBody>
      </p:sp>
      <p:sp>
        <p:nvSpPr>
          <p:cNvPr id="310" name="TextBox 20"/>
          <p:cNvSpPr txBox="1"/>
          <p:nvPr/>
        </p:nvSpPr>
        <p:spPr>
          <a:xfrm>
            <a:off x="3593577" y="4652714"/>
            <a:ext cx="2965026" cy="6379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Ziel: </a:t>
            </a:r>
          </a:p>
          <a:p>
            <a:pPr defTabSz="609600">
              <a:lnSpc>
                <a:spcPts val="1200"/>
              </a:lnSpc>
              <a:defRPr b="1" sz="1000">
                <a:solidFill>
                  <a:srgbClr val="000000"/>
                </a:solidFill>
              </a:defRPr>
            </a:pPr>
            <a:r>
              <a:t>Barrieren der Implementierung von KI-Anwendungen in Gesellschaft und Wirtschaft reduzieren</a:t>
            </a:r>
          </a:p>
        </p:txBody>
      </p:sp>
      <p:sp>
        <p:nvSpPr>
          <p:cNvPr id="311" name="TextBox 21"/>
          <p:cNvSpPr txBox="1"/>
          <p:nvPr/>
        </p:nvSpPr>
        <p:spPr>
          <a:xfrm>
            <a:off x="10541634" y="1093924"/>
            <a:ext cx="1357977" cy="50342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r" defTabSz="609600">
              <a:lnSpc>
                <a:spcPts val="2000"/>
              </a:lnSpc>
              <a:defRPr sz="1400" u="sng">
                <a:solidFill>
                  <a:srgbClr val="DC640D"/>
                </a:solidFill>
                <a:latin typeface="Futura Bold"/>
                <a:ea typeface="Futura Bold"/>
                <a:cs typeface="Futura Bold"/>
                <a:sym typeface="Futura Bold"/>
              </a:defRPr>
            </a:pPr>
            <a:r>
              <a:t>kisz@hpi.de</a:t>
            </a:r>
            <a:r>
              <a:rPr u="none"/>
              <a:t>    </a:t>
            </a:r>
            <a:r>
              <a:t>hpi.de/kisz</a:t>
            </a:r>
          </a:p>
        </p:txBody>
      </p:sp>
      <p:sp>
        <p:nvSpPr>
          <p:cNvPr id="312" name="Freeform 22"/>
          <p:cNvSpPr/>
          <p:nvPr/>
        </p:nvSpPr>
        <p:spPr>
          <a:xfrm>
            <a:off x="866142" y="1456512"/>
            <a:ext cx="2593581" cy="3452353"/>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3" name="Freeform 23"/>
          <p:cNvSpPr/>
          <p:nvPr/>
        </p:nvSpPr>
        <p:spPr>
          <a:xfrm rot="243065">
            <a:off x="866142" y="1519632"/>
            <a:ext cx="2585985" cy="3413841"/>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4" name="AutoShape 24"/>
          <p:cNvSpPr/>
          <p:nvPr/>
        </p:nvSpPr>
        <p:spPr>
          <a:xfrm>
            <a:off x="3533304" y="3289530"/>
            <a:ext cx="1286654"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5" name="AutoShape 25"/>
          <p:cNvSpPr/>
          <p:nvPr/>
        </p:nvSpPr>
        <p:spPr>
          <a:xfrm>
            <a:off x="3533304" y="3921535"/>
            <a:ext cx="1286654" cy="1"/>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6" name="AutoShape 26"/>
          <p:cNvSpPr/>
          <p:nvPr/>
        </p:nvSpPr>
        <p:spPr>
          <a:xfrm>
            <a:off x="3013748" y="2675650"/>
            <a:ext cx="1790010" cy="1"/>
          </a:xfrm>
          <a:prstGeom prst="line">
            <a:avLst/>
          </a:prstGeom>
          <a:ln w="25400">
            <a:solidFill>
              <a:srgbClr val="DE6106"/>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7" name="AutoShape 27"/>
          <p:cNvSpPr/>
          <p:nvPr/>
        </p:nvSpPr>
        <p:spPr>
          <a:xfrm>
            <a:off x="3533304" y="1954081"/>
            <a:ext cx="1245370"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8" name="Freeform 29"/>
          <p:cNvSpPr/>
          <p:nvPr/>
        </p:nvSpPr>
        <p:spPr>
          <a:xfrm>
            <a:off x="4765656" y="3242941"/>
            <a:ext cx="108605" cy="108606"/>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9" name="Freeform 32"/>
          <p:cNvSpPr/>
          <p:nvPr/>
        </p:nvSpPr>
        <p:spPr>
          <a:xfrm>
            <a:off x="4765656" y="3866517"/>
            <a:ext cx="108605" cy="108606"/>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0" name="Freeform 35"/>
          <p:cNvSpPr/>
          <p:nvPr/>
        </p:nvSpPr>
        <p:spPr>
          <a:xfrm>
            <a:off x="4765656" y="1890635"/>
            <a:ext cx="108605" cy="108606"/>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1" name="Freeform 38"/>
          <p:cNvSpPr/>
          <p:nvPr/>
        </p:nvSpPr>
        <p:spPr>
          <a:xfrm>
            <a:off x="4765656" y="2613636"/>
            <a:ext cx="108605" cy="108605"/>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2" name="AutoShape 40"/>
          <p:cNvSpPr/>
          <p:nvPr/>
        </p:nvSpPr>
        <p:spPr>
          <a:xfrm>
            <a:off x="2931231" y="3651632"/>
            <a:ext cx="606299" cy="268245"/>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3" name="AutoShape 41"/>
          <p:cNvSpPr/>
          <p:nvPr/>
        </p:nvSpPr>
        <p:spPr>
          <a:xfrm flipV="1">
            <a:off x="1703551" y="3651509"/>
            <a:ext cx="1235085" cy="246"/>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4" name="AutoShape 42"/>
          <p:cNvSpPr/>
          <p:nvPr/>
        </p:nvSpPr>
        <p:spPr>
          <a:xfrm>
            <a:off x="1382141" y="3053686"/>
            <a:ext cx="340001" cy="237442"/>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5" name="AutoShape 43"/>
          <p:cNvSpPr/>
          <p:nvPr/>
        </p:nvSpPr>
        <p:spPr>
          <a:xfrm>
            <a:off x="1722141" y="3291127"/>
            <a:ext cx="1949310"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6" name="AutoShape 44"/>
          <p:cNvSpPr/>
          <p:nvPr/>
        </p:nvSpPr>
        <p:spPr>
          <a:xfrm flipV="1">
            <a:off x="2376455" y="1953366"/>
            <a:ext cx="1164250" cy="1016849"/>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7" name="AutoShape 45"/>
          <p:cNvSpPr/>
          <p:nvPr/>
        </p:nvSpPr>
        <p:spPr>
          <a:xfrm>
            <a:off x="2117428" y="2969357"/>
            <a:ext cx="257308"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8" name="Freeform 47"/>
          <p:cNvSpPr/>
          <p:nvPr/>
        </p:nvSpPr>
        <p:spPr>
          <a:xfrm>
            <a:off x="1993183" y="254870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9" name="Freeform 50"/>
          <p:cNvSpPr/>
          <p:nvPr/>
        </p:nvSpPr>
        <p:spPr>
          <a:xfrm>
            <a:off x="1052105" y="3158780"/>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0" name="Freeform 53"/>
          <p:cNvSpPr/>
          <p:nvPr/>
        </p:nvSpPr>
        <p:spPr>
          <a:xfrm>
            <a:off x="980655" y="32180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1" name="Freeform 56"/>
          <p:cNvSpPr/>
          <p:nvPr/>
        </p:nvSpPr>
        <p:spPr>
          <a:xfrm>
            <a:off x="1679643" y="2902337"/>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2" name="Freeform 59"/>
          <p:cNvSpPr/>
          <p:nvPr/>
        </p:nvSpPr>
        <p:spPr>
          <a:xfrm>
            <a:off x="1867018" y="310148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3" name="Freeform 61"/>
          <p:cNvSpPr/>
          <p:nvPr/>
        </p:nvSpPr>
        <p:spPr>
          <a:xfrm>
            <a:off x="4066085" y="2388099"/>
            <a:ext cx="678588" cy="240003"/>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4" name="Freeform 62"/>
          <p:cNvSpPr/>
          <p:nvPr/>
        </p:nvSpPr>
        <p:spPr>
          <a:xfrm>
            <a:off x="4066085" y="1711708"/>
            <a:ext cx="677646" cy="194825"/>
          </a:xfrm>
          <a:prstGeom prst="rect">
            <a:avLst/>
          </a:prstGeom>
          <a:blipFill>
            <a:blip r:embed="rId7"/>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5" name="Freeform 63"/>
          <p:cNvSpPr/>
          <p:nvPr/>
        </p:nvSpPr>
        <p:spPr>
          <a:xfrm>
            <a:off x="4066085" y="3089298"/>
            <a:ext cx="678588" cy="152683"/>
          </a:xfrm>
          <a:prstGeom prst="rect">
            <a:avLst/>
          </a:prstGeom>
          <a:blipFill>
            <a:blip r:embed="rId8"/>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6" name="Freeform 64"/>
          <p:cNvSpPr/>
          <p:nvPr/>
        </p:nvSpPr>
        <p:spPr>
          <a:xfrm>
            <a:off x="4066085" y="3634166"/>
            <a:ext cx="678588" cy="237763"/>
          </a:xfrm>
          <a:prstGeom prst="rect">
            <a:avLst/>
          </a:prstGeom>
          <a:blipFill>
            <a:blip r:embed="rId9"/>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7" name="TextBox 65"/>
          <p:cNvSpPr txBox="1"/>
          <p:nvPr/>
        </p:nvSpPr>
        <p:spPr>
          <a:xfrm>
            <a:off x="4971795" y="1872224"/>
            <a:ext cx="1460205"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1BABE3"/>
                </a:solidFill>
                <a:latin typeface="Codec Pro Bold"/>
                <a:ea typeface="Codec Pro Bold"/>
                <a:cs typeface="Codec Pro Bold"/>
                <a:sym typeface="Codec Pro Bold"/>
              </a:defRPr>
            </a:pPr>
            <a:r>
              <a:t>Göttingen I Kassel I Hannover </a:t>
            </a:r>
          </a:p>
          <a:p>
            <a:pPr defTabSz="609600">
              <a:lnSpc>
                <a:spcPts val="800"/>
              </a:lnSpc>
              <a:defRPr sz="600">
                <a:solidFill>
                  <a:srgbClr val="17161C"/>
                </a:solidFill>
                <a:latin typeface="Codec Pro"/>
                <a:ea typeface="Codec Pro"/>
                <a:cs typeface="Codec Pro"/>
                <a:sym typeface="Codec Pro"/>
              </a:defRPr>
            </a:pPr>
            <a:r>
              <a:t>Sensible und kritische Infrastrukturen</a:t>
            </a:r>
          </a:p>
          <a:p>
            <a:pPr defTabSz="609600">
              <a:lnSpc>
                <a:spcPts val="800"/>
              </a:lnSpc>
              <a:defRPr sz="600">
                <a:solidFill>
                  <a:srgbClr val="17161C"/>
                </a:solidFill>
                <a:latin typeface="Codec Pro"/>
                <a:ea typeface="Codec Pro"/>
                <a:cs typeface="Codec Pro"/>
                <a:sym typeface="Codec Pro"/>
              </a:defRPr>
            </a:pPr>
            <a:r>
              <a:t>Medizin &amp; Energie</a:t>
            </a:r>
          </a:p>
        </p:txBody>
      </p:sp>
      <p:sp>
        <p:nvSpPr>
          <p:cNvPr id="338" name="TextBox 66"/>
          <p:cNvSpPr txBox="1"/>
          <p:nvPr/>
        </p:nvSpPr>
        <p:spPr>
          <a:xfrm>
            <a:off x="4971796" y="2598490"/>
            <a:ext cx="1466575" cy="32571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DE6106"/>
                </a:solidFill>
                <a:latin typeface="Codec Pro Bold"/>
                <a:ea typeface="Codec Pro Bold"/>
                <a:cs typeface="Codec Pro Bold"/>
                <a:sym typeface="Codec Pro Bold"/>
              </a:defRPr>
            </a:pPr>
            <a:r>
              <a:t>Potsdam | Berlin</a:t>
            </a:r>
          </a:p>
          <a:p>
            <a:pPr defTabSz="609600">
              <a:lnSpc>
                <a:spcPts val="800"/>
              </a:lnSpc>
              <a:defRPr sz="600">
                <a:solidFill>
                  <a:srgbClr val="17161C"/>
                </a:solidFill>
                <a:latin typeface="Codec Pro"/>
                <a:ea typeface="Codec Pro"/>
                <a:cs typeface="Codec Pro"/>
                <a:sym typeface="Codec Pro"/>
              </a:defRPr>
            </a:pPr>
            <a:r>
              <a:t>Bildungs- und Beratungsangebote,</a:t>
            </a:r>
          </a:p>
          <a:p>
            <a:pPr defTabSz="609600">
              <a:lnSpc>
                <a:spcPts val="800"/>
              </a:lnSpc>
              <a:defRPr sz="600">
                <a:solidFill>
                  <a:srgbClr val="17161C"/>
                </a:solidFill>
                <a:latin typeface="Codec Pro"/>
                <a:ea typeface="Codec Pro"/>
                <a:cs typeface="Codec Pro"/>
                <a:sym typeface="Codec Pro"/>
              </a:defRPr>
            </a:pPr>
            <a:r>
              <a:t>Einsatz von KI in Wirtschaft &amp; Gesellschaft</a:t>
            </a:r>
          </a:p>
        </p:txBody>
      </p:sp>
      <p:sp>
        <p:nvSpPr>
          <p:cNvPr id="339" name="TextBox 67"/>
          <p:cNvSpPr txBox="1"/>
          <p:nvPr/>
        </p:nvSpPr>
        <p:spPr>
          <a:xfrm>
            <a:off x="4971795" y="3242076"/>
            <a:ext cx="1455661" cy="6559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E9358D"/>
                </a:solidFill>
                <a:latin typeface="Codec Pro Bold"/>
                <a:ea typeface="Codec Pro Bold"/>
                <a:cs typeface="Codec Pro Bold"/>
                <a:sym typeface="Codec Pro Bold"/>
              </a:defRPr>
            </a:pPr>
            <a:r>
              <a:t>Bonn | St. Augustin | Aachen | Jülich | Dortmund | Paderborn </a:t>
            </a:r>
          </a:p>
          <a:p>
            <a:pPr defTabSz="609600">
              <a:lnSpc>
                <a:spcPts val="800"/>
              </a:lnSpc>
              <a:defRPr sz="600">
                <a:solidFill>
                  <a:srgbClr val="17161C"/>
                </a:solidFill>
                <a:latin typeface="Codec Pro"/>
                <a:ea typeface="Codec Pro"/>
                <a:cs typeface="Codec Pro"/>
                <a:sym typeface="Codec Pro"/>
              </a:defRPr>
            </a:pPr>
            <a:r>
              <a:t>KI-Hardware, KI-Beratung, KI-Schulungen sowie multimodale und transferierbare KI-Modelle</a:t>
            </a:r>
          </a:p>
        </p:txBody>
      </p:sp>
      <p:sp>
        <p:nvSpPr>
          <p:cNvPr id="340" name="TextBox 68"/>
          <p:cNvSpPr txBox="1"/>
          <p:nvPr/>
        </p:nvSpPr>
        <p:spPr>
          <a:xfrm>
            <a:off x="4971795" y="3848115"/>
            <a:ext cx="1334958"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8A6AF4"/>
                </a:solidFill>
                <a:latin typeface="Codec Pro Bold"/>
                <a:ea typeface="Codec Pro Bold"/>
                <a:cs typeface="Codec Pro Bold"/>
                <a:sym typeface="Codec Pro Bold"/>
              </a:defRPr>
            </a:pPr>
            <a:r>
              <a:t>Darmstadt</a:t>
            </a:r>
          </a:p>
          <a:p>
            <a:pPr defTabSz="609600">
              <a:lnSpc>
                <a:spcPts val="800"/>
              </a:lnSpc>
              <a:defRPr sz="600">
                <a:solidFill>
                  <a:srgbClr val="17161C"/>
                </a:solidFill>
                <a:latin typeface="Codec Pro"/>
                <a:ea typeface="Codec Pro"/>
                <a:cs typeface="Codec Pro"/>
                <a:sym typeface="Codec Pro"/>
              </a:defRPr>
            </a:pPr>
            <a:r>
              <a:t>Erklärbarkeit, Generalisierbarkeit</a:t>
            </a:r>
          </a:p>
          <a:p>
            <a:pPr defTabSz="609600">
              <a:lnSpc>
                <a:spcPts val="800"/>
              </a:lnSpc>
              <a:defRPr sz="600">
                <a:solidFill>
                  <a:srgbClr val="17161C"/>
                </a:solidFill>
                <a:latin typeface="Codec Pro"/>
                <a:ea typeface="Codec Pro"/>
                <a:cs typeface="Codec Pro"/>
                <a:sym typeface="Codec Pro"/>
              </a:defRPr>
            </a:pPr>
            <a:r>
              <a:t>und kontextuelle Anpassung</a:t>
            </a:r>
          </a:p>
        </p:txBody>
      </p:sp>
      <p:sp>
        <p:nvSpPr>
          <p:cNvPr id="341" name="Freeform 70"/>
          <p:cNvSpPr/>
          <p:nvPr/>
        </p:nvSpPr>
        <p:spPr>
          <a:xfrm>
            <a:off x="1603214" y="3627861"/>
            <a:ext cx="47817" cy="47817"/>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2" name="Freeform 73"/>
          <p:cNvSpPr/>
          <p:nvPr/>
        </p:nvSpPr>
        <p:spPr>
          <a:xfrm>
            <a:off x="1303606" y="2997969"/>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3" name="Freeform 76"/>
          <p:cNvSpPr/>
          <p:nvPr/>
        </p:nvSpPr>
        <p:spPr>
          <a:xfrm>
            <a:off x="2017091" y="2950153"/>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4" name="Freeform 79"/>
          <p:cNvSpPr/>
          <p:nvPr/>
        </p:nvSpPr>
        <p:spPr>
          <a:xfrm>
            <a:off x="2890819" y="2651742"/>
            <a:ext cx="47817" cy="47817"/>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5" name="Freeform 82"/>
          <p:cNvSpPr/>
          <p:nvPr/>
        </p:nvSpPr>
        <p:spPr>
          <a:xfrm>
            <a:off x="1279698" y="3170256"/>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6" name="Freeform 85"/>
          <p:cNvSpPr/>
          <p:nvPr/>
        </p:nvSpPr>
        <p:spPr>
          <a:xfrm>
            <a:off x="1327514" y="31348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47" name="Picture 90" descr="Picture 90"/>
          <p:cNvPicPr>
            <a:picLocks noChangeAspect="1"/>
          </p:cNvPicPr>
          <p:nvPr/>
        </p:nvPicPr>
        <p:blipFill>
          <a:blip r:embed="rId10">
            <a:extLst/>
          </a:blip>
          <a:stretch>
            <a:fillRect/>
          </a:stretch>
        </p:blipFill>
        <p:spPr>
          <a:xfrm>
            <a:off x="-112529" y="5522981"/>
            <a:ext cx="1943085" cy="1298439"/>
          </a:xfrm>
          <a:prstGeom prst="rect">
            <a:avLst/>
          </a:prstGeom>
          <a:ln w="12700">
            <a:miter lim="400000"/>
          </a:ln>
        </p:spPr>
      </p:pic>
      <p:grpSp>
        <p:nvGrpSpPr>
          <p:cNvPr id="350" name="Group"/>
          <p:cNvGrpSpPr/>
          <p:nvPr/>
        </p:nvGrpSpPr>
        <p:grpSpPr>
          <a:xfrm>
            <a:off x="7535333" y="1912261"/>
            <a:ext cx="1270001" cy="1269993"/>
            <a:chOff x="0" y="0"/>
            <a:chExt cx="1270000" cy="1269991"/>
          </a:xfrm>
        </p:grpSpPr>
        <p:sp>
          <p:nvSpPr>
            <p:cNvPr id="348" name="Freeform 11"/>
            <p:cNvSpPr/>
            <p:nvPr/>
          </p:nvSpPr>
          <p:spPr>
            <a:xfrm>
              <a:off x="0" y="0"/>
              <a:ext cx="1270001" cy="1269992"/>
            </a:xfrm>
            <a:prstGeom prst="rect">
              <a:avLst/>
            </a:prstGeom>
            <a:blipFill rotWithShape="1">
              <a:blip r:embed="rId11"/>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49" name="TextBox 12"/>
            <p:cNvSpPr txBox="1"/>
            <p:nvPr/>
          </p:nvSpPr>
          <p:spPr>
            <a:xfrm>
              <a:off x="45569" y="514994"/>
              <a:ext cx="1178861"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BILDUNG</a:t>
              </a:r>
            </a:p>
          </p:txBody>
        </p:sp>
      </p:grpSp>
      <p:grpSp>
        <p:nvGrpSpPr>
          <p:cNvPr id="353" name="Group"/>
          <p:cNvGrpSpPr/>
          <p:nvPr/>
        </p:nvGrpSpPr>
        <p:grpSpPr>
          <a:xfrm>
            <a:off x="8661940" y="846666"/>
            <a:ext cx="1270001" cy="1269992"/>
            <a:chOff x="0" y="0"/>
            <a:chExt cx="1270000" cy="1269991"/>
          </a:xfrm>
        </p:grpSpPr>
        <p:sp>
          <p:nvSpPr>
            <p:cNvPr id="351" name="Freeform 17"/>
            <p:cNvSpPr/>
            <p:nvPr/>
          </p:nvSpPr>
          <p:spPr>
            <a:xfrm>
              <a:off x="0" y="0"/>
              <a:ext cx="1270001" cy="1269992"/>
            </a:xfrm>
            <a:prstGeom prst="rect">
              <a:avLst/>
            </a:prstGeom>
            <a:blipFill rotWithShape="1">
              <a:blip r:embed="rId1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2"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BERATUNG</a:t>
              </a:r>
            </a:p>
          </p:txBody>
        </p:sp>
      </p:grpSp>
      <p:grpSp>
        <p:nvGrpSpPr>
          <p:cNvPr id="356" name="Group"/>
          <p:cNvGrpSpPr/>
          <p:nvPr/>
        </p:nvGrpSpPr>
        <p:grpSpPr>
          <a:xfrm>
            <a:off x="9779000" y="1921933"/>
            <a:ext cx="1270000" cy="1270001"/>
            <a:chOff x="0" y="0"/>
            <a:chExt cx="1270000" cy="1270000"/>
          </a:xfrm>
        </p:grpSpPr>
        <p:sp>
          <p:nvSpPr>
            <p:cNvPr id="354" name="Freeform 14"/>
            <p:cNvSpPr/>
            <p:nvPr/>
          </p:nvSpPr>
          <p:spPr>
            <a:xfrm>
              <a:off x="0" y="0"/>
              <a:ext cx="1270000" cy="1270000"/>
            </a:xfrm>
            <a:prstGeom prst="rect">
              <a:avLst/>
            </a:prstGeom>
            <a:blipFill rotWithShape="1">
              <a:blip r:embed="rId1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5" name="TextBox 12"/>
            <p:cNvSpPr txBox="1"/>
            <p:nvPr/>
          </p:nvSpPr>
          <p:spPr>
            <a:xfrm>
              <a:off x="36266" y="416021"/>
              <a:ext cx="1197467" cy="43795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1700"/>
                </a:lnSpc>
                <a:defRPr spc="49" sz="1200">
                  <a:solidFill>
                    <a:srgbClr val="FFFFFF"/>
                  </a:solidFill>
                  <a:latin typeface="Futura Bold"/>
                  <a:ea typeface="Futura Bold"/>
                  <a:cs typeface="Futura Bold"/>
                  <a:sym typeface="Futura Bold"/>
                </a:defRPr>
              </a:pPr>
              <a:r>
                <a:t>INFRA-</a:t>
              </a:r>
              <a:br/>
              <a:r>
                <a:t>STRUKTUR</a:t>
              </a:r>
            </a:p>
          </p:txBody>
        </p:sp>
      </p:grpSp>
      <p:grpSp>
        <p:nvGrpSpPr>
          <p:cNvPr id="359" name="Group"/>
          <p:cNvGrpSpPr/>
          <p:nvPr/>
        </p:nvGrpSpPr>
        <p:grpSpPr>
          <a:xfrm>
            <a:off x="8645006" y="2963333"/>
            <a:ext cx="1270001" cy="1269992"/>
            <a:chOff x="0" y="0"/>
            <a:chExt cx="1270000" cy="1269991"/>
          </a:xfrm>
        </p:grpSpPr>
        <p:sp>
          <p:nvSpPr>
            <p:cNvPr id="357" name="Freeform 8"/>
            <p:cNvSpPr/>
            <p:nvPr/>
          </p:nvSpPr>
          <p:spPr>
            <a:xfrm>
              <a:off x="0" y="0"/>
              <a:ext cx="1270001" cy="1269992"/>
            </a:xfrm>
            <a:prstGeom prst="rect">
              <a:avLst/>
            </a:prstGeom>
            <a:blipFill rotWithShape="1">
              <a:blip r:embed="rId1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8"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lvl1pPr algn="ctr" defTabSz="609600">
                <a:lnSpc>
                  <a:spcPts val="1700"/>
                </a:lnSpc>
                <a:defRPr spc="49" sz="1200">
                  <a:solidFill>
                    <a:srgbClr val="FFFFFF"/>
                  </a:solidFill>
                  <a:latin typeface="Futura Bold"/>
                  <a:ea typeface="Futura Bold"/>
                  <a:cs typeface="Futura Bold"/>
                  <a:sym typeface="Futura Bold"/>
                </a:defRPr>
              </a:lvl1pPr>
            </a:lstStyle>
            <a:p>
              <a:pPr/>
              <a:r>
                <a:t>FORSCHUNG</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grpSp>
        <p:nvGrpSpPr>
          <p:cNvPr id="366" name="Group 2"/>
          <p:cNvGrpSpPr/>
          <p:nvPr/>
        </p:nvGrpSpPr>
        <p:grpSpPr>
          <a:xfrm>
            <a:off x="2682703" y="328107"/>
            <a:ext cx="3765353" cy="1314022"/>
            <a:chOff x="0" y="0"/>
            <a:chExt cx="3765352" cy="1314021"/>
          </a:xfrm>
        </p:grpSpPr>
        <p:sp>
          <p:nvSpPr>
            <p:cNvPr id="361" name="Freeform 4"/>
            <p:cNvSpPr/>
            <p:nvPr/>
          </p:nvSpPr>
          <p:spPr>
            <a:xfrm>
              <a:off x="1789" y="6649"/>
              <a:ext cx="1068093" cy="1037559"/>
            </a:xfrm>
            <a:prstGeom prst="rect">
              <a:avLst/>
            </a:prstGeom>
            <a:solidFill>
              <a:schemeClr val="accent3"/>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2" name="TextBox 6"/>
            <p:cNvSpPr txBox="1"/>
            <p:nvPr/>
          </p:nvSpPr>
          <p:spPr>
            <a:xfrm>
              <a:off x="1789" y="292065"/>
              <a:ext cx="1068092" cy="4369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1200"/>
                </a:lnSpc>
                <a:defRPr sz="1000">
                  <a:solidFill>
                    <a:srgbClr val="17161C"/>
                  </a:solidFill>
                  <a:latin typeface="Codec Pro"/>
                  <a:ea typeface="Codec Pro"/>
                  <a:cs typeface="Codec Pro"/>
                  <a:sym typeface="Codec Pro"/>
                </a:defRPr>
              </a:pPr>
              <a:r>
                <a:t> </a:t>
              </a:r>
            </a:p>
            <a:p>
              <a:pPr algn="ctr" defTabSz="609600">
                <a:lnSpc>
                  <a:spcPts val="2200"/>
                </a:lnSpc>
                <a:defRPr b="1">
                  <a:solidFill>
                    <a:srgbClr val="FFFFFF"/>
                  </a:solidFill>
                  <a:latin typeface="Codec Pro Bold"/>
                  <a:ea typeface="Codec Pro Bold"/>
                  <a:cs typeface="Codec Pro Bold"/>
                  <a:sym typeface="Codec Pro Bold"/>
                </a:defRPr>
              </a:pPr>
              <a:r>
                <a:t>Talks</a:t>
              </a:r>
            </a:p>
          </p:txBody>
        </p:sp>
        <p:sp>
          <p:nvSpPr>
            <p:cNvPr id="363" name="Freeform 7"/>
            <p:cNvSpPr/>
            <p:nvPr/>
          </p:nvSpPr>
          <p:spPr>
            <a:xfrm rot="21576000">
              <a:off x="2802987" y="3336"/>
              <a:ext cx="959072" cy="94678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8" y="0"/>
                  </a:moveTo>
                  <a:lnTo>
                    <a:pt x="21600" y="152"/>
                  </a:lnTo>
                  <a:lnTo>
                    <a:pt x="21452" y="21600"/>
                  </a:lnTo>
                  <a:lnTo>
                    <a:pt x="0" y="21448"/>
                  </a:lnTo>
                  <a:lnTo>
                    <a:pt x="148" y="0"/>
                  </a:lnTo>
                  <a:close/>
                </a:path>
              </a:pathLst>
            </a:custGeom>
            <a:blipFill rotWithShape="1">
              <a:blip r:embed="rId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4" name="TextBox 8"/>
            <p:cNvSpPr txBox="1"/>
            <p:nvPr/>
          </p:nvSpPr>
          <p:spPr>
            <a:xfrm>
              <a:off x="0" y="1109638"/>
              <a:ext cx="3758789" cy="204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Gastvorträge zu Forschung und Innovation</a:t>
              </a:r>
            </a:p>
          </p:txBody>
        </p:sp>
        <p:sp>
          <p:nvSpPr>
            <p:cNvPr id="365" name="TextBox 9"/>
            <p:cNvSpPr txBox="1"/>
            <p:nvPr/>
          </p:nvSpPr>
          <p:spPr>
            <a:xfrm>
              <a:off x="2144407" y="947819"/>
              <a:ext cx="1614382" cy="1714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tele-task.de/series/1463</a:t>
              </a:r>
            </a:p>
          </p:txBody>
        </p:sp>
      </p:grpSp>
      <p:sp>
        <p:nvSpPr>
          <p:cNvPr id="367" name="AutoShape 10"/>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pSp>
        <p:nvGrpSpPr>
          <p:cNvPr id="373" name="Group 11"/>
          <p:cNvGrpSpPr/>
          <p:nvPr/>
        </p:nvGrpSpPr>
        <p:grpSpPr>
          <a:xfrm>
            <a:off x="2702389" y="2508130"/>
            <a:ext cx="3758790" cy="1942372"/>
            <a:chOff x="0" y="0"/>
            <a:chExt cx="3758788" cy="1942370"/>
          </a:xfrm>
        </p:grpSpPr>
        <p:sp>
          <p:nvSpPr>
            <p:cNvPr id="368" name="Freeform 13"/>
            <p:cNvSpPr/>
            <p:nvPr/>
          </p:nvSpPr>
          <p:spPr>
            <a:xfrm>
              <a:off x="0" y="0"/>
              <a:ext cx="1068092" cy="1037558"/>
            </a:xfrm>
            <a:prstGeom prst="rect">
              <a:avLst/>
            </a:prstGeom>
            <a:solidFill>
              <a:srgbClr val="DC640D"/>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9" name="TextBox 15"/>
            <p:cNvSpPr txBox="1"/>
            <p:nvPr/>
          </p:nvSpPr>
          <p:spPr>
            <a:xfrm>
              <a:off x="0" y="202072"/>
              <a:ext cx="1062727" cy="5893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2400"/>
                </a:lnSpc>
                <a:defRPr b="1" sz="2000">
                  <a:solidFill>
                    <a:srgbClr val="FFFFFF"/>
                  </a:solidFill>
                  <a:latin typeface="Codec Pro Bold"/>
                  <a:ea typeface="Codec Pro Bold"/>
                  <a:cs typeface="Codec Pro Bold"/>
                  <a:sym typeface="Codec Pro Bold"/>
                </a:defRPr>
              </a:pPr>
              <a:r>
                <a:t>Work</a:t>
              </a:r>
            </a:p>
            <a:p>
              <a:pPr algn="ctr" defTabSz="609600">
                <a:lnSpc>
                  <a:spcPts val="2200"/>
                </a:lnSpc>
                <a:defRPr b="1">
                  <a:solidFill>
                    <a:srgbClr val="FFFFFF"/>
                  </a:solidFill>
                  <a:latin typeface="Codec Pro Bold"/>
                  <a:ea typeface="Codec Pro Bold"/>
                  <a:cs typeface="Codec Pro Bold"/>
                  <a:sym typeface="Codec Pro Bold"/>
                </a:defRPr>
              </a:pPr>
              <a:r>
                <a:t>shops</a:t>
              </a:r>
            </a:p>
          </p:txBody>
        </p:sp>
        <p:sp>
          <p:nvSpPr>
            <p:cNvPr id="370" name="TextBox 16"/>
            <p:cNvSpPr txBox="1"/>
            <p:nvPr/>
          </p:nvSpPr>
          <p:spPr>
            <a:xfrm>
              <a:off x="1789" y="1102988"/>
              <a:ext cx="3757000" cy="839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Praxisnahe Themen</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Beispielthemen: Speech2summary, Docker für ML, semantische Suche​</a:t>
              </a:r>
            </a:p>
          </p:txBody>
        </p:sp>
        <p:sp>
          <p:nvSpPr>
            <p:cNvPr id="371" name="Freeform 17"/>
            <p:cNvSpPr/>
            <p:nvPr/>
          </p:nvSpPr>
          <p:spPr>
            <a:xfrm>
              <a:off x="2802000" y="0"/>
              <a:ext cx="955000" cy="954999"/>
            </a:xfrm>
            <a:prstGeom prst="rect">
              <a:avLst/>
            </a:prstGeom>
            <a:blipFill rotWithShape="1">
              <a:blip r:embed="rId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2" name="TextBox 18"/>
            <p:cNvSpPr txBox="1"/>
            <p:nvPr/>
          </p:nvSpPr>
          <p:spPr>
            <a:xfrm>
              <a:off x="2433871" y="937139"/>
              <a:ext cx="1323130"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r" defTabSz="609600">
                <a:lnSpc>
                  <a:spcPts val="1400"/>
                </a:lnSpc>
                <a:defRPr b="1" sz="1000" u="sng">
                  <a:solidFill>
                    <a:srgbClr val="DC640D"/>
                  </a:solidFill>
                  <a:latin typeface="Canva Sans Bold"/>
                  <a:ea typeface="Canva Sans Bold"/>
                  <a:cs typeface="Canva Sans Bold"/>
                  <a:sym typeface="Canva Sans Bold"/>
                </a:defRPr>
              </a:lvl1pPr>
            </a:lstStyle>
            <a:p>
              <a:pPr/>
              <a:r>
                <a:t>aimaker.community</a:t>
              </a:r>
            </a:p>
          </p:txBody>
        </p:sp>
      </p:grpSp>
      <p:grpSp>
        <p:nvGrpSpPr>
          <p:cNvPr id="379" name="Group 19"/>
          <p:cNvGrpSpPr/>
          <p:nvPr/>
        </p:nvGrpSpPr>
        <p:grpSpPr>
          <a:xfrm>
            <a:off x="2704178" y="4704075"/>
            <a:ext cx="3757001" cy="2176838"/>
            <a:chOff x="0" y="0"/>
            <a:chExt cx="3757000" cy="2176837"/>
          </a:xfrm>
        </p:grpSpPr>
        <p:sp>
          <p:nvSpPr>
            <p:cNvPr id="374" name="Freeform 21"/>
            <p:cNvSpPr/>
            <p:nvPr/>
          </p:nvSpPr>
          <p:spPr>
            <a:xfrm>
              <a:off x="0" y="22799"/>
              <a:ext cx="1068093" cy="1037559"/>
            </a:xfrm>
            <a:prstGeom prst="rect">
              <a:avLst/>
            </a:prstGeom>
            <a:solidFill>
              <a:srgbClr val="B0073A"/>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5" name="TextBox 23"/>
            <p:cNvSpPr txBox="1"/>
            <p:nvPr/>
          </p:nvSpPr>
          <p:spPr>
            <a:xfrm>
              <a:off x="5367" y="380448"/>
              <a:ext cx="1064515" cy="27609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2200"/>
                </a:lnSpc>
                <a:defRPr b="1">
                  <a:solidFill>
                    <a:srgbClr val="FFFFFF"/>
                  </a:solidFill>
                  <a:latin typeface="Codec Pro Bold"/>
                  <a:ea typeface="Codec Pro Bold"/>
                  <a:cs typeface="Codec Pro Bold"/>
                  <a:sym typeface="Codec Pro Bold"/>
                </a:defRPr>
              </a:lvl1pPr>
            </a:lstStyle>
            <a:p>
              <a:pPr/>
              <a:r>
                <a:t>MOOCs</a:t>
              </a:r>
            </a:p>
          </p:txBody>
        </p:sp>
        <p:sp>
          <p:nvSpPr>
            <p:cNvPr id="376" name="Freeform 24"/>
            <p:cNvSpPr/>
            <p:nvPr/>
          </p:nvSpPr>
          <p:spPr>
            <a:xfrm>
              <a:off x="2807265" y="0"/>
              <a:ext cx="949735" cy="937520"/>
            </a:xfrm>
            <a:prstGeom prst="rect">
              <a:avLst/>
            </a:prstGeom>
            <a:blipFill rotWithShape="1">
              <a:blip r:embed="rId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7" name="TextBox 25"/>
            <p:cNvSpPr txBox="1"/>
            <p:nvPr/>
          </p:nvSpPr>
          <p:spPr>
            <a:xfrm>
              <a:off x="0" y="1125788"/>
              <a:ext cx="3756999" cy="105105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ChatGPT: Was bedeutet generative KI für unsere Gesellschaft?</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Profitable KI</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KI Biases verstehen und vermeiden</a:t>
              </a:r>
            </a:p>
          </p:txBody>
        </p:sp>
        <p:sp>
          <p:nvSpPr>
            <p:cNvPr id="378" name="TextBox 26"/>
            <p:cNvSpPr txBox="1"/>
            <p:nvPr/>
          </p:nvSpPr>
          <p:spPr>
            <a:xfrm>
              <a:off x="1290342" y="912897"/>
              <a:ext cx="2466659"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open.hpi.de/channels/ai-service-center</a:t>
              </a:r>
            </a:p>
          </p:txBody>
        </p:sp>
      </p:grpSp>
      <p:sp>
        <p:nvSpPr>
          <p:cNvPr id="380" name="Freeform 27"/>
          <p:cNvSpPr/>
          <p:nvPr/>
        </p:nvSpPr>
        <p:spPr>
          <a:xfrm>
            <a:off x="-69851" y="4416210"/>
            <a:ext cx="2528985" cy="2528985"/>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1" name="Freeform 41"/>
          <p:cNvSpPr/>
          <p:nvPr/>
        </p:nvSpPr>
        <p:spPr>
          <a:xfrm>
            <a:off x="256526" y="334757"/>
            <a:ext cx="1946081" cy="1946082"/>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2" name="TextBox 42"/>
          <p:cNvSpPr txBox="1"/>
          <p:nvPr/>
        </p:nvSpPr>
        <p:spPr>
          <a:xfrm>
            <a:off x="414825" y="3190875"/>
            <a:ext cx="1559632" cy="3942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b="1" sz="2600">
                <a:solidFill>
                  <a:srgbClr val="FFFFFF"/>
                </a:solidFill>
                <a:latin typeface="Codec Pro Bold"/>
                <a:ea typeface="Codec Pro Bold"/>
                <a:cs typeface="Codec Pro Bold"/>
                <a:sym typeface="Codec Pro Bold"/>
              </a:defRPr>
            </a:lvl1pPr>
          </a:lstStyle>
          <a:p>
            <a:pPr/>
            <a:r>
              <a:t>BILDUNG</a:t>
            </a:r>
          </a:p>
        </p:txBody>
      </p:sp>
      <p:sp>
        <p:nvSpPr>
          <p:cNvPr id="383" name="TextBox 43"/>
          <p:cNvSpPr txBox="1"/>
          <p:nvPr/>
        </p:nvSpPr>
        <p:spPr>
          <a:xfrm>
            <a:off x="-150395" y="2273709"/>
            <a:ext cx="2353003" cy="1714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b="1" sz="1000">
                <a:solidFill>
                  <a:srgbClr val="FFFFFF"/>
                </a:solidFill>
                <a:latin typeface="Codec Pro Bold"/>
                <a:ea typeface="Codec Pro Bold"/>
                <a:cs typeface="Codec Pro Bold"/>
                <a:sym typeface="Codec Pro Bold"/>
              </a:defRPr>
            </a:lvl1pPr>
          </a:lstStyle>
          <a:p>
            <a:pPr/>
            <a:r>
              <a:t>Newsletter</a:t>
            </a:r>
          </a:p>
        </p:txBody>
      </p:sp>
      <p:pic>
        <p:nvPicPr>
          <p:cNvPr id="384" name="Picture 46" descr="Picture 46"/>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pic>
        <p:nvPicPr>
          <p:cNvPr id="385" name="pasted-movie.png" descr="pasted-movie.png"/>
          <p:cNvPicPr>
            <a:picLocks noChangeAspect="1"/>
          </p:cNvPicPr>
          <p:nvPr/>
        </p:nvPicPr>
        <p:blipFill>
          <a:blip r:embed="rId8">
            <a:extLst/>
          </a:blip>
          <a:stretch>
            <a:fillRect/>
          </a:stretch>
        </p:blipFill>
        <p:spPr>
          <a:xfrm>
            <a:off x="6671625" y="252751"/>
            <a:ext cx="5393268" cy="1464734"/>
          </a:xfrm>
          <a:prstGeom prst="rect">
            <a:avLst/>
          </a:prstGeom>
          <a:ln w="12700">
            <a:miter lim="400000"/>
          </a:ln>
        </p:spPr>
      </p:pic>
      <p:pic>
        <p:nvPicPr>
          <p:cNvPr id="386" name="pasted-movie.png" descr="pasted-movie.png"/>
          <p:cNvPicPr>
            <a:picLocks noChangeAspect="1"/>
          </p:cNvPicPr>
          <p:nvPr/>
        </p:nvPicPr>
        <p:blipFill>
          <a:blip r:embed="rId9">
            <a:extLst/>
          </a:blip>
          <a:stretch>
            <a:fillRect/>
          </a:stretch>
        </p:blipFill>
        <p:spPr>
          <a:xfrm>
            <a:off x="6671625" y="2530483"/>
            <a:ext cx="5393268" cy="1481668"/>
          </a:xfrm>
          <a:prstGeom prst="rect">
            <a:avLst/>
          </a:prstGeom>
          <a:ln w="12700">
            <a:miter lim="400000"/>
          </a:ln>
        </p:spPr>
      </p:pic>
      <p:pic>
        <p:nvPicPr>
          <p:cNvPr id="387" name="pasted-movie.png" descr="pasted-movie.png"/>
          <p:cNvPicPr>
            <a:picLocks noChangeAspect="1"/>
          </p:cNvPicPr>
          <p:nvPr/>
        </p:nvPicPr>
        <p:blipFill>
          <a:blip r:embed="rId10">
            <a:extLst/>
          </a:blip>
          <a:stretch>
            <a:fillRect/>
          </a:stretch>
        </p:blipFill>
        <p:spPr>
          <a:xfrm>
            <a:off x="6671625" y="4820915"/>
            <a:ext cx="5393268" cy="14732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9" name="AutoShape 2"/>
          <p:cNvSpPr/>
          <p:nvPr/>
        </p:nvSpPr>
        <p:spPr>
          <a:xfrm rot="10800000">
            <a:off x="-1" y="-1"/>
            <a:ext cx="2459135" cy="6858001"/>
          </a:xfrm>
          <a:prstGeom prst="rect">
            <a:avLst/>
          </a:prstGeom>
          <a:solidFill>
            <a:srgbClr val="DC640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1" name="Freeform 5"/>
          <p:cNvSpPr/>
          <p:nvPr/>
        </p:nvSpPr>
        <p:spPr>
          <a:xfrm>
            <a:off x="9747190" y="4649085"/>
            <a:ext cx="1978486" cy="197848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2" name="Freeform 6"/>
          <p:cNvSpPr/>
          <p:nvPr/>
        </p:nvSpPr>
        <p:spPr>
          <a:xfrm>
            <a:off x="256526" y="334756"/>
            <a:ext cx="1978486" cy="1978487"/>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3" name="Freeform 7"/>
          <p:cNvSpPr/>
          <p:nvPr/>
        </p:nvSpPr>
        <p:spPr>
          <a:xfrm>
            <a:off x="7762550" y="334757"/>
            <a:ext cx="3858958" cy="2894219"/>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4" name="Freeform 8"/>
          <p:cNvSpPr/>
          <p:nvPr/>
        </p:nvSpPr>
        <p:spPr>
          <a:xfrm>
            <a:off x="2611721" y="3247440"/>
            <a:ext cx="5150830" cy="3226258"/>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5" name="TextBox 9"/>
          <p:cNvSpPr txBox="1"/>
          <p:nvPr/>
        </p:nvSpPr>
        <p:spPr>
          <a:xfrm>
            <a:off x="223099" y="3225800"/>
            <a:ext cx="2045340" cy="4041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sz="2600">
                <a:solidFill>
                  <a:srgbClr val="FFFFFF"/>
                </a:solidFill>
                <a:latin typeface="Futura Bold"/>
                <a:ea typeface="Futura Bold"/>
                <a:cs typeface="Futura Bold"/>
                <a:sym typeface="Futura Bold"/>
              </a:defRPr>
            </a:lvl1pPr>
          </a:lstStyle>
          <a:p>
            <a:pPr/>
            <a:r>
              <a:t>BERATUNG</a:t>
            </a:r>
          </a:p>
        </p:txBody>
      </p:sp>
      <p:sp>
        <p:nvSpPr>
          <p:cNvPr id="396" name="TextBox 10"/>
          <p:cNvSpPr txBox="1"/>
          <p:nvPr/>
        </p:nvSpPr>
        <p:spPr>
          <a:xfrm>
            <a:off x="2612745" y="291894"/>
            <a:ext cx="4684975" cy="274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u="sng">
                <a:solidFill>
                  <a:srgbClr val="B0073A"/>
                </a:solidFill>
                <a:latin typeface="Futura Bold"/>
                <a:ea typeface="Futura Bold"/>
                <a:cs typeface="Futura Bold"/>
                <a:sym typeface="Futura Bold"/>
              </a:defRPr>
            </a:pPr>
            <a:r>
              <a:t>KI-Sprechstunde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Beantwortung von Fragen:</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KI-Infrastruktur</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KI-Modellen &amp; Frameworks</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rgbClr val="DC640D"/>
                </a:solidFill>
                <a:latin typeface="Futura Bold"/>
                <a:ea typeface="Futura Bold"/>
                <a:cs typeface="Futura Bold"/>
                <a:sym typeface="Futura Bold"/>
              </a:defRPr>
            </a:pPr>
            <a:r>
              <a:t>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Co-Entwicklung eines Prototyps</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Bewerbung alle drei Monate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Auswahlkriterien z.B. KI-Reife, Gemeinwohl</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Veröffentlichung der Ergebnisse</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chemeClr val="accent3"/>
                </a:solidFill>
                <a:latin typeface="Futura Bold"/>
                <a:ea typeface="Futura Bold"/>
                <a:cs typeface="Futura Bold"/>
                <a:sym typeface="Futura Bold"/>
              </a:defRPr>
            </a:pPr>
            <a:r>
              <a:t>Kooperationen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Gemeinsam organisierte Netzwerktreffen </a:t>
            </a:r>
          </a:p>
        </p:txBody>
      </p:sp>
      <p:sp>
        <p:nvSpPr>
          <p:cNvPr id="397" name="TextBox 11"/>
          <p:cNvSpPr txBox="1"/>
          <p:nvPr/>
        </p:nvSpPr>
        <p:spPr>
          <a:xfrm>
            <a:off x="10445987" y="6545808"/>
            <a:ext cx="1142030" cy="1651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1300"/>
              </a:lnSpc>
              <a:defRPr sz="900" u="sng">
                <a:solidFill>
                  <a:srgbClr val="DC640D"/>
                </a:solidFill>
                <a:latin typeface="Futura Bold"/>
                <a:ea typeface="Futura Bold"/>
                <a:cs typeface="Futura Bold"/>
                <a:sym typeface="Futura Bold"/>
              </a:defRPr>
            </a:lvl1pPr>
          </a:lstStyle>
          <a:p>
            <a:pPr/>
            <a:r>
              <a:t>Jetzt bewerben!</a:t>
            </a:r>
          </a:p>
        </p:txBody>
      </p:sp>
      <p:sp>
        <p:nvSpPr>
          <p:cNvPr id="398" name="TextBox 12"/>
          <p:cNvSpPr txBox="1"/>
          <p:nvPr/>
        </p:nvSpPr>
        <p:spPr>
          <a:xfrm>
            <a:off x="5295892" y="6468935"/>
            <a:ext cx="2466659"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DC640D"/>
                </a:solidFill>
                <a:latin typeface="Futura Bold"/>
                <a:ea typeface="Futura Bold"/>
                <a:cs typeface="Futura Bold"/>
                <a:sym typeface="Futura Bold"/>
              </a:defRPr>
            </a:lvl1pPr>
          </a:lstStyle>
          <a:p>
            <a:pPr/>
            <a:r>
              <a:t>github.com/aihpi/leichte-sprache</a:t>
            </a:r>
          </a:p>
        </p:txBody>
      </p:sp>
      <p:sp>
        <p:nvSpPr>
          <p:cNvPr id="399" name="TextBox 13"/>
          <p:cNvSpPr txBox="1"/>
          <p:nvPr/>
        </p:nvSpPr>
        <p:spPr>
          <a:xfrm>
            <a:off x="8031962" y="3386137"/>
            <a:ext cx="3589547" cy="147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a:solidFill>
                  <a:srgbClr val="000000"/>
                </a:solidFill>
                <a:latin typeface="Futura Bold"/>
                <a:ea typeface="Futura Bold"/>
                <a:cs typeface="Futura Bold"/>
                <a:sym typeface="Futura Bold"/>
              </a:defRPr>
            </a:pPr>
            <a:r>
              <a:t>Bisherige 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Mathematik-Problemen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Leichte Sprache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von Upcycling Vorschlägen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Reduzierung von Food Waste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Datierung mittels Handschrift</a:t>
            </a:r>
          </a:p>
        </p:txBody>
      </p:sp>
      <p:sp>
        <p:nvSpPr>
          <p:cNvPr id="400" name="TextBox 14"/>
          <p:cNvSpPr txBox="1"/>
          <p:nvPr/>
        </p:nvSpPr>
        <p:spPr>
          <a:xfrm>
            <a:off x="-117990" y="2317024"/>
            <a:ext cx="2353002"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Sprechstunde buchen</a:t>
            </a:r>
          </a:p>
        </p:txBody>
      </p:sp>
      <p:pic>
        <p:nvPicPr>
          <p:cNvPr id="401" name="Picture 15" descr="Picture 15"/>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AutoShape 2"/>
          <p:cNvSpPr/>
          <p:nvPr/>
        </p:nvSpPr>
        <p:spPr>
          <a:xfrm rot="10800000">
            <a:off x="-1" y="-1"/>
            <a:ext cx="2459135" cy="6858001"/>
          </a:xfrm>
          <a:prstGeom prst="rect">
            <a:avLst/>
          </a:prstGeom>
          <a:solidFill>
            <a:srgbClr val="000000"/>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5" name="Freeform 5"/>
          <p:cNvSpPr/>
          <p:nvPr/>
        </p:nvSpPr>
        <p:spPr>
          <a:xfrm>
            <a:off x="2678535" y="133789"/>
            <a:ext cx="4901926" cy="269691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6" name="TextBox 6"/>
          <p:cNvSpPr txBox="1"/>
          <p:nvPr/>
        </p:nvSpPr>
        <p:spPr>
          <a:xfrm>
            <a:off x="-53648" y="3260431"/>
            <a:ext cx="2528984" cy="3369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defTabSz="609600">
              <a:lnSpc>
                <a:spcPts val="2600"/>
              </a:lnSpc>
              <a:defRPr b="1" sz="2000">
                <a:solidFill>
                  <a:srgbClr val="FFFFFF"/>
                </a:solidFill>
                <a:latin typeface="Codec Pro Bold"/>
                <a:ea typeface="Codec Pro Bold"/>
                <a:cs typeface="Codec Pro Bold"/>
                <a:sym typeface="Codec Pro Bold"/>
              </a:defRPr>
            </a:pPr>
            <a:r>
              <a:rPr b="0">
                <a:latin typeface="Futura Bold"/>
                <a:ea typeface="Futura Bold"/>
                <a:cs typeface="Futura Bold"/>
                <a:sym typeface="Futura Bold"/>
              </a:rPr>
              <a:t>INFRASTRUKTUR</a:t>
            </a:r>
            <a:r>
              <a:t> </a:t>
            </a:r>
          </a:p>
        </p:txBody>
      </p:sp>
      <p:sp>
        <p:nvSpPr>
          <p:cNvPr id="407" name="Freeform 7"/>
          <p:cNvSpPr/>
          <p:nvPr/>
        </p:nvSpPr>
        <p:spPr>
          <a:xfrm>
            <a:off x="2678535" y="2981277"/>
            <a:ext cx="4901926" cy="3719181"/>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8" name="TextBox 8"/>
          <p:cNvSpPr txBox="1"/>
          <p:nvPr/>
        </p:nvSpPr>
        <p:spPr>
          <a:xfrm>
            <a:off x="7783659" y="2835201"/>
            <a:ext cx="1680056" cy="401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Training</a:t>
            </a:r>
          </a:p>
          <a:p>
            <a:pPr lvl="1" marL="323850" indent="-129539" defTabSz="609600">
              <a:lnSpc>
                <a:spcPts val="1600"/>
              </a:lnSpc>
              <a:buSzPct val="100000"/>
              <a:buFont typeface="Arial"/>
              <a:buChar char="•"/>
              <a:defRPr sz="1200">
                <a:solidFill>
                  <a:srgbClr val="000000"/>
                </a:solidFill>
              </a:defRPr>
            </a:pPr>
            <a:r>
              <a:t>64 NVIDIA H100 GPU</a:t>
            </a:r>
          </a:p>
          <a:p>
            <a:pPr defTabSz="609600">
              <a:lnSpc>
                <a:spcPts val="1600"/>
              </a:lnSpc>
              <a:defRPr sz="1200">
                <a:solidFill>
                  <a:srgbClr val="000000"/>
                </a:solidFill>
              </a:defRPr>
            </a:pPr>
          </a:p>
          <a:p>
            <a:pPr defTabSz="609600">
              <a:lnSpc>
                <a:spcPts val="1600"/>
              </a:lnSpc>
              <a:defRPr b="1" sz="1200">
                <a:solidFill>
                  <a:srgbClr val="DC640D"/>
                </a:solidFill>
              </a:defRPr>
            </a:pPr>
            <a:r>
              <a:t>Inferenz</a:t>
            </a:r>
          </a:p>
          <a:p>
            <a:pPr lvl="1" marL="323850" indent="-129539" defTabSz="609600">
              <a:lnSpc>
                <a:spcPts val="1600"/>
              </a:lnSpc>
              <a:buSzPct val="100000"/>
              <a:buFont typeface="Arial"/>
              <a:buChar char="•"/>
              <a:defRPr sz="1200">
                <a:solidFill>
                  <a:srgbClr val="000000"/>
                </a:solidFill>
              </a:defRPr>
            </a:pPr>
            <a:r>
              <a:t>40 NVIDIA A30 GPU</a:t>
            </a:r>
          </a:p>
          <a:p>
            <a:pPr defTabSz="609600">
              <a:lnSpc>
                <a:spcPts val="1600"/>
              </a:lnSpc>
              <a:defRPr sz="1200">
                <a:solidFill>
                  <a:srgbClr val="000000"/>
                </a:solidFill>
              </a:defRPr>
            </a:pPr>
          </a:p>
          <a:p>
            <a:pPr defTabSz="609600">
              <a:lnSpc>
                <a:spcPts val="1600"/>
              </a:lnSpc>
              <a:defRPr b="1" sz="1200">
                <a:solidFill>
                  <a:srgbClr val="DC640D"/>
                </a:solidFill>
              </a:defRPr>
            </a:pPr>
            <a:r>
              <a:t>ARM Server</a:t>
            </a:r>
          </a:p>
          <a:p>
            <a:pPr lvl="1" marL="323850" indent="-129539" defTabSz="609600">
              <a:lnSpc>
                <a:spcPts val="1600"/>
              </a:lnSpc>
              <a:buSzPct val="100000"/>
              <a:buFont typeface="Arial"/>
              <a:buChar char="•"/>
              <a:defRPr sz="1200">
                <a:solidFill>
                  <a:srgbClr val="000000"/>
                </a:solidFill>
              </a:defRPr>
            </a:pPr>
            <a:r>
              <a:t>Ampere Altra Max M128-30 CPU</a:t>
            </a:r>
          </a:p>
          <a:p>
            <a:pPr lvl="1" marL="323850" indent="-129539" defTabSz="609600">
              <a:lnSpc>
                <a:spcPts val="1600"/>
              </a:lnSpc>
              <a:buSzPct val="100000"/>
              <a:buFont typeface="Arial"/>
              <a:buChar char="•"/>
              <a:defRPr sz="1200">
                <a:solidFill>
                  <a:srgbClr val="000000"/>
                </a:solidFill>
              </a:defRPr>
            </a:pPr>
            <a:r>
              <a:t>2 x NVIDIA L40 GPUs</a:t>
            </a:r>
          </a:p>
          <a:p>
            <a:pPr defTabSz="609600">
              <a:lnSpc>
                <a:spcPts val="1600"/>
              </a:lnSpc>
              <a:defRPr sz="1200">
                <a:solidFill>
                  <a:srgbClr val="000000"/>
                </a:solidFill>
              </a:defRPr>
            </a:pPr>
          </a:p>
          <a:p>
            <a:pPr defTabSz="609600">
              <a:lnSpc>
                <a:spcPts val="1600"/>
              </a:lnSpc>
              <a:defRPr b="1" sz="1200">
                <a:solidFill>
                  <a:srgbClr val="DC640D"/>
                </a:solidFill>
              </a:defRPr>
            </a:pPr>
            <a:r>
              <a:t>GPU Server</a:t>
            </a:r>
          </a:p>
          <a:p>
            <a:pPr lvl="1" marL="323850" indent="-129539" defTabSz="609600">
              <a:lnSpc>
                <a:spcPts val="1600"/>
              </a:lnSpc>
              <a:buSzPct val="100000"/>
              <a:buFont typeface="Arial"/>
              <a:buChar char="•"/>
              <a:defRPr sz="1200">
                <a:solidFill>
                  <a:srgbClr val="000000"/>
                </a:solidFill>
              </a:defRPr>
            </a:pPr>
            <a:r>
              <a:t>AMD Epyc CPU</a:t>
            </a:r>
          </a:p>
          <a:p>
            <a:pPr lvl="1" marL="323850" indent="-129539" defTabSz="609600">
              <a:lnSpc>
                <a:spcPts val="1600"/>
              </a:lnSpc>
              <a:buSzPct val="100000"/>
              <a:buFont typeface="Arial"/>
              <a:buChar char="•"/>
              <a:defRPr sz="1200">
                <a:solidFill>
                  <a:srgbClr val="000000"/>
                </a:solidFill>
              </a:defRPr>
            </a:pPr>
            <a:r>
              <a:t>8 x NVIDIA L40S GPU</a:t>
            </a:r>
          </a:p>
        </p:txBody>
      </p:sp>
      <p:sp>
        <p:nvSpPr>
          <p:cNvPr id="409" name="TextBox 9"/>
          <p:cNvSpPr txBox="1"/>
          <p:nvPr/>
        </p:nvSpPr>
        <p:spPr>
          <a:xfrm>
            <a:off x="288253" y="2456927"/>
            <a:ext cx="1932030"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FFFFFF"/>
                </a:solidFill>
                <a:latin typeface="Futura Bold"/>
                <a:ea typeface="Futura Bold"/>
                <a:cs typeface="Futura Bold"/>
                <a:sym typeface="Futura Bold"/>
              </a:defRPr>
            </a:lvl1pPr>
          </a:lstStyle>
          <a:p>
            <a:pPr/>
            <a:r>
              <a:t>aisc.hpi.de</a:t>
            </a:r>
          </a:p>
        </p:txBody>
      </p:sp>
      <p:sp>
        <p:nvSpPr>
          <p:cNvPr id="410" name="TextBox 10"/>
          <p:cNvSpPr txBox="1"/>
          <p:nvPr/>
        </p:nvSpPr>
        <p:spPr>
          <a:xfrm>
            <a:off x="-132719" y="2280837"/>
            <a:ext cx="2353002" cy="1752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Zugangsanfrage</a:t>
            </a:r>
          </a:p>
        </p:txBody>
      </p:sp>
      <p:sp>
        <p:nvSpPr>
          <p:cNvPr id="411" name="TextBox 11"/>
          <p:cNvSpPr txBox="1"/>
          <p:nvPr/>
        </p:nvSpPr>
        <p:spPr>
          <a:xfrm>
            <a:off x="7698108" y="315707"/>
            <a:ext cx="3612558" cy="231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lvl="1" marL="323850" indent="-129539" defTabSz="609600">
              <a:lnSpc>
                <a:spcPts val="1600"/>
              </a:lnSpc>
              <a:buSzPct val="100000"/>
              <a:buFont typeface="Arial"/>
              <a:buChar char="•"/>
              <a:defRPr sz="1200">
                <a:solidFill>
                  <a:srgbClr val="000000"/>
                </a:solidFill>
              </a:defRPr>
            </a:pPr>
            <a:r>
              <a:t>Zugang </a:t>
            </a:r>
            <a:r>
              <a:rPr b="1">
                <a:solidFill>
                  <a:srgbClr val="DC640D"/>
                </a:solidFill>
              </a:rPr>
              <a:t>kostenfrei</a:t>
            </a:r>
            <a:endParaRPr b="1">
              <a:solidFill>
                <a:srgbClr val="DC640D"/>
              </a:solidFill>
            </a:endParaRPr>
          </a:p>
          <a:p>
            <a:pPr lvl="1" marL="323850" indent="-129539" defTabSz="609600">
              <a:lnSpc>
                <a:spcPts val="1600"/>
              </a:lnSpc>
              <a:buSzPct val="100000"/>
              <a:buFont typeface="Arial"/>
              <a:buChar char="•"/>
              <a:defRPr sz="1200">
                <a:solidFill>
                  <a:srgbClr val="000000"/>
                </a:solidFill>
              </a:defRPr>
            </a:pPr>
            <a:r>
              <a:t>Kein Produktionsbetrieb</a:t>
            </a:r>
          </a:p>
          <a:p>
            <a:pPr lvl="2" marL="690880" indent="-172719" defTabSz="609600">
              <a:lnSpc>
                <a:spcPts val="1600"/>
              </a:lnSpc>
              <a:buSzPct val="100000"/>
              <a:buFont typeface="Arial"/>
              <a:buChar char="⚬"/>
              <a:defRPr sz="1200">
                <a:solidFill>
                  <a:srgbClr val="000000"/>
                </a:solidFill>
              </a:defRPr>
            </a:pPr>
            <a:r>
              <a:t>Daten sollten </a:t>
            </a:r>
            <a:r>
              <a:rPr b="1">
                <a:solidFill>
                  <a:srgbClr val="DC640D"/>
                </a:solidFill>
              </a:rPr>
              <a:t>anonymisiert</a:t>
            </a:r>
            <a:r>
              <a:t> oder </a:t>
            </a:r>
            <a:r>
              <a:rPr b="1">
                <a:solidFill>
                  <a:srgbClr val="DC640D"/>
                </a:solidFill>
              </a:rPr>
              <a:t>synthetisiert </a:t>
            </a:r>
            <a:r>
              <a:t>sein</a:t>
            </a:r>
          </a:p>
          <a:p>
            <a:pPr lvl="2" marL="690880" indent="-172719" defTabSz="609600">
              <a:lnSpc>
                <a:spcPts val="1600"/>
              </a:lnSpc>
              <a:buSzPct val="100000"/>
              <a:buFont typeface="Arial"/>
              <a:buChar char="⚬"/>
              <a:defRPr sz="1200">
                <a:solidFill>
                  <a:srgbClr val="000000"/>
                </a:solidFill>
              </a:defRPr>
            </a:pPr>
            <a:r>
              <a:t>kein </a:t>
            </a:r>
            <a:r>
              <a:rPr b="1">
                <a:solidFill>
                  <a:srgbClr val="DC640D"/>
                </a:solidFill>
              </a:rPr>
              <a:t>Hosting </a:t>
            </a:r>
            <a:r>
              <a:t>von Produkten</a:t>
            </a:r>
          </a:p>
          <a:p>
            <a:pPr lvl="1" marL="323850" indent="-129539" defTabSz="609600">
              <a:lnSpc>
                <a:spcPts val="1600"/>
              </a:lnSpc>
              <a:buSzPct val="100000"/>
              <a:buFont typeface="Arial"/>
              <a:buChar char="•"/>
              <a:defRPr b="1" sz="1200">
                <a:solidFill>
                  <a:srgbClr val="DC640D"/>
                </a:solidFill>
              </a:defRPr>
            </a:pPr>
            <a:r>
              <a:t>Reporting </a:t>
            </a:r>
            <a:r>
              <a:rPr b="0">
                <a:solidFill>
                  <a:srgbClr val="000000"/>
                </a:solidFill>
              </a:rPr>
              <a:t>&amp; </a:t>
            </a:r>
            <a:r>
              <a:t>Veröffentlichung </a:t>
            </a:r>
            <a:r>
              <a:rPr b="0">
                <a:solidFill>
                  <a:srgbClr val="000000"/>
                </a:solidFill>
              </a:rPr>
              <a:t>durch Nutzende</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Altrechte </a:t>
            </a:r>
            <a:r>
              <a:rPr b="0">
                <a:solidFill>
                  <a:srgbClr val="000000"/>
                </a:solidFill>
              </a:rPr>
              <a:t>bleiben bei Nutzenden</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Neurechte </a:t>
            </a:r>
            <a:r>
              <a:rPr b="0">
                <a:solidFill>
                  <a:srgbClr val="000000"/>
                </a:solidFill>
              </a:rPr>
              <a:t>bleiben bei Nutzenden</a:t>
            </a:r>
            <a:endParaRPr b="0">
              <a:solidFill>
                <a:srgbClr val="000000"/>
              </a:solidFill>
            </a:endParaRPr>
          </a:p>
          <a:p>
            <a:pPr lvl="2" marL="690880" indent="-172719" defTabSz="609600">
              <a:lnSpc>
                <a:spcPts val="1600"/>
              </a:lnSpc>
              <a:buSzPct val="100000"/>
              <a:buFont typeface="Arial"/>
              <a:buChar char="⚬"/>
              <a:defRPr sz="1200">
                <a:solidFill>
                  <a:srgbClr val="000000"/>
                </a:solidFill>
              </a:defRPr>
            </a:pPr>
            <a:r>
              <a:t>Einräumen von Nutzungsrechten für Forschung und Lehre</a:t>
            </a:r>
          </a:p>
        </p:txBody>
      </p:sp>
      <p:sp>
        <p:nvSpPr>
          <p:cNvPr id="412" name="Freeform 12"/>
          <p:cNvSpPr/>
          <p:nvPr/>
        </p:nvSpPr>
        <p:spPr>
          <a:xfrm>
            <a:off x="274201" y="334757"/>
            <a:ext cx="1946082" cy="194608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3" name="TextBox 13"/>
          <p:cNvSpPr txBox="1"/>
          <p:nvPr/>
        </p:nvSpPr>
        <p:spPr>
          <a:xfrm>
            <a:off x="9666914" y="2835201"/>
            <a:ext cx="1680056" cy="358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Edge</a:t>
            </a:r>
          </a:p>
          <a:p>
            <a:pPr lvl="1" marL="323850" indent="-129539" defTabSz="609600">
              <a:lnSpc>
                <a:spcPts val="1600"/>
              </a:lnSpc>
              <a:buSzPct val="100000"/>
              <a:buFont typeface="Arial"/>
              <a:buChar char="•"/>
              <a:defRPr sz="1200">
                <a:solidFill>
                  <a:srgbClr val="000000"/>
                </a:solidFill>
              </a:defRPr>
            </a:pPr>
            <a:r>
              <a:t>ARMv8 CPU</a:t>
            </a:r>
          </a:p>
          <a:p>
            <a:pPr lvl="1" marL="323850" indent="-129539" defTabSz="609600">
              <a:lnSpc>
                <a:spcPts val="1600"/>
              </a:lnSpc>
              <a:buSzPct val="100000"/>
              <a:buFont typeface="Arial"/>
              <a:buChar char="•"/>
              <a:defRPr sz="1200">
                <a:solidFill>
                  <a:srgbClr val="000000"/>
                </a:solidFill>
              </a:defRPr>
            </a:pPr>
            <a:r>
              <a:t>NVIDIA Jetson AGX Module</a:t>
            </a:r>
          </a:p>
          <a:p>
            <a:pPr defTabSz="609600">
              <a:lnSpc>
                <a:spcPts val="1600"/>
              </a:lnSpc>
              <a:defRPr sz="1200">
                <a:solidFill>
                  <a:srgbClr val="000000"/>
                </a:solidFill>
              </a:defRPr>
            </a:pPr>
          </a:p>
          <a:p>
            <a:pPr defTabSz="609600">
              <a:lnSpc>
                <a:spcPts val="1600"/>
              </a:lnSpc>
              <a:defRPr b="1" sz="1200">
                <a:solidFill>
                  <a:srgbClr val="DC640D"/>
                </a:solidFill>
              </a:defRPr>
            </a:pPr>
            <a:r>
              <a:t>Neuromorph</a:t>
            </a:r>
          </a:p>
          <a:p>
            <a:pPr lvl="1" marL="323850" indent="-129539" defTabSz="609600">
              <a:lnSpc>
                <a:spcPts val="1600"/>
              </a:lnSpc>
              <a:buSzPct val="100000"/>
              <a:buFont typeface="Arial"/>
              <a:buChar char="•"/>
              <a:defRPr sz="1200">
                <a:solidFill>
                  <a:srgbClr val="000000"/>
                </a:solidFill>
              </a:defRPr>
            </a:pPr>
            <a:r>
              <a:t>288 SpiNNaker2 Chips</a:t>
            </a:r>
          </a:p>
          <a:p>
            <a:pPr defTabSz="609600">
              <a:lnSpc>
                <a:spcPts val="1600"/>
              </a:lnSpc>
              <a:defRPr sz="1200">
                <a:solidFill>
                  <a:srgbClr val="000000"/>
                </a:solidFill>
              </a:defRPr>
            </a:pPr>
          </a:p>
          <a:p>
            <a:pPr defTabSz="609600">
              <a:lnSpc>
                <a:spcPts val="1600"/>
              </a:lnSpc>
              <a:defRPr b="1" sz="1200">
                <a:solidFill>
                  <a:srgbClr val="DC640D"/>
                </a:solidFill>
              </a:defRPr>
            </a:pPr>
            <a:r>
              <a:t>Speicher</a:t>
            </a:r>
          </a:p>
          <a:p>
            <a:pPr lvl="1" marL="323850" indent="-129539" defTabSz="609600">
              <a:lnSpc>
                <a:spcPts val="1600"/>
              </a:lnSpc>
              <a:buSzPct val="100000"/>
              <a:buFont typeface="Arial"/>
              <a:buChar char="•"/>
              <a:defRPr sz="1200">
                <a:solidFill>
                  <a:srgbClr val="000000"/>
                </a:solidFill>
              </a:defRPr>
            </a:pPr>
            <a:r>
              <a:t>1.5 PB NVRAM</a:t>
            </a:r>
          </a:p>
          <a:p>
            <a:pPr defTabSz="609600">
              <a:lnSpc>
                <a:spcPts val="1600"/>
              </a:lnSpc>
              <a:defRPr sz="1200">
                <a:solidFill>
                  <a:srgbClr val="000000"/>
                </a:solidFill>
              </a:defRPr>
            </a:pPr>
          </a:p>
          <a:p>
            <a:pPr defTabSz="609600">
              <a:lnSpc>
                <a:spcPts val="1600"/>
              </a:lnSpc>
              <a:defRPr b="1" sz="1200">
                <a:solidFill>
                  <a:srgbClr val="DC640D"/>
                </a:solidFill>
              </a:defRPr>
            </a:pPr>
            <a:r>
              <a:t>Netwerk</a:t>
            </a:r>
          </a:p>
          <a:p>
            <a:pPr lvl="1" marL="323850" indent="-129539" defTabSz="609600">
              <a:lnSpc>
                <a:spcPts val="1600"/>
              </a:lnSpc>
              <a:buSzPct val="100000"/>
              <a:buFont typeface="Arial"/>
              <a:buChar char="•"/>
              <a:defRPr sz="1200">
                <a:solidFill>
                  <a:srgbClr val="000000"/>
                </a:solidFill>
              </a:defRPr>
            </a:pPr>
            <a:r>
              <a:t>400 Gb/s Infiniband</a:t>
            </a:r>
          </a:p>
          <a:p>
            <a:pPr lvl="1" marL="323850" indent="-129539" defTabSz="609600">
              <a:lnSpc>
                <a:spcPts val="1600"/>
              </a:lnSpc>
              <a:buSzPct val="100000"/>
              <a:buFont typeface="Arial"/>
              <a:buChar char="•"/>
              <a:defRPr sz="1200">
                <a:solidFill>
                  <a:srgbClr val="000000"/>
                </a:solidFill>
              </a:defRPr>
            </a:pPr>
            <a:r>
              <a:t>200 Gb/s Ethernet</a:t>
            </a:r>
          </a:p>
        </p:txBody>
      </p:sp>
      <p:pic>
        <p:nvPicPr>
          <p:cNvPr id="414" name="Picture 14" descr="Picture 14"/>
          <p:cNvPicPr>
            <a:picLocks noChangeAspect="1"/>
          </p:cNvPicPr>
          <p:nvPr/>
        </p:nvPicPr>
        <p:blipFill>
          <a:blip r:embed="rId6">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7"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8" name="TextBox 5"/>
          <p:cNvSpPr txBox="1"/>
          <p:nvPr/>
        </p:nvSpPr>
        <p:spPr>
          <a:xfrm>
            <a:off x="17675" y="3260857"/>
            <a:ext cx="2459134"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AGENDA</a:t>
            </a:r>
          </a:p>
        </p:txBody>
      </p:sp>
      <p:pic>
        <p:nvPicPr>
          <p:cNvPr id="419"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420"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21" name="Screenshot 2026-04-20 at 17.43.35.png" descr="Screenshot 2026-04-20 at 17.43.35.png"/>
          <p:cNvPicPr>
            <a:picLocks noChangeAspect="1"/>
          </p:cNvPicPr>
          <p:nvPr/>
        </p:nvPicPr>
        <p:blipFill>
          <a:blip r:embed="rId6">
            <a:extLst/>
          </a:blip>
          <a:stretch>
            <a:fillRect/>
          </a:stretch>
        </p:blipFill>
        <p:spPr>
          <a:xfrm>
            <a:off x="3073233" y="866602"/>
            <a:ext cx="7173034" cy="5732942"/>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425" name="Textplatzhalter 6"/>
          <p:cNvSpPr txBox="1"/>
          <p:nvPr>
            <p:ph type="body" sz="half" idx="1"/>
          </p:nvPr>
        </p:nvSpPr>
        <p:spPr>
          <a:xfrm>
            <a:off x="754379" y="1105199"/>
            <a:ext cx="4836797" cy="5166998"/>
          </a:xfrm>
          <a:prstGeom prst="rect">
            <a:avLst/>
          </a:prstGeom>
        </p:spPr>
        <p:txBody>
          <a:bodyPr/>
          <a:lstStyle/>
          <a:p>
            <a:pPr>
              <a:lnSpc>
                <a:spcPct val="100000"/>
              </a:lnSpc>
              <a:defRPr b="1"/>
            </a:pPr>
            <a:r>
              <a:t>Motivation</a:t>
            </a:r>
          </a:p>
          <a:p>
            <a:pPr lvl="1">
              <a:lnSpc>
                <a:spcPct val="100000"/>
              </a:lnSpc>
              <a:defRPr spc="-7" sz="1800"/>
            </a:pPr>
            <a:r>
              <a:rPr b="1"/>
              <a:t>Scale:</a:t>
            </a:r>
            <a:r>
              <a:t> Train models that don’t fit on consumer hardware</a:t>
            </a:r>
          </a:p>
          <a:p>
            <a:pPr>
              <a:lnSpc>
                <a:spcPct val="100000"/>
              </a:lnSpc>
              <a:defRPr spc="-7" sz="1800"/>
            </a:pPr>
            <a:r>
              <a:rPr b="1"/>
              <a:t>Speed:</a:t>
            </a:r>
            <a:r>
              <a:t> Powerful GPUs, run experiments in parallel</a:t>
            </a:r>
          </a:p>
          <a:p>
            <a:pPr>
              <a:lnSpc>
                <a:spcPct val="100000"/>
              </a:lnSpc>
              <a:defRPr spc="-7" sz="1800"/>
            </a:pPr>
            <a:r>
              <a:rPr b="1"/>
              <a:t>Freedom:</a:t>
            </a:r>
            <a:r>
              <a:t> Submit and disconnect</a:t>
            </a:r>
          </a:p>
          <a:p>
            <a:pPr>
              <a:lnSpc>
                <a:spcPct val="100000"/>
              </a:lnSpc>
              <a:defRPr spc="-7" sz="1800"/>
            </a:pPr>
            <a:r>
              <a:rPr b="1"/>
              <a:t>Collaboration:</a:t>
            </a:r>
            <a:r>
              <a:t> Shared environment across your team</a:t>
            </a:r>
          </a:p>
          <a:p>
            <a:pPr>
              <a:lnSpc>
                <a:spcPct val="100000"/>
              </a:lnSpc>
              <a:defRPr spc="-7" sz="1800"/>
            </a:pPr>
            <a:r>
              <a:rPr b="1"/>
              <a:t>Cost:</a:t>
            </a:r>
            <a:r>
              <a:t> Free for AISC projects </a:t>
            </a:r>
          </a:p>
        </p:txBody>
      </p:sp>
      <p:pic>
        <p:nvPicPr>
          <p:cNvPr id="426" name="Bildplatzhalter 7" descr="Bildplatzhalter 7"/>
          <p:cNvPicPr>
            <a:picLocks noChangeAspect="1"/>
          </p:cNvPicPr>
          <p:nvPr>
            <p:ph type="pic" idx="21"/>
          </p:nvPr>
        </p:nvPicPr>
        <p:blipFill>
          <a:blip r:embed="rId2">
            <a:extLst/>
          </a:blip>
          <a:srcRect l="0" t="0" r="0" b="0"/>
          <a:stretch>
            <a:fillRect/>
          </a:stretch>
        </p:blipFill>
        <p:spPr>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
        <p:nvSpPr>
          <p:cNvPr id="427" name="Freeform 7"/>
          <p:cNvSpPr/>
          <p:nvPr/>
        </p:nvSpPr>
        <p:spPr>
          <a:xfrm>
            <a:off x="5960277" y="2831682"/>
            <a:ext cx="6215063" cy="403929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28" name="Freeform 5"/>
          <p:cNvSpPr/>
          <p:nvPr/>
        </p:nvSpPr>
        <p:spPr>
          <a:xfrm>
            <a:off x="5960277" y="-15806"/>
            <a:ext cx="6215063" cy="349700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4="http://schemas.microsoft.com/office/powerpoint/2010/main" Requires="p14">
      <p:transition spd="slow" advClick="1" p14:dur="15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Textplatzhalter 6"/>
          <p:cNvSpPr txBox="1"/>
          <p:nvPr>
            <p:ph type="body" sz="half" idx="1"/>
          </p:nvPr>
        </p:nvSpPr>
        <p:spPr>
          <a:xfrm>
            <a:off x="754379" y="1105199"/>
            <a:ext cx="4279832" cy="5166998"/>
          </a:xfrm>
          <a:prstGeom prst="rect">
            <a:avLst/>
          </a:prstGeom>
        </p:spPr>
        <p:txBody>
          <a:bodyPr/>
          <a:lstStyle/>
          <a:p>
            <a:pPr>
              <a:lnSpc>
                <a:spcPct val="100000"/>
              </a:lnSpc>
              <a:defRPr b="1"/>
            </a:pPr>
            <a:r>
              <a:t>Documentation</a:t>
            </a:r>
          </a:p>
          <a:p>
            <a:pPr>
              <a:lnSpc>
                <a:spcPct val="100000"/>
              </a:lnSpc>
              <a:defRPr spc="-7" sz="1800"/>
            </a:pPr>
            <a:r>
              <a:t>Please make yourself familiar with the HPC documentation!</a:t>
            </a:r>
          </a:p>
          <a:p>
            <a:pPr>
              <a:lnSpc>
                <a:spcPct val="100000"/>
              </a:lnSpc>
              <a:defRPr spc="-7" sz="1800"/>
            </a:pPr>
            <a:r>
              <a:t>If you have questions or need assistance, consult our </a:t>
            </a:r>
            <a:r>
              <a:rPr u="sng">
                <a:solidFill>
                  <a:schemeClr val="accent1"/>
                </a:solidFill>
                <a:uFill>
                  <a:solidFill>
                    <a:schemeClr val="accent1"/>
                  </a:solidFill>
                </a:uFill>
                <a:hlinkClick r:id="rId2" invalidUrl="" action="" tgtFrame="" tooltip="" history="1" highlightClick="0" endSnd="0"/>
              </a:rPr>
              <a:t>FAQ</a:t>
            </a:r>
            <a:r>
              <a:t> or reach out to us: </a:t>
            </a:r>
          </a:p>
          <a:p>
            <a:pPr>
              <a:lnSpc>
                <a:spcPct val="100000"/>
              </a:lnSpc>
              <a:defRPr spc="-7" sz="1800"/>
            </a:pPr>
            <a:r>
              <a:t>For technical issues: </a:t>
            </a:r>
            <a:br/>
            <a:r>
              <a:rPr u="sng">
                <a:solidFill>
                  <a:schemeClr val="accent1"/>
                </a:solidFill>
                <a:uFill>
                  <a:solidFill>
                    <a:schemeClr val="accent1"/>
                  </a:solidFill>
                </a:uFill>
                <a:hlinkClick r:id="rId3" invalidUrl="" action="" tgtFrame="" tooltip="" history="1" highlightClick="0" endSnd="0"/>
              </a:rPr>
              <a:t>aisc-helpdesk@hpi.de</a:t>
            </a:r>
          </a:p>
          <a:p>
            <a:pPr>
              <a:lnSpc>
                <a:spcPct val="100000"/>
              </a:lnSpc>
              <a:defRPr spc="-7" sz="1800"/>
            </a:pPr>
            <a:r>
              <a:t>For organizational issues: </a:t>
            </a:r>
            <a:br/>
            <a:r>
              <a:rPr u="sng">
                <a:solidFill>
                  <a:schemeClr val="accent1"/>
                </a:solidFill>
                <a:uFill>
                  <a:solidFill>
                    <a:schemeClr val="accent1"/>
                  </a:solidFill>
                </a:uFill>
                <a:hlinkClick r:id="rId4" invalidUrl="" action="" tgtFrame="" tooltip="" history="1" highlightClick="0" endSnd="0"/>
              </a:rPr>
              <a:t>ki-servicezentrum@hpi.de</a:t>
            </a:r>
            <a:r>
              <a:t> </a:t>
            </a:r>
          </a:p>
        </p:txBody>
      </p:sp>
      <p:pic>
        <p:nvPicPr>
          <p:cNvPr id="431" name="Screenshot 2026-04-10 at 09.01.38.png" descr="Screenshot 2026-04-10 at 09.01.38.png"/>
          <p:cNvPicPr>
            <a:picLocks noChangeAspect="1"/>
          </p:cNvPicPr>
          <p:nvPr/>
        </p:nvPicPr>
        <p:blipFill>
          <a:blip r:embed="rId5">
            <a:extLst/>
          </a:blip>
          <a:stretch>
            <a:fillRect/>
          </a:stretch>
        </p:blipFill>
        <p:spPr>
          <a:xfrm>
            <a:off x="5383710" y="0"/>
            <a:ext cx="6823881" cy="6858001"/>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3"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5"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Initial Setup</a:t>
            </a:r>
          </a:p>
        </p:txBody>
      </p:sp>
      <p:pic>
        <p:nvPicPr>
          <p:cNvPr id="43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3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8" name="https://github.com/aihpi/workshop-slurm">
            <a:hlinkClick r:id="rId5" invalidUrl="" action="" tgtFrame="" tooltip="" history="1" highlightClick="0" endSnd="0"/>
          </p:cNvPr>
          <p:cNvSpPr txBox="1"/>
          <p:nvPr/>
        </p:nvSpPr>
        <p:spPr>
          <a:xfrm>
            <a:off x="4569764" y="500380"/>
            <a:ext cx="4901281"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u="sng">
                <a:solidFill>
                  <a:schemeClr val="accent1"/>
                </a:solidFill>
                <a:uFill>
                  <a:solidFill>
                    <a:schemeClr val="accent1"/>
                  </a:solidFill>
                </a:uFill>
                <a:hlinkClick r:id="rId5" invalidUrl="" action="" tgtFrame="" tooltip="" history="1" highlightClick="0" endSnd="0"/>
              </a:defRPr>
            </a:lvl1pPr>
          </a:lstStyle>
          <a:p>
            <a:pPr>
              <a:defRPr u="none">
                <a:solidFill>
                  <a:srgbClr val="5A6065"/>
                </a:solidFill>
                <a:uFillTx/>
              </a:defRPr>
            </a:pPr>
            <a:r>
              <a:rPr u="sng">
                <a:solidFill>
                  <a:schemeClr val="accent1"/>
                </a:solidFill>
                <a:uFill>
                  <a:solidFill>
                    <a:schemeClr val="accent1"/>
                  </a:solidFill>
                </a:uFill>
                <a:hlinkClick r:id="rId5" invalidUrl="" action="" tgtFrame="" tooltip="" history="1" highlightClick="0" endSnd="0"/>
              </a:rPr>
              <a:t>https://github.com/aihpi/workshop-slurm</a:t>
            </a:r>
          </a:p>
        </p:txBody>
      </p:sp>
      <p:pic>
        <p:nvPicPr>
          <p:cNvPr id="439" name="Screenshot 2026-04-09 at 14.48.40.png" descr="Screenshot 2026-04-09 at 14.48.40.png"/>
          <p:cNvPicPr>
            <a:picLocks noChangeAspect="1"/>
          </p:cNvPicPr>
          <p:nvPr/>
        </p:nvPicPr>
        <p:blipFill>
          <a:blip r:embed="rId6">
            <a:extLst/>
          </a:blip>
          <a:stretch>
            <a:fillRect/>
          </a:stretch>
        </p:blipFill>
        <p:spPr>
          <a:xfrm>
            <a:off x="2591207" y="1029452"/>
            <a:ext cx="8960265" cy="5589334"/>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441" name="Textplatzhalter 6"/>
          <p:cNvSpPr txBox="1"/>
          <p:nvPr>
            <p:ph type="body" sz="half" idx="1"/>
          </p:nvPr>
        </p:nvSpPr>
        <p:spPr>
          <a:xfrm>
            <a:off x="754379" y="1105199"/>
            <a:ext cx="4836797" cy="5166998"/>
          </a:xfrm>
          <a:prstGeom prst="rect">
            <a:avLst/>
          </a:prstGeom>
        </p:spPr>
        <p:txBody>
          <a:bodyPr/>
          <a:lstStyle>
            <a:lvl1pPr>
              <a:lnSpc>
                <a:spcPct val="100000"/>
              </a:lnSpc>
              <a:defRPr b="1"/>
            </a:lvl1pPr>
          </a:lstStyle>
          <a:p>
            <a:pPr/>
            <a:r>
              <a:t>Cluster Basics</a:t>
            </a:r>
          </a:p>
        </p:txBody>
      </p:sp>
      <p:pic>
        <p:nvPicPr>
          <p:cNvPr id="442"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6"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Nodes</a:t>
            </a:r>
          </a:p>
        </p:txBody>
      </p:sp>
      <p:pic>
        <p:nvPicPr>
          <p:cNvPr id="447"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48"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9" name="Cluster Basics…"/>
          <p:cNvSpPr txBox="1"/>
          <p:nvPr>
            <p:ph type="body" idx="4294967295"/>
          </p:nvPr>
        </p:nvSpPr>
        <p:spPr>
          <a:xfrm>
            <a:off x="2764874" y="872893"/>
            <a:ext cx="8978420" cy="5503063"/>
          </a:xfrm>
          <a:prstGeom prst="rect">
            <a:avLst/>
          </a:prstGeom>
        </p:spPr>
        <p:txBody>
          <a:bodyPr/>
          <a:lstStyle/>
          <a:p>
            <a:pPr marL="0" indent="0">
              <a:buClrTx/>
              <a:buSzTx/>
              <a:buNone/>
              <a:defRPr b="1" sz="2200"/>
            </a:pPr>
            <a:r>
              <a:t>Cluster Basics</a:t>
            </a:r>
          </a:p>
          <a:p>
            <a:pPr marL="180473" indent="-180473">
              <a:buClrTx/>
              <a:buChar char="•"/>
            </a:pPr>
            <a:r>
              <a:t>Cluster = many computers (nodes) connected over a network</a:t>
            </a:r>
          </a:p>
          <a:p>
            <a:pPr marL="180473" indent="-180473">
              <a:buClrTx/>
              <a:buChar char="•"/>
            </a:pPr>
            <a:r>
              <a:t>Each node has its own CPUs, RAM, (sometimes) GPUs, …</a:t>
            </a:r>
          </a:p>
          <a:p>
            <a:pPr marL="180473" indent="-180473">
              <a:buClrTx/>
              <a:buChar char="•"/>
            </a:pPr>
            <a:r>
              <a:t>Three types of nodes on our cluster</a:t>
            </a:r>
          </a:p>
          <a:p>
            <a:pPr lvl="1" marL="0" indent="431999">
              <a:buClrTx/>
              <a:buSzTx/>
              <a:buNone/>
            </a:pPr>
            <a:r>
              <a:t>1. Login node (lx01)</a:t>
            </a:r>
          </a:p>
          <a:p>
            <a:pPr lvl="2" marL="942473" indent="-180473">
              <a:buClrTx/>
              <a:buChar char="•"/>
            </a:pPr>
            <a:r>
              <a:t>Entry point, like a lobby </a:t>
            </a:r>
          </a:p>
          <a:p>
            <a:pPr lvl="2" marL="942473" indent="-180473">
              <a:buClrTx/>
              <a:buChar char="•"/>
            </a:pPr>
            <a:r>
              <a:t>Used only for file management, submitting jobs, … </a:t>
            </a:r>
          </a:p>
          <a:p>
            <a:pPr lvl="1" marL="0" indent="431999">
              <a:buClrTx/>
              <a:buSzTx/>
              <a:buNone/>
            </a:pPr>
            <a:r>
              <a:t>2. Run node (rx01/rx02)</a:t>
            </a:r>
          </a:p>
          <a:p>
            <a:pPr lvl="2" marL="942473" indent="-180473">
              <a:buClrTx/>
              <a:buChar char="•"/>
            </a:pPr>
            <a:r>
              <a:t>Lightweight interactive work, VSCode, …</a:t>
            </a:r>
          </a:p>
          <a:p>
            <a:pPr lvl="2" marL="942473" indent="-180473">
              <a:buClrTx/>
              <a:buChar char="•"/>
            </a:pPr>
            <a:r>
              <a:t>Shared usage. Per-user limit: 4 CPUs, 8GB RAM</a:t>
            </a:r>
          </a:p>
          <a:p>
            <a:pPr lvl="1" marL="0" indent="431999">
              <a:buClrTx/>
              <a:buSzTx/>
              <a:buNone/>
            </a:pPr>
            <a:r>
              <a:t>3. Compute node (gx[07-14], gx15v1, gx17v1, …)  </a:t>
            </a:r>
          </a:p>
          <a:p>
            <a:pPr lvl="2" marL="942473" indent="-180473">
              <a:buClrTx/>
              <a:buChar char="•"/>
            </a:pPr>
            <a:r>
              <a:t>Any computation (also interactive), ML training, data processing, … </a:t>
            </a:r>
          </a:p>
          <a:p>
            <a:pPr lvl="2" marL="942473" indent="-180473">
              <a:buClrTx/>
              <a:buChar char="•"/>
            </a:pPr>
            <a:r>
              <a:t>Exclusive usage. Via SLURM only!</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2"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3"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Basics</a:t>
            </a:r>
          </a:p>
        </p:txBody>
      </p:sp>
      <p:pic>
        <p:nvPicPr>
          <p:cNvPr id="45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5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6" name="What is SLURM?…"/>
          <p:cNvSpPr txBox="1"/>
          <p:nvPr>
            <p:ph type="body" idx="4294967295"/>
          </p:nvPr>
        </p:nvSpPr>
        <p:spPr>
          <a:xfrm>
            <a:off x="2821895" y="890733"/>
            <a:ext cx="8690508" cy="6315585"/>
          </a:xfrm>
          <a:prstGeom prst="rect">
            <a:avLst/>
          </a:prstGeom>
        </p:spPr>
        <p:txBody>
          <a:bodyPr/>
          <a:lstStyle/>
          <a:p>
            <a:pPr marL="0" indent="0">
              <a:buClrTx/>
              <a:buSzTx/>
              <a:buNone/>
            </a:pPr>
            <a:r>
              <a:t>What is SLURM?</a:t>
            </a:r>
          </a:p>
          <a:p>
            <a:pPr lvl="1" marL="561473" indent="-180473">
              <a:buClrTx/>
              <a:buChar char="•"/>
            </a:pPr>
            <a:r>
              <a:t>Job scheduler: manages who gets what resources and when</a:t>
            </a:r>
          </a:p>
          <a:p>
            <a:pPr lvl="1" marL="561473" indent="-180473">
              <a:buClrTx/>
              <a:buChar char="•"/>
            </a:pPr>
            <a:r>
              <a:t>You request resources through SLURM </a:t>
            </a:r>
          </a:p>
          <a:p>
            <a:pPr lvl="1" marL="561473" indent="-180473">
              <a:buClrTx/>
              <a:buChar char="•"/>
            </a:pPr>
            <a:r>
              <a:t>Jobs are prioritised based on </a:t>
            </a:r>
            <a:r>
              <a:rPr b="1"/>
              <a:t>availability</a:t>
            </a:r>
            <a:r>
              <a:t> and </a:t>
            </a:r>
            <a:r>
              <a:rPr b="1"/>
              <a:t>fairness</a:t>
            </a:r>
          </a:p>
          <a:p>
            <a:pPr marL="0" indent="0">
              <a:buClrTx/>
              <a:buSzTx/>
              <a:buNone/>
            </a:pPr>
          </a:p>
          <a:p>
            <a:pPr marL="0" indent="0">
              <a:buClrTx/>
              <a:buSzTx/>
              <a:buNone/>
            </a:pPr>
          </a:p>
          <a:p>
            <a:pPr marL="0" indent="0">
              <a:buClrTx/>
              <a:buSzTx/>
              <a:buNone/>
            </a:pPr>
          </a:p>
        </p:txBody>
      </p:sp>
      <p:pic>
        <p:nvPicPr>
          <p:cNvPr id="457" name="sbatchflow.PNG" descr="sbatchflow.PNG"/>
          <p:cNvPicPr>
            <a:picLocks noChangeAspect="1"/>
          </p:cNvPicPr>
          <p:nvPr/>
        </p:nvPicPr>
        <p:blipFill>
          <a:blip r:embed="rId5">
            <a:extLst/>
          </a:blip>
          <a:stretch>
            <a:fillRect/>
          </a:stretch>
        </p:blipFill>
        <p:spPr>
          <a:xfrm>
            <a:off x="2698192" y="3214463"/>
            <a:ext cx="8937914" cy="3390243"/>
          </a:xfrm>
          <a:prstGeom prst="rect">
            <a:avLst/>
          </a:prstGeom>
          <a:ln w="12700">
            <a:miter lim="400000"/>
          </a:ln>
        </p:spPr>
      </p:pic>
      <p:sp>
        <p:nvSpPr>
          <p:cNvPr id="458" name="Image source: https://support.pdc.kth.se/doc/run_jobs/queueing_jobs/"/>
          <p:cNvSpPr txBox="1"/>
          <p:nvPr/>
        </p:nvSpPr>
        <p:spPr>
          <a:xfrm>
            <a:off x="4604051" y="6167562"/>
            <a:ext cx="5644640"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150000"/>
              </a:lnSpc>
              <a:defRPr sz="1200"/>
            </a:lvl1pPr>
          </a:lstStyle>
          <a:p>
            <a:pPr/>
            <a:r>
              <a:t>Image source: https://support.pdc.kth.se/doc/run_jobs/queueing_jobs/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2"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Key Concepts</a:t>
            </a:r>
          </a:p>
        </p:txBody>
      </p:sp>
      <p:pic>
        <p:nvPicPr>
          <p:cNvPr id="463"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64"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5" name="Partition: group of nodes with shared rules (time limits, hardware type)"/>
          <p:cNvSpPr txBox="1"/>
          <p:nvPr>
            <p:ph type="body" sz="half" idx="4294967295"/>
          </p:nvPr>
        </p:nvSpPr>
        <p:spPr>
          <a:xfrm>
            <a:off x="2764874" y="917513"/>
            <a:ext cx="8978420" cy="2528984"/>
          </a:xfrm>
          <a:prstGeom prst="rect">
            <a:avLst/>
          </a:prstGeom>
        </p:spPr>
        <p:txBody>
          <a:bodyPr/>
          <a:lstStyle/>
          <a:p>
            <a:pPr marL="0" indent="0">
              <a:buClrTx/>
              <a:buSzTx/>
              <a:buNone/>
              <a:defRPr b="1" sz="2200"/>
            </a:pPr>
          </a:p>
          <a:p>
            <a:pPr marL="180473" indent="-180473">
              <a:buClrTx/>
              <a:buChar char="•"/>
            </a:pPr>
            <a:r>
              <a:t>Partition: group of nodes with shared rules (time limits, hardware type)</a:t>
            </a:r>
          </a:p>
          <a:p>
            <a:pPr marL="0" indent="0">
              <a:buClrTx/>
              <a:buSzTx/>
              <a:buNone/>
            </a:pPr>
          </a:p>
        </p:txBody>
      </p:sp>
      <p:graphicFrame>
        <p:nvGraphicFramePr>
          <p:cNvPr id="466" name="Table 1"/>
          <p:cNvGraphicFramePr/>
          <p:nvPr/>
        </p:nvGraphicFramePr>
        <p:xfrm>
          <a:off x="3575846" y="1962586"/>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2616453"/>
                <a:gridCol w="1270000"/>
                <a:gridCol w="3470022"/>
              </a:tblGrid>
              <a:tr h="260350">
                <a:tc>
                  <a:txBody>
                    <a:bodyPr/>
                    <a:lstStyle/>
                    <a:p>
                      <a:pPr algn="ctr">
                        <a:defRPr b="0" sz="1800">
                          <a:solidFill>
                            <a:srgbClr val="000000"/>
                          </a:solidFill>
                        </a:defRPr>
                      </a:pPr>
                      <a:r>
                        <a:rPr b="1" sz="1600">
                          <a:solidFill>
                            <a:srgbClr val="5A6065"/>
                          </a:solidFill>
                        </a:rPr>
                        <a:t>Partition</a:t>
                      </a:r>
                    </a:p>
                  </a:txBody>
                  <a:tcPr marL="0" marR="0" marT="0" marB="0" anchor="t" anchorCtr="0" horzOverflow="overflow"/>
                </a:tc>
                <a:tc>
                  <a:txBody>
                    <a:bodyPr/>
                    <a:lstStyle/>
                    <a:p>
                      <a:pPr algn="ctr">
                        <a:defRPr b="0" sz="1800">
                          <a:solidFill>
                            <a:srgbClr val="000000"/>
                          </a:solidFill>
                        </a:defRPr>
                      </a:pPr>
                      <a:r>
                        <a:rPr b="1" sz="1600">
                          <a:solidFill>
                            <a:srgbClr val="5A6065"/>
                          </a:solidFill>
                        </a:rPr>
                        <a:t>Time Limit</a:t>
                      </a:r>
                    </a:p>
                  </a:txBody>
                  <a:tcPr marL="0" marR="0" marT="0" marB="0" anchor="t" anchorCtr="0" horzOverflow="overflow"/>
                </a:tc>
                <a:tc>
                  <a:txBody>
                    <a:bodyPr/>
                    <a:lstStyle/>
                    <a:p>
                      <a:pPr algn="ctr">
                        <a:defRPr b="0" sz="1800">
                          <a:solidFill>
                            <a:srgbClr val="000000"/>
                          </a:solidFill>
                        </a:defRPr>
                      </a:pPr>
                      <a:r>
                        <a:rPr b="1" sz="1600">
                          <a:solidFill>
                            <a:srgbClr val="5A6065"/>
                          </a:solidFill>
                        </a:rPr>
                        <a:t>Use Case</a:t>
                      </a:r>
                    </a:p>
                  </a:txBody>
                  <a:tcPr marL="0" marR="0" marT="0" marB="0" anchor="t" anchorCtr="0" horzOverflow="overflow"/>
                </a:tc>
              </a:tr>
              <a:tr h="260350">
                <a:tc>
                  <a:txBody>
                    <a:bodyPr/>
                    <a:lstStyle/>
                    <a:p>
                      <a:pPr algn="ctr">
                        <a:defRPr b="0" sz="1800">
                          <a:solidFill>
                            <a:srgbClr val="000000"/>
                          </a:solidFill>
                        </a:defRPr>
                      </a:pPr>
                      <a:r>
                        <a:rPr sz="1600">
                          <a:solidFill>
                            <a:srgbClr val="5A6065"/>
                          </a:solidFill>
                        </a:rPr>
                        <a:t>pot-hpi-aisc-shortrun</a:t>
                      </a:r>
                    </a:p>
                  </a:txBody>
                  <a:tcPr marL="0" marR="0" marT="0" marB="0" anchor="t" anchorCtr="0" horzOverflow="overflow"/>
                </a:tc>
                <a:tc>
                  <a:txBody>
                    <a:bodyPr/>
                    <a:lstStyle/>
                    <a:p>
                      <a:pPr algn="ctr">
                        <a:defRPr sz="1800">
                          <a:solidFill>
                            <a:srgbClr val="000000"/>
                          </a:solidFill>
                        </a:defRPr>
                      </a:pPr>
                      <a:r>
                        <a:rPr sz="1600">
                          <a:solidFill>
                            <a:srgbClr val="5A6065"/>
                          </a:solidFill>
                        </a:rPr>
                        <a:t>1h</a:t>
                      </a:r>
                    </a:p>
                  </a:txBody>
                  <a:tcPr marL="0" marR="0" marT="0" marB="0" anchor="t" anchorCtr="0" horzOverflow="overflow"/>
                </a:tc>
                <a:tc>
                  <a:txBody>
                    <a:bodyPr/>
                    <a:lstStyle/>
                    <a:p>
                      <a:pPr algn="ctr">
                        <a:defRPr sz="1800">
                          <a:solidFill>
                            <a:srgbClr val="000000"/>
                          </a:solidFill>
                        </a:defRPr>
                      </a:pPr>
                      <a:r>
                        <a:rPr sz="1600">
                          <a:solidFill>
                            <a:srgbClr val="5A6065"/>
                          </a:solidFill>
                        </a:rPr>
                        <a:t>Quick interactive tests (no sbatch)</a:t>
                      </a:r>
                    </a:p>
                  </a:txBody>
                  <a:tcPr marL="0" marR="0" marT="0" marB="0" anchor="t" anchorCtr="0" horzOverflow="overflow"/>
                </a:tc>
              </a:tr>
              <a:tr h="495300">
                <a:tc>
                  <a:txBody>
                    <a:bodyPr/>
                    <a:lstStyle/>
                    <a:p>
                      <a:pPr algn="ctr">
                        <a:defRPr b="0" sz="1800">
                          <a:solidFill>
                            <a:srgbClr val="000000"/>
                          </a:solidFill>
                        </a:defRPr>
                      </a:pPr>
                      <a:r>
                        <a:rPr sz="1600">
                          <a:solidFill>
                            <a:srgbClr val="5A6065"/>
                          </a:solidFill>
                        </a:rPr>
                        <a:t>pot-hpi-aisc-interactive</a:t>
                      </a:r>
                    </a:p>
                  </a:txBody>
                  <a:tcPr marL="0" marR="0" marT="0" marB="0" anchor="t" anchorCtr="0" horzOverflow="overflow"/>
                </a:tc>
                <a:tc>
                  <a:txBody>
                    <a:bodyPr/>
                    <a:lstStyle/>
                    <a:p>
                      <a:pPr algn="ctr">
                        <a:defRPr sz="1800">
                          <a:solidFill>
                            <a:srgbClr val="000000"/>
                          </a:solidFill>
                        </a:defRPr>
                      </a:pPr>
                      <a:r>
                        <a:rPr sz="1600">
                          <a:solidFill>
                            <a:srgbClr val="5A6065"/>
                          </a:solidFill>
                        </a:rPr>
                        <a:t>8h</a:t>
                      </a:r>
                    </a:p>
                  </a:txBody>
                  <a:tcPr marL="0" marR="0" marT="0" marB="0" anchor="t" anchorCtr="0" horzOverflow="overflow"/>
                </a:tc>
                <a:tc>
                  <a:txBody>
                    <a:bodyPr/>
                    <a:lstStyle/>
                    <a:p>
                      <a:pPr algn="ctr">
                        <a:defRPr sz="1800">
                          <a:solidFill>
                            <a:srgbClr val="000000"/>
                          </a:solidFill>
                        </a:defRPr>
                      </a:pPr>
                      <a:r>
                        <a:rPr sz="1600">
                          <a:solidFill>
                            <a:srgbClr val="5A6065"/>
                          </a:solidFill>
                        </a:rPr>
                        <a:t>Interactive terminal, testing</a:t>
                      </a:r>
                    </a:p>
                  </a:txBody>
                  <a:tcPr marL="0" marR="0" marT="0" marB="0" anchor="t" anchorCtr="0" horzOverflow="overflow"/>
                </a:tc>
              </a:tr>
              <a:tr h="254000">
                <a:tc>
                  <a:txBody>
                    <a:bodyPr/>
                    <a:lstStyle/>
                    <a:p>
                      <a:pPr algn="ctr">
                        <a:defRPr b="0" sz="1800">
                          <a:solidFill>
                            <a:srgbClr val="000000"/>
                          </a:solidFill>
                        </a:defRPr>
                      </a:pPr>
                      <a:r>
                        <a:rPr sz="1600">
                          <a:solidFill>
                            <a:srgbClr val="5A6065"/>
                          </a:solidFill>
                        </a:rPr>
                        <a:t>pot-hpi-aisc-batch</a:t>
                      </a:r>
                    </a:p>
                  </a:txBody>
                  <a:tcPr marL="0" marR="0" marT="0" marB="0" anchor="t" anchorCtr="0" horzOverflow="overflow"/>
                </a:tc>
                <a:tc>
                  <a:txBody>
                    <a:bodyPr/>
                    <a:lstStyle/>
                    <a:p>
                      <a:pPr algn="ctr">
                        <a:defRPr sz="1800">
                          <a:solidFill>
                            <a:srgbClr val="000000"/>
                          </a:solidFill>
                        </a:defRPr>
                      </a:pPr>
                      <a:r>
                        <a:rPr sz="1600">
                          <a:solidFill>
                            <a:srgbClr val="5A6065"/>
                          </a:solidFill>
                        </a:rPr>
                        <a:t>7 days</a:t>
                      </a:r>
                    </a:p>
                  </a:txBody>
                  <a:tcPr marL="0" marR="0" marT="0" marB="0" anchor="t" anchorCtr="0" horzOverflow="overflow"/>
                </a:tc>
                <a:tc>
                  <a:txBody>
                    <a:bodyPr/>
                    <a:lstStyle/>
                    <a:p>
                      <a:pPr algn="ctr">
                        <a:defRPr sz="1800">
                          <a:solidFill>
                            <a:srgbClr val="000000"/>
                          </a:solidFill>
                        </a:defRPr>
                      </a:pPr>
                      <a:r>
                        <a:rPr sz="1600">
                          <a:solidFill>
                            <a:srgbClr val="5A6065"/>
                          </a:solidFill>
                        </a:rPr>
                        <a:t>Long training runs  (only accessible via sbatch jobs)</a:t>
                      </a:r>
                    </a:p>
                  </a:txBody>
                  <a:tcPr marL="0" marR="0" marT="0" marB="0" anchor="t" anchorCtr="0" horzOverflow="overflow"/>
                </a:tc>
              </a:tr>
            </a:tbl>
          </a:graphicData>
        </a:graphic>
      </p:graphicFrame>
      <p:sp>
        <p:nvSpPr>
          <p:cNvPr id="467" name="Account: Your project’s billing code. In our case it is always `aisc`.       —&gt; You can find out which accounts you have via `saccount`…"/>
          <p:cNvSpPr txBox="1"/>
          <p:nvPr/>
        </p:nvSpPr>
        <p:spPr>
          <a:xfrm>
            <a:off x="2764874" y="4074140"/>
            <a:ext cx="8978420" cy="447628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80473" indent="-180473">
              <a:lnSpc>
                <a:spcPct val="150000"/>
              </a:lnSpc>
              <a:buSzPct val="100000"/>
              <a:buChar char="•"/>
            </a:pPr>
            <a:r>
              <a:t>Account: Your project’s billing code. In our case it is always `aisc`.</a:t>
            </a:r>
            <a:br/>
            <a:r>
              <a:t>      —&gt; You can find out which accounts you have via `saccount`</a:t>
            </a:r>
          </a:p>
          <a:p>
            <a:pPr marL="180473" indent="-180473">
              <a:lnSpc>
                <a:spcPct val="150000"/>
              </a:lnSpc>
              <a:buSzPct val="100000"/>
              <a:buChar char="•"/>
            </a:pPr>
          </a:p>
          <a:p>
            <a:pPr marL="180473" indent="-180473">
              <a:lnSpc>
                <a:spcPct val="150000"/>
              </a:lnSpc>
              <a:buSzPct val="100000"/>
              <a:buChar char="•"/>
            </a:pPr>
            <a:r>
              <a:t>Quality of Service (QOS): Used to prioritize certain jobs. We use `aisc`. </a:t>
            </a:r>
          </a:p>
          <a:p>
            <a:pPr>
              <a:lnSpc>
                <a:spcPct val="150000"/>
              </a:lnSpc>
            </a:pPr>
            <a:r>
              <a:t>        —&gt; You will likely not need to use this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9"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1"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Commands</a:t>
            </a:r>
          </a:p>
        </p:txBody>
      </p:sp>
      <p:pic>
        <p:nvPicPr>
          <p:cNvPr id="47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7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4" name="Screenshot 2026-04-09 at 17.23.26.png" descr="Screenshot 2026-04-09 at 17.23.26.png"/>
          <p:cNvPicPr>
            <a:picLocks noChangeAspect="1"/>
          </p:cNvPicPr>
          <p:nvPr/>
        </p:nvPicPr>
        <p:blipFill>
          <a:blip r:embed="rId5">
            <a:extLst/>
          </a:blip>
          <a:stretch>
            <a:fillRect/>
          </a:stretch>
        </p:blipFill>
        <p:spPr>
          <a:xfrm>
            <a:off x="2487937" y="997490"/>
            <a:ext cx="9457006" cy="5526146"/>
          </a:xfrm>
          <a:prstGeom prst="rect">
            <a:avLst/>
          </a:prstGeom>
          <a:ln w="12700">
            <a:miter lim="400000"/>
          </a:ln>
        </p:spPr>
      </p:pic>
      <p:sp>
        <p:nvSpPr>
          <p:cNvPr id="475" name="https://docs.sc.hpi.de/cluster/SLURM/Basics/"/>
          <p:cNvSpPr txBox="1"/>
          <p:nvPr/>
        </p:nvSpPr>
        <p:spPr>
          <a:xfrm>
            <a:off x="5419583" y="6430920"/>
            <a:ext cx="3593714"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1200"/>
            </a:lvl1pPr>
          </a:lstStyle>
          <a:p>
            <a:pPr/>
            <a:r>
              <a:t>https://docs.sc.hpi.de/cluster/SLURM/Basics/</a:t>
            </a:r>
          </a:p>
        </p:txBody>
      </p:sp>
      <p:sp>
        <p:nvSpPr>
          <p:cNvPr id="476" name="Rounded Rectangle"/>
          <p:cNvSpPr/>
          <p:nvPr/>
        </p:nvSpPr>
        <p:spPr>
          <a:xfrm>
            <a:off x="2626380" y="1600611"/>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
        <p:nvSpPr>
          <p:cNvPr id="477" name="Rounded Rectangle"/>
          <p:cNvSpPr/>
          <p:nvPr/>
        </p:nvSpPr>
        <p:spPr>
          <a:xfrm>
            <a:off x="2626380" y="5084113"/>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1"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8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8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84"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85" name="Screenshot 2026-04-20 at 17.08.03.png" descr="Screenshot 2026-04-20 at 17.08.03.png"/>
          <p:cNvPicPr>
            <a:picLocks noChangeAspect="1"/>
          </p:cNvPicPr>
          <p:nvPr/>
        </p:nvPicPr>
        <p:blipFill>
          <a:blip r:embed="rId5">
            <a:extLst/>
          </a:blip>
          <a:stretch>
            <a:fillRect/>
          </a:stretch>
        </p:blipFill>
        <p:spPr>
          <a:xfrm>
            <a:off x="2695359" y="4236958"/>
            <a:ext cx="9004301"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7"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9"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9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92"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93" name="Screenshot 2026-04-20 at 17.08.03.png" descr="Screenshot 2026-04-20 at 17.08.03.png"/>
          <p:cNvPicPr>
            <a:picLocks noChangeAspect="1"/>
          </p:cNvPicPr>
          <p:nvPr/>
        </p:nvPicPr>
        <p:blipFill>
          <a:blip r:embed="rId5">
            <a:alphaModFix amt="50462"/>
            <a:extLst/>
          </a:blip>
          <a:stretch>
            <a:fillRect/>
          </a:stretch>
        </p:blipFill>
        <p:spPr>
          <a:xfrm>
            <a:off x="2695359" y="4236958"/>
            <a:ext cx="9004301" cy="2387601"/>
          </a:xfrm>
          <a:prstGeom prst="rect">
            <a:avLst/>
          </a:prstGeom>
          <a:ln w="12700">
            <a:miter lim="400000"/>
          </a:ln>
        </p:spPr>
      </p:pic>
      <p:pic>
        <p:nvPicPr>
          <p:cNvPr id="494" name="Screenshot 2026-04-20 at 17.09.38.png" descr="Screenshot 2026-04-20 at 17.09.38.png"/>
          <p:cNvPicPr>
            <a:picLocks noChangeAspect="1"/>
          </p:cNvPicPr>
          <p:nvPr/>
        </p:nvPicPr>
        <p:blipFill>
          <a:blip r:embed="rId6">
            <a:extLst/>
          </a:blip>
          <a:stretch>
            <a:fillRect/>
          </a:stretch>
        </p:blipFill>
        <p:spPr>
          <a:xfrm>
            <a:off x="6314928" y="4236958"/>
            <a:ext cx="5727829"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6"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9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9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0"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Rules and Best Practices</a:t>
            </a:r>
          </a:p>
        </p:txBody>
      </p:sp>
      <p:sp>
        <p:nvSpPr>
          <p:cNvPr id="501" name="Where to run things:…"/>
          <p:cNvSpPr txBox="1"/>
          <p:nvPr>
            <p:ph type="body" idx="4294967295"/>
          </p:nvPr>
        </p:nvSpPr>
        <p:spPr>
          <a:xfrm>
            <a:off x="2716184" y="1053845"/>
            <a:ext cx="8978420" cy="5292858"/>
          </a:xfrm>
          <a:prstGeom prst="rect">
            <a:avLst/>
          </a:prstGeom>
        </p:spPr>
        <p:txBody>
          <a:bodyPr/>
          <a:lstStyle/>
          <a:p>
            <a:pPr marL="0" indent="0" defTabSz="859536">
              <a:buClrTx/>
              <a:buSzTx/>
              <a:buNone/>
              <a:defRPr b="1" sz="1692"/>
            </a:pPr>
            <a:r>
              <a:t>Where to run things:</a:t>
            </a:r>
          </a:p>
          <a:p>
            <a:pPr marL="0" indent="0" defTabSz="859536">
              <a:buClrTx/>
              <a:buSzTx/>
              <a:buNone/>
              <a:defRPr sz="1692"/>
            </a:pPr>
            <a:r>
              <a:t>- rx01/02 are for lightweight tasks only, not a substitute for compute nodes</a:t>
            </a:r>
          </a:p>
          <a:p>
            <a:pPr marL="0" indent="0" defTabSz="859536">
              <a:buClrTx/>
              <a:buSzTx/>
              <a:buNone/>
              <a:defRPr sz="1692"/>
            </a:pPr>
          </a:p>
          <a:p>
            <a:pPr marL="0" indent="0" defTabSz="859536">
              <a:buClrTx/>
              <a:buSzTx/>
              <a:buNone/>
              <a:defRPr b="1" sz="1692"/>
            </a:pPr>
            <a:r>
              <a:t>Resource usage:</a:t>
            </a:r>
          </a:p>
          <a:p>
            <a:pPr marL="0" indent="0" defTabSz="859536">
              <a:buClrTx/>
              <a:buSzTx/>
              <a:buNone/>
              <a:defRPr sz="1692"/>
            </a:pPr>
            <a:r>
              <a:t>- Always specify expected time/memory usage!</a:t>
            </a:r>
          </a:p>
          <a:p>
            <a:pPr marL="0" indent="0" defTabSz="859536">
              <a:buClrTx/>
              <a:buSzTx/>
              <a:buNone/>
              <a:defRPr sz="1692"/>
            </a:pPr>
          </a:p>
          <a:p>
            <a:pPr marL="0" indent="0" defTabSz="859536">
              <a:buClrTx/>
              <a:buSzTx/>
              <a:buNone/>
              <a:defRPr b="1" sz="1692"/>
            </a:pPr>
            <a:r>
              <a:t>Batch jobs:</a:t>
            </a:r>
          </a:p>
          <a:p>
            <a:pPr marL="0" indent="0" defTabSz="859536">
              <a:buClrTx/>
              <a:buSzTx/>
              <a:buNone/>
              <a:defRPr sz="1692"/>
            </a:pPr>
            <a:r>
              <a:t>- Prefer sbatch over interactive jobs for anything serious</a:t>
            </a:r>
          </a:p>
          <a:p>
            <a:pPr marL="0" indent="0" defTabSz="859536">
              <a:buClrTx/>
              <a:buSzTx/>
              <a:buNone/>
              <a:defRPr sz="1692"/>
            </a:pPr>
          </a:p>
          <a:p>
            <a:pPr marL="0" indent="0" defTabSz="859536">
              <a:buClrTx/>
              <a:buSzTx/>
              <a:buNone/>
              <a:defRPr b="1" sz="1692"/>
            </a:pPr>
            <a:r>
              <a:t>Being a good cluster citizen:</a:t>
            </a:r>
          </a:p>
          <a:p>
            <a:pPr marL="0" indent="0" defTabSz="859536">
              <a:buClrTx/>
              <a:buSzTx/>
              <a:buNone/>
              <a:defRPr sz="1692"/>
            </a:pPr>
            <a:r>
              <a:t>- Don’t leave idle interactive sessions running. Release resources you’re not using.</a:t>
            </a:r>
          </a:p>
          <a:p>
            <a:pPr marL="0" indent="0" defTabSz="859536">
              <a:buClrTx/>
              <a:buSzTx/>
              <a:buNone/>
              <a:defRPr b="1" sz="1692"/>
            </a:pPr>
          </a:p>
          <a:p>
            <a:pPr marL="0" indent="0" defTabSz="859536">
              <a:buClrTx/>
              <a:buSzTx/>
              <a:buNone/>
              <a:defRPr b="1" sz="1692"/>
            </a:pPr>
            <a:r>
              <a:t>Read the Terms of Usage: </a:t>
            </a:r>
            <a:r>
              <a:rPr u="sng">
                <a:solidFill>
                  <a:schemeClr val="accent1"/>
                </a:solidFill>
                <a:uFill>
                  <a:solidFill>
                    <a:schemeClr val="accent1"/>
                  </a:solidFill>
                </a:uFill>
                <a:hlinkClick r:id="rId5" invalidUrl="" action="" tgtFrame="" tooltip="" history="1" highlightClick="0" endSnd="0"/>
              </a:rPr>
              <a:t>https://docs.sc.hpi.de/Terms-of-Usage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3" name="Screenshot 2026-04-20 at 17.24.12.png" descr="Screenshot 2026-04-20 at 17.24.12.png"/>
          <p:cNvPicPr>
            <a:picLocks noChangeAspect="1"/>
          </p:cNvPicPr>
          <p:nvPr/>
        </p:nvPicPr>
        <p:blipFill>
          <a:blip r:embed="rId2">
            <a:extLst/>
          </a:blip>
          <a:stretch>
            <a:fillRect/>
          </a:stretch>
        </p:blipFill>
        <p:spPr>
          <a:xfrm>
            <a:off x="2719214" y="702889"/>
            <a:ext cx="8608263" cy="5983048"/>
          </a:xfrm>
          <a:prstGeom prst="rect">
            <a:avLst/>
          </a:prstGeom>
          <a:ln w="12700">
            <a:miter lim="400000"/>
          </a:ln>
        </p:spPr>
      </p:pic>
      <p:sp>
        <p:nvSpPr>
          <p:cNvPr id="504"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5"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6"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VSCode Setup</a:t>
            </a:r>
          </a:p>
        </p:txBody>
      </p:sp>
      <p:pic>
        <p:nvPicPr>
          <p:cNvPr id="507"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508"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10" name="Bildplatzhalter 1" descr="Bildplatzhalter 1"/>
          <p:cNvPicPr>
            <a:picLocks noChangeAspect="1"/>
          </p:cNvPicPr>
          <p:nvPr>
            <p:ph type="pic" idx="21"/>
          </p:nvPr>
        </p:nvPicPr>
        <p:blipFill>
          <a:blip r:embed="rId2">
            <a:extLst/>
          </a:blip>
          <a:stretch>
            <a:fillRect/>
          </a:stretch>
        </p:blipFill>
        <p:spPr>
          <a:prstGeom prst="rect">
            <a:avLst/>
          </a:prstGeom>
        </p:spPr>
      </p:pic>
      <p:sp>
        <p:nvSpPr>
          <p:cNvPr id="511" name="Textplatzhalter 2"/>
          <p:cNvSpPr txBox="1"/>
          <p:nvPr>
            <p:ph type="body" sz="quarter" idx="1"/>
          </p:nvPr>
        </p:nvSpPr>
        <p:spPr>
          <a:prstGeom prst="rect">
            <a:avLst/>
          </a:prstGeom>
        </p:spPr>
        <p:txBody>
          <a:bodyPr/>
          <a:lstStyle/>
          <a:p>
            <a:pPr/>
            <a:r>
              <a:t>Short Break</a:t>
            </a:r>
          </a:p>
        </p:txBody>
      </p:sp>
      <p:sp>
        <p:nvSpPr>
          <p:cNvPr id="512" name="Foliennummernplatzhalter 6"/>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513" name="Coffee"/>
          <p:cNvSpPr/>
          <p:nvPr/>
        </p:nvSpPr>
        <p:spPr>
          <a:xfrm>
            <a:off x="5355309" y="2961425"/>
            <a:ext cx="1481382" cy="935150"/>
          </a:xfrm>
          <a:custGeom>
            <a:avLst/>
            <a:gdLst/>
            <a:ahLst/>
            <a:cxnLst>
              <a:cxn ang="0">
                <a:pos x="wd2" y="hd2"/>
              </a:cxn>
              <a:cxn ang="5400000">
                <a:pos x="wd2" y="hd2"/>
              </a:cxn>
              <a:cxn ang="10800000">
                <a:pos x="wd2" y="hd2"/>
              </a:cxn>
              <a:cxn ang="16200000">
                <a:pos x="wd2" y="hd2"/>
              </a:cxn>
            </a:cxnLst>
            <a:rect l="0" t="0" r="r" b="b"/>
            <a:pathLst>
              <a:path w="21524" h="21600" fill="norm" stroke="1" extrusionOk="0">
                <a:moveTo>
                  <a:pt x="3632" y="0"/>
                </a:moveTo>
                <a:cubicBezTo>
                  <a:pt x="3310" y="0"/>
                  <a:pt x="3052" y="422"/>
                  <a:pt x="3063" y="933"/>
                </a:cubicBezTo>
                <a:cubicBezTo>
                  <a:pt x="3133" y="4055"/>
                  <a:pt x="3513" y="14136"/>
                  <a:pt x="5539" y="17628"/>
                </a:cubicBezTo>
                <a:lnTo>
                  <a:pt x="193" y="17628"/>
                </a:lnTo>
                <a:cubicBezTo>
                  <a:pt x="25" y="17628"/>
                  <a:pt x="-45" y="17817"/>
                  <a:pt x="30" y="18055"/>
                </a:cubicBezTo>
                <a:cubicBezTo>
                  <a:pt x="392" y="19213"/>
                  <a:pt x="2458" y="21600"/>
                  <a:pt x="4710" y="21600"/>
                </a:cubicBezTo>
                <a:cubicBezTo>
                  <a:pt x="6340" y="21600"/>
                  <a:pt x="15171" y="21600"/>
                  <a:pt x="16800" y="21600"/>
                </a:cubicBezTo>
                <a:cubicBezTo>
                  <a:pt x="19052" y="21600"/>
                  <a:pt x="21118" y="19213"/>
                  <a:pt x="21480" y="18055"/>
                </a:cubicBezTo>
                <a:cubicBezTo>
                  <a:pt x="21555" y="17817"/>
                  <a:pt x="21485" y="17628"/>
                  <a:pt x="21317" y="17628"/>
                </a:cubicBezTo>
                <a:lnTo>
                  <a:pt x="15393" y="17628"/>
                </a:lnTo>
                <a:cubicBezTo>
                  <a:pt x="15657" y="17172"/>
                  <a:pt x="15893" y="16606"/>
                  <a:pt x="16104" y="15957"/>
                </a:cubicBezTo>
                <a:cubicBezTo>
                  <a:pt x="16236" y="15552"/>
                  <a:pt x="16495" y="15291"/>
                  <a:pt x="16782" y="15291"/>
                </a:cubicBezTo>
                <a:lnTo>
                  <a:pt x="17640" y="15291"/>
                </a:lnTo>
                <a:cubicBezTo>
                  <a:pt x="20190" y="15291"/>
                  <a:pt x="21524" y="11448"/>
                  <a:pt x="21524" y="7654"/>
                </a:cubicBezTo>
                <a:cubicBezTo>
                  <a:pt x="21524" y="4558"/>
                  <a:pt x="20609" y="2922"/>
                  <a:pt x="18877" y="2922"/>
                </a:cubicBezTo>
                <a:lnTo>
                  <a:pt x="18225" y="2922"/>
                </a:lnTo>
                <a:cubicBezTo>
                  <a:pt x="17999" y="2922"/>
                  <a:pt x="17819" y="2620"/>
                  <a:pt x="17831" y="2262"/>
                </a:cubicBezTo>
                <a:cubicBezTo>
                  <a:pt x="17850" y="1741"/>
                  <a:pt x="17860" y="1291"/>
                  <a:pt x="17868" y="933"/>
                </a:cubicBezTo>
                <a:cubicBezTo>
                  <a:pt x="17880" y="422"/>
                  <a:pt x="17623" y="0"/>
                  <a:pt x="17302" y="0"/>
                </a:cubicBezTo>
                <a:lnTo>
                  <a:pt x="3632" y="0"/>
                </a:lnTo>
                <a:close/>
                <a:moveTo>
                  <a:pt x="18465" y="4660"/>
                </a:moveTo>
                <a:lnTo>
                  <a:pt x="18877" y="4660"/>
                </a:lnTo>
                <a:cubicBezTo>
                  <a:pt x="19810" y="4660"/>
                  <a:pt x="20431" y="5169"/>
                  <a:pt x="20431" y="7654"/>
                </a:cubicBezTo>
                <a:cubicBezTo>
                  <a:pt x="20431" y="10024"/>
                  <a:pt x="19688" y="13553"/>
                  <a:pt x="17640" y="13553"/>
                </a:cubicBezTo>
                <a:lnTo>
                  <a:pt x="17403" y="13553"/>
                </a:lnTo>
                <a:cubicBezTo>
                  <a:pt x="17062" y="13553"/>
                  <a:pt x="16817" y="13039"/>
                  <a:pt x="16906" y="12516"/>
                </a:cubicBezTo>
                <a:cubicBezTo>
                  <a:pt x="17276" y="10356"/>
                  <a:pt x="17506" y="7951"/>
                  <a:pt x="17650" y="5830"/>
                </a:cubicBezTo>
                <a:cubicBezTo>
                  <a:pt x="17695" y="5166"/>
                  <a:pt x="18045" y="4660"/>
                  <a:pt x="18465" y="4660"/>
                </a:cubicBezTo>
                <a:close/>
              </a:path>
            </a:pathLst>
          </a:custGeom>
          <a:solidFill>
            <a:schemeClr val="accent1">
              <a:lumOff val="-7176"/>
            </a:schemeClr>
          </a:solidFill>
          <a:ln w="12700">
            <a:solidFill>
              <a:schemeClr val="accent1"/>
            </a:solidFill>
            <a:miter/>
          </a:ln>
        </p:spPr>
        <p:txBody>
          <a:bodyPr lIns="45719" rIns="45719" anchor="ctr"/>
          <a:lstStyle/>
          <a:p>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515" name="Interactive SLURM…"/>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Interactive SLURM</a:t>
            </a:r>
          </a:p>
          <a:p>
            <a:pPr>
              <a:lnSpc>
                <a:spcPct val="100000"/>
              </a:lnSpc>
              <a:spcBef>
                <a:spcPts val="3000"/>
              </a:spcBef>
              <a:defRPr b="1" spc="-10"/>
            </a:pPr>
            <a:r>
              <a:t>Using our Cluster with VSCode interactively.</a:t>
            </a:r>
            <a:br/>
            <a:r>
              <a:t>Follow along!</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517" name="Textplatzhalter 6"/>
          <p:cNvSpPr txBox="1"/>
          <p:nvPr>
            <p:ph type="body" sz="half" idx="1"/>
          </p:nvPr>
        </p:nvSpPr>
        <p:spPr>
          <a:xfrm>
            <a:off x="754379" y="1105199"/>
            <a:ext cx="4836797" cy="5166998"/>
          </a:xfrm>
          <a:prstGeom prst="rect">
            <a:avLst/>
          </a:prstGeom>
        </p:spPr>
        <p:txBody>
          <a:bodyPr/>
          <a:lstStyle/>
          <a:p>
            <a:pPr>
              <a:lnSpc>
                <a:spcPct val="100000"/>
              </a:lnSpc>
              <a:defRPr b="1" spc="-13" sz="3200"/>
            </a:pPr>
            <a:r>
              <a:t>Part II</a:t>
            </a:r>
          </a:p>
          <a:p>
            <a:pPr>
              <a:lnSpc>
                <a:spcPct val="100000"/>
              </a:lnSpc>
              <a:defRPr b="1"/>
            </a:pPr>
            <a:r>
              <a:t>CPUs, GPUs &amp; AI Workloads</a:t>
            </a:r>
          </a:p>
        </p:txBody>
      </p:sp>
      <p:pic>
        <p:nvPicPr>
          <p:cNvPr id="518"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2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2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4"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a:t>
            </a:r>
          </a:p>
        </p:txBody>
      </p:sp>
      <p:sp>
        <p:nvSpPr>
          <p:cNvPr id="525" name="Central Processing Unit…"/>
          <p:cNvSpPr txBox="1"/>
          <p:nvPr>
            <p:ph type="body" sz="half" idx="4294967295"/>
          </p:nvPr>
        </p:nvSpPr>
        <p:spPr>
          <a:xfrm>
            <a:off x="2686057" y="1105588"/>
            <a:ext cx="8970824" cy="2266810"/>
          </a:xfrm>
          <a:prstGeom prst="rect">
            <a:avLst/>
          </a:prstGeom>
        </p:spPr>
        <p:txBody>
          <a:bodyPr/>
          <a:lstStyle/>
          <a:p>
            <a:pPr marL="0" indent="0">
              <a:buClrTx/>
              <a:buSzTx/>
              <a:buNone/>
              <a:defRPr b="1" sz="2200"/>
            </a:pPr>
            <a:r>
              <a:t>Central Processing Unit</a:t>
            </a:r>
          </a:p>
          <a:p>
            <a:pPr marL="508000" indent="-254000">
              <a:buClrTx/>
              <a:buChar char="•"/>
            </a:pPr>
            <a:r>
              <a:t>Few powerful cores, optimized for sequential tasks</a:t>
            </a:r>
          </a:p>
          <a:p>
            <a:pPr marL="508000" indent="-254000">
              <a:buClrTx/>
              <a:buChar char="•"/>
            </a:pPr>
            <a:r>
              <a:t>Handles logic, branching, control flow, I/O</a:t>
            </a:r>
          </a:p>
          <a:p>
            <a:pPr marL="508000" indent="-254000">
              <a:buClrTx/>
              <a:buChar char="•"/>
            </a:pPr>
            <a:r>
              <a:t>Our H100 nodes: </a:t>
            </a:r>
          </a:p>
          <a:p>
            <a:pPr lvl="2" marL="1016000" indent="-254000">
              <a:buClrTx/>
              <a:buChar char="•"/>
            </a:pPr>
            <a:r>
              <a:t>2x Intel Xeon 8480C, 112 cores (224 threads)</a:t>
            </a:r>
          </a:p>
        </p:txBody>
      </p:sp>
      <p:grpSp>
        <p:nvGrpSpPr>
          <p:cNvPr id="536" name="Group"/>
          <p:cNvGrpSpPr/>
          <p:nvPr/>
        </p:nvGrpSpPr>
        <p:grpSpPr>
          <a:xfrm>
            <a:off x="3183050" y="3583717"/>
            <a:ext cx="4006478" cy="2504502"/>
            <a:chOff x="0" y="0"/>
            <a:chExt cx="4006476" cy="2504500"/>
          </a:xfrm>
        </p:grpSpPr>
        <p:sp>
          <p:nvSpPr>
            <p:cNvPr id="526" name="Rectangle"/>
            <p:cNvSpPr/>
            <p:nvPr/>
          </p:nvSpPr>
          <p:spPr>
            <a:xfrm>
              <a:off x="0" y="409000"/>
              <a:ext cx="4006477"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27" name="Core 1"/>
            <p:cNvSpPr/>
            <p:nvPr/>
          </p:nvSpPr>
          <p:spPr>
            <a:xfrm>
              <a:off x="141454"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1</a:t>
              </a:r>
            </a:p>
          </p:txBody>
        </p:sp>
        <p:sp>
          <p:nvSpPr>
            <p:cNvPr id="528" name="Core 2"/>
            <p:cNvSpPr/>
            <p:nvPr/>
          </p:nvSpPr>
          <p:spPr>
            <a:xfrm>
              <a:off x="112864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2</a:t>
              </a:r>
            </a:p>
          </p:txBody>
        </p:sp>
        <p:sp>
          <p:nvSpPr>
            <p:cNvPr id="529" name="Core 3"/>
            <p:cNvSpPr/>
            <p:nvPr/>
          </p:nvSpPr>
          <p:spPr>
            <a:xfrm>
              <a:off x="211583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3</a:t>
              </a:r>
            </a:p>
          </p:txBody>
        </p:sp>
        <p:sp>
          <p:nvSpPr>
            <p:cNvPr id="530" name="Core 4"/>
            <p:cNvSpPr/>
            <p:nvPr/>
          </p:nvSpPr>
          <p:spPr>
            <a:xfrm>
              <a:off x="3103022"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4</a:t>
              </a:r>
            </a:p>
          </p:txBody>
        </p:sp>
        <p:sp>
          <p:nvSpPr>
            <p:cNvPr id="531" name="Core 5"/>
            <p:cNvSpPr/>
            <p:nvPr/>
          </p:nvSpPr>
          <p:spPr>
            <a:xfrm>
              <a:off x="141454"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5</a:t>
              </a:r>
            </a:p>
          </p:txBody>
        </p:sp>
        <p:sp>
          <p:nvSpPr>
            <p:cNvPr id="532" name="Core 6"/>
            <p:cNvSpPr/>
            <p:nvPr/>
          </p:nvSpPr>
          <p:spPr>
            <a:xfrm>
              <a:off x="112864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6</a:t>
              </a:r>
            </a:p>
          </p:txBody>
        </p:sp>
        <p:sp>
          <p:nvSpPr>
            <p:cNvPr id="533" name="Core 7"/>
            <p:cNvSpPr/>
            <p:nvPr/>
          </p:nvSpPr>
          <p:spPr>
            <a:xfrm>
              <a:off x="211583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7</a:t>
              </a:r>
            </a:p>
          </p:txBody>
        </p:sp>
        <p:sp>
          <p:nvSpPr>
            <p:cNvPr id="534" name="Core 8"/>
            <p:cNvSpPr/>
            <p:nvPr/>
          </p:nvSpPr>
          <p:spPr>
            <a:xfrm>
              <a:off x="3103022"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8</a:t>
              </a:r>
            </a:p>
          </p:txBody>
        </p:sp>
        <p:sp>
          <p:nvSpPr>
            <p:cNvPr id="535" name="CPU"/>
            <p:cNvSpPr txBox="1"/>
            <p:nvPr/>
          </p:nvSpPr>
          <p:spPr>
            <a:xfrm>
              <a:off x="1691872" y="0"/>
              <a:ext cx="622732"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CPU</a:t>
              </a:r>
            </a:p>
          </p:txBody>
        </p:sp>
      </p:grpSp>
      <p:sp>
        <p:nvSpPr>
          <p:cNvPr id="537" name="Each core handles one task at a time"/>
          <p:cNvSpPr txBox="1"/>
          <p:nvPr/>
        </p:nvSpPr>
        <p:spPr>
          <a:xfrm>
            <a:off x="8700754" y="4715348"/>
            <a:ext cx="2459134"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Each core handles one task at a time</a:t>
            </a:r>
          </a:p>
        </p:txBody>
      </p:sp>
      <p:sp>
        <p:nvSpPr>
          <p:cNvPr id="538" name="Arrow"/>
          <p:cNvSpPr/>
          <p:nvPr/>
        </p:nvSpPr>
        <p:spPr>
          <a:xfrm>
            <a:off x="7175748" y="4724672"/>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536"/>
                                        </p:tgtEl>
                                        <p:attrNameLst>
                                          <p:attrName>style.visibility</p:attrName>
                                        </p:attrNameLst>
                                      </p:cBhvr>
                                      <p:to>
                                        <p:strVal val="visible"/>
                                      </p:to>
                                    </p:set>
                                    <p:animEffect filter="fade" transition="in">
                                      <p:cBhvr>
                                        <p:cTn id="7" dur="1000"/>
                                        <p:tgtEl>
                                          <p:spTgt spid="536"/>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38"/>
                                        </p:tgtEl>
                                        <p:attrNameLst>
                                          <p:attrName>style.visibility</p:attrName>
                                        </p:attrNameLst>
                                      </p:cBhvr>
                                      <p:to>
                                        <p:strVal val="visible"/>
                                      </p:to>
                                    </p:set>
                                    <p:animEffect filter="wipe(left)" transition="in">
                                      <p:cBhvr>
                                        <p:cTn id="11" dur="1000"/>
                                        <p:tgtEl>
                                          <p:spTgt spid="538"/>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37"/>
                                        </p:tgtEl>
                                        <p:attrNameLst>
                                          <p:attrName>style.visibility</p:attrName>
                                        </p:attrNameLst>
                                      </p:cBhvr>
                                      <p:to>
                                        <p:strVal val="visible"/>
                                      </p:to>
                                    </p:set>
                                    <p:animEffect filter="fade" transition="in">
                                      <p:cBhvr>
                                        <p:cTn id="15" dur="1000"/>
                                        <p:tgtEl>
                                          <p:spTgt spid="5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37" grpId="3"/>
      <p:bldP build="whole" bldLvl="1" animBg="1" rev="0" advAuto="0" spid="536" grpId="1"/>
      <p:bldP build="whole" bldLvl="1" animBg="1" rev="0" advAuto="0" spid="538" grpId="2"/>
    </p:bld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4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4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4"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GPU</a:t>
            </a:r>
          </a:p>
        </p:txBody>
      </p:sp>
      <p:sp>
        <p:nvSpPr>
          <p:cNvPr id="545" name="Graphics Processing Unit…"/>
          <p:cNvSpPr txBox="1"/>
          <p:nvPr>
            <p:ph type="body" sz="half" idx="4294967295"/>
          </p:nvPr>
        </p:nvSpPr>
        <p:spPr>
          <a:xfrm>
            <a:off x="2686057" y="1105588"/>
            <a:ext cx="8984676" cy="2528984"/>
          </a:xfrm>
          <a:prstGeom prst="rect">
            <a:avLst/>
          </a:prstGeom>
        </p:spPr>
        <p:txBody>
          <a:bodyPr/>
          <a:lstStyle/>
          <a:p>
            <a:pPr marL="0" indent="0">
              <a:buClrTx/>
              <a:buSzTx/>
              <a:buNone/>
              <a:defRPr b="1" sz="2200"/>
            </a:pPr>
            <a:r>
              <a:t>Graphics Processing Unit</a:t>
            </a:r>
          </a:p>
          <a:p>
            <a:pPr marL="508000" indent="-254000">
              <a:buClrTx/>
              <a:buChar char="•"/>
            </a:pPr>
            <a:r>
              <a:t>Originally designed for rendering pixels on screen</a:t>
            </a:r>
          </a:p>
          <a:p>
            <a:pPr marL="508000" indent="-254000">
              <a:buClrTx/>
              <a:buChar char="•"/>
            </a:pPr>
            <a:r>
              <a:t>Thousands of small, simple cores working in parallel</a:t>
            </a:r>
          </a:p>
          <a:p>
            <a:pPr marL="508000" indent="-254000">
              <a:buClrTx/>
              <a:buChar char="•"/>
            </a:pPr>
            <a:r>
              <a:t>One H100 has 16,896 CUDA cores (vs 112 CPU cores on the same node)</a:t>
            </a:r>
          </a:p>
          <a:p>
            <a:pPr marL="508000" indent="-254000">
              <a:buClrTx/>
              <a:buChar char="•"/>
            </a:pPr>
            <a:r>
              <a:t>Key insight: the same parallelism that renders pixels also powers matrix multiplications in neural networks</a:t>
            </a:r>
          </a:p>
        </p:txBody>
      </p:sp>
      <p:sp>
        <p:nvSpPr>
          <p:cNvPr id="546" name="Thousands of cores each doing one simple operation"/>
          <p:cNvSpPr txBox="1"/>
          <p:nvPr/>
        </p:nvSpPr>
        <p:spPr>
          <a:xfrm>
            <a:off x="8422519" y="4935244"/>
            <a:ext cx="3288146"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Thousands of cores each doing one simple operation</a:t>
            </a:r>
          </a:p>
        </p:txBody>
      </p:sp>
      <p:sp>
        <p:nvSpPr>
          <p:cNvPr id="547" name="Arrow"/>
          <p:cNvSpPr/>
          <p:nvPr/>
        </p:nvSpPr>
        <p:spPr>
          <a:xfrm>
            <a:off x="7045973" y="4944568"/>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grpSp>
        <p:nvGrpSpPr>
          <p:cNvPr id="1154" name="Group"/>
          <p:cNvGrpSpPr/>
          <p:nvPr/>
        </p:nvGrpSpPr>
        <p:grpSpPr>
          <a:xfrm>
            <a:off x="3183050" y="3788217"/>
            <a:ext cx="3886974" cy="2504502"/>
            <a:chOff x="0" y="0"/>
            <a:chExt cx="3886972" cy="2504500"/>
          </a:xfrm>
        </p:grpSpPr>
        <p:sp>
          <p:nvSpPr>
            <p:cNvPr id="548" name="Rectangle"/>
            <p:cNvSpPr/>
            <p:nvPr/>
          </p:nvSpPr>
          <p:spPr>
            <a:xfrm>
              <a:off x="0" y="409000"/>
              <a:ext cx="3886973"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49" name="GPU"/>
            <p:cNvSpPr txBox="1"/>
            <p:nvPr/>
          </p:nvSpPr>
          <p:spPr>
            <a:xfrm>
              <a:off x="1691871" y="0"/>
              <a:ext cx="642713"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GPU</a:t>
              </a:r>
            </a:p>
          </p:txBody>
        </p:sp>
        <p:grpSp>
          <p:nvGrpSpPr>
            <p:cNvPr id="700" name="Group"/>
            <p:cNvGrpSpPr/>
            <p:nvPr/>
          </p:nvGrpSpPr>
          <p:grpSpPr>
            <a:xfrm>
              <a:off x="69161" y="475091"/>
              <a:ext cx="1857250" cy="957326"/>
              <a:chOff x="0" y="0"/>
              <a:chExt cx="1857249" cy="957324"/>
            </a:xfrm>
          </p:grpSpPr>
          <p:grpSp>
            <p:nvGrpSpPr>
              <p:cNvPr id="624" name="Group"/>
              <p:cNvGrpSpPr/>
              <p:nvPr/>
            </p:nvGrpSpPr>
            <p:grpSpPr>
              <a:xfrm>
                <a:off x="-1" y="0"/>
                <a:ext cx="911161" cy="957325"/>
                <a:chOff x="0" y="0"/>
                <a:chExt cx="911159" cy="957324"/>
              </a:xfrm>
            </p:grpSpPr>
            <p:grpSp>
              <p:nvGrpSpPr>
                <p:cNvPr id="586" name="Group"/>
                <p:cNvGrpSpPr/>
                <p:nvPr/>
              </p:nvGrpSpPr>
              <p:grpSpPr>
                <a:xfrm>
                  <a:off x="-1" y="0"/>
                  <a:ext cx="435648" cy="957325"/>
                  <a:chOff x="0" y="0"/>
                  <a:chExt cx="435646" cy="957324"/>
                </a:xfrm>
              </p:grpSpPr>
              <p:grpSp>
                <p:nvGrpSpPr>
                  <p:cNvPr id="558" name="Group"/>
                  <p:cNvGrpSpPr/>
                  <p:nvPr/>
                </p:nvGrpSpPr>
                <p:grpSpPr>
                  <a:xfrm>
                    <a:off x="0" y="0"/>
                    <a:ext cx="80443" cy="957325"/>
                    <a:chOff x="0" y="0"/>
                    <a:chExt cx="80442" cy="957324"/>
                  </a:xfrm>
                </p:grpSpPr>
                <p:sp>
                  <p:nvSpPr>
                    <p:cNvPr id="55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67" name="Group"/>
                  <p:cNvGrpSpPr/>
                  <p:nvPr/>
                </p:nvGrpSpPr>
                <p:grpSpPr>
                  <a:xfrm>
                    <a:off x="118401" y="0"/>
                    <a:ext cx="80443" cy="957325"/>
                    <a:chOff x="0" y="0"/>
                    <a:chExt cx="80442" cy="957324"/>
                  </a:xfrm>
                </p:grpSpPr>
                <p:sp>
                  <p:nvSpPr>
                    <p:cNvPr id="55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76" name="Group"/>
                  <p:cNvGrpSpPr/>
                  <p:nvPr/>
                </p:nvGrpSpPr>
                <p:grpSpPr>
                  <a:xfrm>
                    <a:off x="236802" y="0"/>
                    <a:ext cx="80444" cy="957325"/>
                    <a:chOff x="0" y="0"/>
                    <a:chExt cx="80442" cy="957324"/>
                  </a:xfrm>
                </p:grpSpPr>
                <p:sp>
                  <p:nvSpPr>
                    <p:cNvPr id="56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85" name="Group"/>
                  <p:cNvGrpSpPr/>
                  <p:nvPr/>
                </p:nvGrpSpPr>
                <p:grpSpPr>
                  <a:xfrm>
                    <a:off x="355204" y="0"/>
                    <a:ext cx="80443" cy="957325"/>
                    <a:chOff x="0" y="0"/>
                    <a:chExt cx="80442" cy="957324"/>
                  </a:xfrm>
                </p:grpSpPr>
                <p:sp>
                  <p:nvSpPr>
                    <p:cNvPr id="57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623" name="Group"/>
                <p:cNvGrpSpPr/>
                <p:nvPr/>
              </p:nvGrpSpPr>
              <p:grpSpPr>
                <a:xfrm>
                  <a:off x="475513" y="0"/>
                  <a:ext cx="435647" cy="957325"/>
                  <a:chOff x="0" y="0"/>
                  <a:chExt cx="435646" cy="957324"/>
                </a:xfrm>
              </p:grpSpPr>
              <p:grpSp>
                <p:nvGrpSpPr>
                  <p:cNvPr id="595" name="Group"/>
                  <p:cNvGrpSpPr/>
                  <p:nvPr/>
                </p:nvGrpSpPr>
                <p:grpSpPr>
                  <a:xfrm>
                    <a:off x="0" y="0"/>
                    <a:ext cx="80443" cy="957325"/>
                    <a:chOff x="0" y="0"/>
                    <a:chExt cx="80442" cy="957324"/>
                  </a:xfrm>
                </p:grpSpPr>
                <p:sp>
                  <p:nvSpPr>
                    <p:cNvPr id="58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04" name="Group"/>
                  <p:cNvGrpSpPr/>
                  <p:nvPr/>
                </p:nvGrpSpPr>
                <p:grpSpPr>
                  <a:xfrm>
                    <a:off x="118401" y="0"/>
                    <a:ext cx="80443" cy="957325"/>
                    <a:chOff x="0" y="0"/>
                    <a:chExt cx="80442" cy="957324"/>
                  </a:xfrm>
                </p:grpSpPr>
                <p:sp>
                  <p:nvSpPr>
                    <p:cNvPr id="59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13" name="Group"/>
                  <p:cNvGrpSpPr/>
                  <p:nvPr/>
                </p:nvGrpSpPr>
                <p:grpSpPr>
                  <a:xfrm>
                    <a:off x="236802" y="0"/>
                    <a:ext cx="80444" cy="957325"/>
                    <a:chOff x="0" y="0"/>
                    <a:chExt cx="80442" cy="957324"/>
                  </a:xfrm>
                </p:grpSpPr>
                <p:sp>
                  <p:nvSpPr>
                    <p:cNvPr id="6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22" name="Group"/>
                  <p:cNvGrpSpPr/>
                  <p:nvPr/>
                </p:nvGrpSpPr>
                <p:grpSpPr>
                  <a:xfrm>
                    <a:off x="355204" y="0"/>
                    <a:ext cx="80443" cy="957325"/>
                    <a:chOff x="0" y="0"/>
                    <a:chExt cx="80442" cy="957324"/>
                  </a:xfrm>
                </p:grpSpPr>
                <p:sp>
                  <p:nvSpPr>
                    <p:cNvPr id="61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699" name="Group"/>
              <p:cNvGrpSpPr/>
              <p:nvPr/>
            </p:nvGrpSpPr>
            <p:grpSpPr>
              <a:xfrm>
                <a:off x="946089" y="0"/>
                <a:ext cx="911161" cy="957325"/>
                <a:chOff x="0" y="0"/>
                <a:chExt cx="911159" cy="957324"/>
              </a:xfrm>
            </p:grpSpPr>
            <p:grpSp>
              <p:nvGrpSpPr>
                <p:cNvPr id="661" name="Group"/>
                <p:cNvGrpSpPr/>
                <p:nvPr/>
              </p:nvGrpSpPr>
              <p:grpSpPr>
                <a:xfrm>
                  <a:off x="-1" y="0"/>
                  <a:ext cx="435648" cy="957325"/>
                  <a:chOff x="0" y="0"/>
                  <a:chExt cx="435646" cy="957324"/>
                </a:xfrm>
              </p:grpSpPr>
              <p:grpSp>
                <p:nvGrpSpPr>
                  <p:cNvPr id="633" name="Group"/>
                  <p:cNvGrpSpPr/>
                  <p:nvPr/>
                </p:nvGrpSpPr>
                <p:grpSpPr>
                  <a:xfrm>
                    <a:off x="0" y="0"/>
                    <a:ext cx="80443" cy="957325"/>
                    <a:chOff x="0" y="0"/>
                    <a:chExt cx="80442" cy="957324"/>
                  </a:xfrm>
                </p:grpSpPr>
                <p:sp>
                  <p:nvSpPr>
                    <p:cNvPr id="62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42" name="Group"/>
                  <p:cNvGrpSpPr/>
                  <p:nvPr/>
                </p:nvGrpSpPr>
                <p:grpSpPr>
                  <a:xfrm>
                    <a:off x="118401" y="0"/>
                    <a:ext cx="80443" cy="957325"/>
                    <a:chOff x="0" y="0"/>
                    <a:chExt cx="80442" cy="957324"/>
                  </a:xfrm>
                </p:grpSpPr>
                <p:sp>
                  <p:nvSpPr>
                    <p:cNvPr id="63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51" name="Group"/>
                  <p:cNvGrpSpPr/>
                  <p:nvPr/>
                </p:nvGrpSpPr>
                <p:grpSpPr>
                  <a:xfrm>
                    <a:off x="236802" y="0"/>
                    <a:ext cx="80444" cy="957325"/>
                    <a:chOff x="0" y="0"/>
                    <a:chExt cx="80442" cy="957324"/>
                  </a:xfrm>
                </p:grpSpPr>
                <p:sp>
                  <p:nvSpPr>
                    <p:cNvPr id="64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60" name="Group"/>
                  <p:cNvGrpSpPr/>
                  <p:nvPr/>
                </p:nvGrpSpPr>
                <p:grpSpPr>
                  <a:xfrm>
                    <a:off x="355204" y="0"/>
                    <a:ext cx="80443" cy="957325"/>
                    <a:chOff x="0" y="0"/>
                    <a:chExt cx="80442" cy="957324"/>
                  </a:xfrm>
                </p:grpSpPr>
                <p:sp>
                  <p:nvSpPr>
                    <p:cNvPr id="65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698" name="Group"/>
                <p:cNvGrpSpPr/>
                <p:nvPr/>
              </p:nvGrpSpPr>
              <p:grpSpPr>
                <a:xfrm>
                  <a:off x="475513" y="0"/>
                  <a:ext cx="435647" cy="957325"/>
                  <a:chOff x="0" y="0"/>
                  <a:chExt cx="435646" cy="957324"/>
                </a:xfrm>
              </p:grpSpPr>
              <p:grpSp>
                <p:nvGrpSpPr>
                  <p:cNvPr id="670" name="Group"/>
                  <p:cNvGrpSpPr/>
                  <p:nvPr/>
                </p:nvGrpSpPr>
                <p:grpSpPr>
                  <a:xfrm>
                    <a:off x="0" y="0"/>
                    <a:ext cx="80443" cy="957325"/>
                    <a:chOff x="0" y="0"/>
                    <a:chExt cx="80442" cy="957324"/>
                  </a:xfrm>
                </p:grpSpPr>
                <p:sp>
                  <p:nvSpPr>
                    <p:cNvPr id="66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79" name="Group"/>
                  <p:cNvGrpSpPr/>
                  <p:nvPr/>
                </p:nvGrpSpPr>
                <p:grpSpPr>
                  <a:xfrm>
                    <a:off x="118401" y="0"/>
                    <a:ext cx="80443" cy="957325"/>
                    <a:chOff x="0" y="0"/>
                    <a:chExt cx="80442" cy="957324"/>
                  </a:xfrm>
                </p:grpSpPr>
                <p:sp>
                  <p:nvSpPr>
                    <p:cNvPr id="67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88" name="Group"/>
                  <p:cNvGrpSpPr/>
                  <p:nvPr/>
                </p:nvGrpSpPr>
                <p:grpSpPr>
                  <a:xfrm>
                    <a:off x="236802" y="0"/>
                    <a:ext cx="80444" cy="957325"/>
                    <a:chOff x="0" y="0"/>
                    <a:chExt cx="80442" cy="957324"/>
                  </a:xfrm>
                </p:grpSpPr>
                <p:sp>
                  <p:nvSpPr>
                    <p:cNvPr id="68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97" name="Group"/>
                  <p:cNvGrpSpPr/>
                  <p:nvPr/>
                </p:nvGrpSpPr>
                <p:grpSpPr>
                  <a:xfrm>
                    <a:off x="355204" y="0"/>
                    <a:ext cx="80443" cy="957325"/>
                    <a:chOff x="0" y="0"/>
                    <a:chExt cx="80442" cy="957324"/>
                  </a:xfrm>
                </p:grpSpPr>
                <p:sp>
                  <p:nvSpPr>
                    <p:cNvPr id="6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851" name="Group"/>
            <p:cNvGrpSpPr/>
            <p:nvPr/>
          </p:nvGrpSpPr>
          <p:grpSpPr>
            <a:xfrm>
              <a:off x="1962866" y="475091"/>
              <a:ext cx="1857250" cy="957326"/>
              <a:chOff x="0" y="0"/>
              <a:chExt cx="1857249" cy="957324"/>
            </a:xfrm>
          </p:grpSpPr>
          <p:grpSp>
            <p:nvGrpSpPr>
              <p:cNvPr id="775" name="Group"/>
              <p:cNvGrpSpPr/>
              <p:nvPr/>
            </p:nvGrpSpPr>
            <p:grpSpPr>
              <a:xfrm>
                <a:off x="-1" y="0"/>
                <a:ext cx="911161" cy="957325"/>
                <a:chOff x="0" y="0"/>
                <a:chExt cx="911159" cy="957324"/>
              </a:xfrm>
            </p:grpSpPr>
            <p:grpSp>
              <p:nvGrpSpPr>
                <p:cNvPr id="737" name="Group"/>
                <p:cNvGrpSpPr/>
                <p:nvPr/>
              </p:nvGrpSpPr>
              <p:grpSpPr>
                <a:xfrm>
                  <a:off x="-1" y="0"/>
                  <a:ext cx="435648" cy="957325"/>
                  <a:chOff x="0" y="0"/>
                  <a:chExt cx="435646" cy="957324"/>
                </a:xfrm>
              </p:grpSpPr>
              <p:grpSp>
                <p:nvGrpSpPr>
                  <p:cNvPr id="709" name="Group"/>
                  <p:cNvGrpSpPr/>
                  <p:nvPr/>
                </p:nvGrpSpPr>
                <p:grpSpPr>
                  <a:xfrm>
                    <a:off x="0" y="0"/>
                    <a:ext cx="80443" cy="957325"/>
                    <a:chOff x="0" y="0"/>
                    <a:chExt cx="80442" cy="957324"/>
                  </a:xfrm>
                </p:grpSpPr>
                <p:sp>
                  <p:nvSpPr>
                    <p:cNvPr id="70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18" name="Group"/>
                  <p:cNvGrpSpPr/>
                  <p:nvPr/>
                </p:nvGrpSpPr>
                <p:grpSpPr>
                  <a:xfrm>
                    <a:off x="118401" y="0"/>
                    <a:ext cx="80443" cy="957325"/>
                    <a:chOff x="0" y="0"/>
                    <a:chExt cx="80442" cy="957324"/>
                  </a:xfrm>
                </p:grpSpPr>
                <p:sp>
                  <p:nvSpPr>
                    <p:cNvPr id="71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27" name="Group"/>
                  <p:cNvGrpSpPr/>
                  <p:nvPr/>
                </p:nvGrpSpPr>
                <p:grpSpPr>
                  <a:xfrm>
                    <a:off x="236802" y="0"/>
                    <a:ext cx="80444" cy="957325"/>
                    <a:chOff x="0" y="0"/>
                    <a:chExt cx="80442" cy="957324"/>
                  </a:xfrm>
                </p:grpSpPr>
                <p:sp>
                  <p:nvSpPr>
                    <p:cNvPr id="71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36" name="Group"/>
                  <p:cNvGrpSpPr/>
                  <p:nvPr/>
                </p:nvGrpSpPr>
                <p:grpSpPr>
                  <a:xfrm>
                    <a:off x="355204" y="0"/>
                    <a:ext cx="80443" cy="957325"/>
                    <a:chOff x="0" y="0"/>
                    <a:chExt cx="80442" cy="957324"/>
                  </a:xfrm>
                </p:grpSpPr>
                <p:sp>
                  <p:nvSpPr>
                    <p:cNvPr id="72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774" name="Group"/>
                <p:cNvGrpSpPr/>
                <p:nvPr/>
              </p:nvGrpSpPr>
              <p:grpSpPr>
                <a:xfrm>
                  <a:off x="475513" y="0"/>
                  <a:ext cx="435647" cy="957325"/>
                  <a:chOff x="0" y="0"/>
                  <a:chExt cx="435646" cy="957324"/>
                </a:xfrm>
              </p:grpSpPr>
              <p:grpSp>
                <p:nvGrpSpPr>
                  <p:cNvPr id="746" name="Group"/>
                  <p:cNvGrpSpPr/>
                  <p:nvPr/>
                </p:nvGrpSpPr>
                <p:grpSpPr>
                  <a:xfrm>
                    <a:off x="0" y="0"/>
                    <a:ext cx="80443" cy="957325"/>
                    <a:chOff x="0" y="0"/>
                    <a:chExt cx="80442" cy="957324"/>
                  </a:xfrm>
                </p:grpSpPr>
                <p:sp>
                  <p:nvSpPr>
                    <p:cNvPr id="73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55" name="Group"/>
                  <p:cNvGrpSpPr/>
                  <p:nvPr/>
                </p:nvGrpSpPr>
                <p:grpSpPr>
                  <a:xfrm>
                    <a:off x="118401" y="0"/>
                    <a:ext cx="80443" cy="957325"/>
                    <a:chOff x="0" y="0"/>
                    <a:chExt cx="80442" cy="957324"/>
                  </a:xfrm>
                </p:grpSpPr>
                <p:sp>
                  <p:nvSpPr>
                    <p:cNvPr id="74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64" name="Group"/>
                  <p:cNvGrpSpPr/>
                  <p:nvPr/>
                </p:nvGrpSpPr>
                <p:grpSpPr>
                  <a:xfrm>
                    <a:off x="236802" y="0"/>
                    <a:ext cx="80444" cy="957325"/>
                    <a:chOff x="0" y="0"/>
                    <a:chExt cx="80442" cy="957324"/>
                  </a:xfrm>
                </p:grpSpPr>
                <p:sp>
                  <p:nvSpPr>
                    <p:cNvPr id="75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73" name="Group"/>
                  <p:cNvGrpSpPr/>
                  <p:nvPr/>
                </p:nvGrpSpPr>
                <p:grpSpPr>
                  <a:xfrm>
                    <a:off x="355204" y="0"/>
                    <a:ext cx="80443" cy="957325"/>
                    <a:chOff x="0" y="0"/>
                    <a:chExt cx="80442" cy="957324"/>
                  </a:xfrm>
                </p:grpSpPr>
                <p:sp>
                  <p:nvSpPr>
                    <p:cNvPr id="76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850" name="Group"/>
              <p:cNvGrpSpPr/>
              <p:nvPr/>
            </p:nvGrpSpPr>
            <p:grpSpPr>
              <a:xfrm>
                <a:off x="946089" y="0"/>
                <a:ext cx="911161" cy="957325"/>
                <a:chOff x="0" y="0"/>
                <a:chExt cx="911159" cy="957324"/>
              </a:xfrm>
            </p:grpSpPr>
            <p:grpSp>
              <p:nvGrpSpPr>
                <p:cNvPr id="812" name="Group"/>
                <p:cNvGrpSpPr/>
                <p:nvPr/>
              </p:nvGrpSpPr>
              <p:grpSpPr>
                <a:xfrm>
                  <a:off x="-1" y="0"/>
                  <a:ext cx="435648" cy="957325"/>
                  <a:chOff x="0" y="0"/>
                  <a:chExt cx="435646" cy="957324"/>
                </a:xfrm>
              </p:grpSpPr>
              <p:grpSp>
                <p:nvGrpSpPr>
                  <p:cNvPr id="784" name="Group"/>
                  <p:cNvGrpSpPr/>
                  <p:nvPr/>
                </p:nvGrpSpPr>
                <p:grpSpPr>
                  <a:xfrm>
                    <a:off x="0" y="0"/>
                    <a:ext cx="80443" cy="957325"/>
                    <a:chOff x="0" y="0"/>
                    <a:chExt cx="80442" cy="957324"/>
                  </a:xfrm>
                </p:grpSpPr>
                <p:sp>
                  <p:nvSpPr>
                    <p:cNvPr id="77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93" name="Group"/>
                  <p:cNvGrpSpPr/>
                  <p:nvPr/>
                </p:nvGrpSpPr>
                <p:grpSpPr>
                  <a:xfrm>
                    <a:off x="118401" y="0"/>
                    <a:ext cx="80443" cy="957325"/>
                    <a:chOff x="0" y="0"/>
                    <a:chExt cx="80442" cy="957324"/>
                  </a:xfrm>
                </p:grpSpPr>
                <p:sp>
                  <p:nvSpPr>
                    <p:cNvPr id="78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02" name="Group"/>
                  <p:cNvGrpSpPr/>
                  <p:nvPr/>
                </p:nvGrpSpPr>
                <p:grpSpPr>
                  <a:xfrm>
                    <a:off x="236802" y="0"/>
                    <a:ext cx="80444" cy="957325"/>
                    <a:chOff x="0" y="0"/>
                    <a:chExt cx="80442" cy="957324"/>
                  </a:xfrm>
                </p:grpSpPr>
                <p:sp>
                  <p:nvSpPr>
                    <p:cNvPr id="79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11" name="Group"/>
                  <p:cNvGrpSpPr/>
                  <p:nvPr/>
                </p:nvGrpSpPr>
                <p:grpSpPr>
                  <a:xfrm>
                    <a:off x="355204" y="0"/>
                    <a:ext cx="80443" cy="957325"/>
                    <a:chOff x="0" y="0"/>
                    <a:chExt cx="80442" cy="957324"/>
                  </a:xfrm>
                </p:grpSpPr>
                <p:sp>
                  <p:nvSpPr>
                    <p:cNvPr id="80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849" name="Group"/>
                <p:cNvGrpSpPr/>
                <p:nvPr/>
              </p:nvGrpSpPr>
              <p:grpSpPr>
                <a:xfrm>
                  <a:off x="475513" y="0"/>
                  <a:ext cx="435647" cy="957325"/>
                  <a:chOff x="0" y="0"/>
                  <a:chExt cx="435646" cy="957324"/>
                </a:xfrm>
              </p:grpSpPr>
              <p:grpSp>
                <p:nvGrpSpPr>
                  <p:cNvPr id="821" name="Group"/>
                  <p:cNvGrpSpPr/>
                  <p:nvPr/>
                </p:nvGrpSpPr>
                <p:grpSpPr>
                  <a:xfrm>
                    <a:off x="0" y="0"/>
                    <a:ext cx="80443" cy="957325"/>
                    <a:chOff x="0" y="0"/>
                    <a:chExt cx="80442" cy="957324"/>
                  </a:xfrm>
                </p:grpSpPr>
                <p:sp>
                  <p:nvSpPr>
                    <p:cNvPr id="81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30" name="Group"/>
                  <p:cNvGrpSpPr/>
                  <p:nvPr/>
                </p:nvGrpSpPr>
                <p:grpSpPr>
                  <a:xfrm>
                    <a:off x="118401" y="0"/>
                    <a:ext cx="80443" cy="957325"/>
                    <a:chOff x="0" y="0"/>
                    <a:chExt cx="80442" cy="957324"/>
                  </a:xfrm>
                </p:grpSpPr>
                <p:sp>
                  <p:nvSpPr>
                    <p:cNvPr id="82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39" name="Group"/>
                  <p:cNvGrpSpPr/>
                  <p:nvPr/>
                </p:nvGrpSpPr>
                <p:grpSpPr>
                  <a:xfrm>
                    <a:off x="236802" y="0"/>
                    <a:ext cx="80444" cy="957325"/>
                    <a:chOff x="0" y="0"/>
                    <a:chExt cx="80442" cy="957324"/>
                  </a:xfrm>
                </p:grpSpPr>
                <p:sp>
                  <p:nvSpPr>
                    <p:cNvPr id="83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48" name="Group"/>
                  <p:cNvGrpSpPr/>
                  <p:nvPr/>
                </p:nvGrpSpPr>
                <p:grpSpPr>
                  <a:xfrm>
                    <a:off x="355204" y="0"/>
                    <a:ext cx="80443" cy="957325"/>
                    <a:chOff x="0" y="0"/>
                    <a:chExt cx="80442" cy="957324"/>
                  </a:xfrm>
                </p:grpSpPr>
                <p:sp>
                  <p:nvSpPr>
                    <p:cNvPr id="84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002" name="Group"/>
            <p:cNvGrpSpPr/>
            <p:nvPr/>
          </p:nvGrpSpPr>
          <p:grpSpPr>
            <a:xfrm>
              <a:off x="69161" y="1481084"/>
              <a:ext cx="1857250" cy="957326"/>
              <a:chOff x="0" y="0"/>
              <a:chExt cx="1857249" cy="957324"/>
            </a:xfrm>
          </p:grpSpPr>
          <p:grpSp>
            <p:nvGrpSpPr>
              <p:cNvPr id="926" name="Group"/>
              <p:cNvGrpSpPr/>
              <p:nvPr/>
            </p:nvGrpSpPr>
            <p:grpSpPr>
              <a:xfrm>
                <a:off x="-1" y="0"/>
                <a:ext cx="911161" cy="957325"/>
                <a:chOff x="0" y="0"/>
                <a:chExt cx="911159" cy="957324"/>
              </a:xfrm>
            </p:grpSpPr>
            <p:grpSp>
              <p:nvGrpSpPr>
                <p:cNvPr id="888" name="Group"/>
                <p:cNvGrpSpPr/>
                <p:nvPr/>
              </p:nvGrpSpPr>
              <p:grpSpPr>
                <a:xfrm>
                  <a:off x="-1" y="0"/>
                  <a:ext cx="435648" cy="957325"/>
                  <a:chOff x="0" y="0"/>
                  <a:chExt cx="435646" cy="957324"/>
                </a:xfrm>
              </p:grpSpPr>
              <p:grpSp>
                <p:nvGrpSpPr>
                  <p:cNvPr id="860" name="Group"/>
                  <p:cNvGrpSpPr/>
                  <p:nvPr/>
                </p:nvGrpSpPr>
                <p:grpSpPr>
                  <a:xfrm>
                    <a:off x="0" y="0"/>
                    <a:ext cx="80443" cy="957325"/>
                    <a:chOff x="0" y="0"/>
                    <a:chExt cx="80442" cy="957324"/>
                  </a:xfrm>
                </p:grpSpPr>
                <p:sp>
                  <p:nvSpPr>
                    <p:cNvPr id="85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69" name="Group"/>
                  <p:cNvGrpSpPr/>
                  <p:nvPr/>
                </p:nvGrpSpPr>
                <p:grpSpPr>
                  <a:xfrm>
                    <a:off x="118401" y="0"/>
                    <a:ext cx="80443" cy="957325"/>
                    <a:chOff x="0" y="0"/>
                    <a:chExt cx="80442" cy="957324"/>
                  </a:xfrm>
                </p:grpSpPr>
                <p:sp>
                  <p:nvSpPr>
                    <p:cNvPr id="86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78" name="Group"/>
                  <p:cNvGrpSpPr/>
                  <p:nvPr/>
                </p:nvGrpSpPr>
                <p:grpSpPr>
                  <a:xfrm>
                    <a:off x="236802" y="0"/>
                    <a:ext cx="80444" cy="957325"/>
                    <a:chOff x="0" y="0"/>
                    <a:chExt cx="80442" cy="957324"/>
                  </a:xfrm>
                </p:grpSpPr>
                <p:sp>
                  <p:nvSpPr>
                    <p:cNvPr id="87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87" name="Group"/>
                  <p:cNvGrpSpPr/>
                  <p:nvPr/>
                </p:nvGrpSpPr>
                <p:grpSpPr>
                  <a:xfrm>
                    <a:off x="355204" y="0"/>
                    <a:ext cx="80443" cy="957325"/>
                    <a:chOff x="0" y="0"/>
                    <a:chExt cx="80442" cy="957324"/>
                  </a:xfrm>
                </p:grpSpPr>
                <p:sp>
                  <p:nvSpPr>
                    <p:cNvPr id="87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925" name="Group"/>
                <p:cNvGrpSpPr/>
                <p:nvPr/>
              </p:nvGrpSpPr>
              <p:grpSpPr>
                <a:xfrm>
                  <a:off x="475513" y="0"/>
                  <a:ext cx="435647" cy="957325"/>
                  <a:chOff x="0" y="0"/>
                  <a:chExt cx="435646" cy="957324"/>
                </a:xfrm>
              </p:grpSpPr>
              <p:grpSp>
                <p:nvGrpSpPr>
                  <p:cNvPr id="897" name="Group"/>
                  <p:cNvGrpSpPr/>
                  <p:nvPr/>
                </p:nvGrpSpPr>
                <p:grpSpPr>
                  <a:xfrm>
                    <a:off x="0" y="0"/>
                    <a:ext cx="80443" cy="957325"/>
                    <a:chOff x="0" y="0"/>
                    <a:chExt cx="80442" cy="957324"/>
                  </a:xfrm>
                </p:grpSpPr>
                <p:sp>
                  <p:nvSpPr>
                    <p:cNvPr id="8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06" name="Group"/>
                  <p:cNvGrpSpPr/>
                  <p:nvPr/>
                </p:nvGrpSpPr>
                <p:grpSpPr>
                  <a:xfrm>
                    <a:off x="118401" y="0"/>
                    <a:ext cx="80443" cy="957325"/>
                    <a:chOff x="0" y="0"/>
                    <a:chExt cx="80442" cy="957324"/>
                  </a:xfrm>
                </p:grpSpPr>
                <p:sp>
                  <p:nvSpPr>
                    <p:cNvPr id="89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15" name="Group"/>
                  <p:cNvGrpSpPr/>
                  <p:nvPr/>
                </p:nvGrpSpPr>
                <p:grpSpPr>
                  <a:xfrm>
                    <a:off x="236802" y="0"/>
                    <a:ext cx="80444" cy="957325"/>
                    <a:chOff x="0" y="0"/>
                    <a:chExt cx="80442" cy="957324"/>
                  </a:xfrm>
                </p:grpSpPr>
                <p:sp>
                  <p:nvSpPr>
                    <p:cNvPr id="90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24" name="Group"/>
                  <p:cNvGrpSpPr/>
                  <p:nvPr/>
                </p:nvGrpSpPr>
                <p:grpSpPr>
                  <a:xfrm>
                    <a:off x="355204" y="0"/>
                    <a:ext cx="80443" cy="957325"/>
                    <a:chOff x="0" y="0"/>
                    <a:chExt cx="80442" cy="957324"/>
                  </a:xfrm>
                </p:grpSpPr>
                <p:sp>
                  <p:nvSpPr>
                    <p:cNvPr id="91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001" name="Group"/>
              <p:cNvGrpSpPr/>
              <p:nvPr/>
            </p:nvGrpSpPr>
            <p:grpSpPr>
              <a:xfrm>
                <a:off x="946089" y="0"/>
                <a:ext cx="911161" cy="957325"/>
                <a:chOff x="0" y="0"/>
                <a:chExt cx="911159" cy="957324"/>
              </a:xfrm>
            </p:grpSpPr>
            <p:grpSp>
              <p:nvGrpSpPr>
                <p:cNvPr id="963" name="Group"/>
                <p:cNvGrpSpPr/>
                <p:nvPr/>
              </p:nvGrpSpPr>
              <p:grpSpPr>
                <a:xfrm>
                  <a:off x="-1" y="0"/>
                  <a:ext cx="435648" cy="957325"/>
                  <a:chOff x="0" y="0"/>
                  <a:chExt cx="435646" cy="957324"/>
                </a:xfrm>
              </p:grpSpPr>
              <p:grpSp>
                <p:nvGrpSpPr>
                  <p:cNvPr id="935" name="Group"/>
                  <p:cNvGrpSpPr/>
                  <p:nvPr/>
                </p:nvGrpSpPr>
                <p:grpSpPr>
                  <a:xfrm>
                    <a:off x="0" y="0"/>
                    <a:ext cx="80443" cy="957325"/>
                    <a:chOff x="0" y="0"/>
                    <a:chExt cx="80442" cy="957324"/>
                  </a:xfrm>
                </p:grpSpPr>
                <p:sp>
                  <p:nvSpPr>
                    <p:cNvPr id="92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44" name="Group"/>
                  <p:cNvGrpSpPr/>
                  <p:nvPr/>
                </p:nvGrpSpPr>
                <p:grpSpPr>
                  <a:xfrm>
                    <a:off x="118401" y="0"/>
                    <a:ext cx="80443" cy="957325"/>
                    <a:chOff x="0" y="0"/>
                    <a:chExt cx="80442" cy="957324"/>
                  </a:xfrm>
                </p:grpSpPr>
                <p:sp>
                  <p:nvSpPr>
                    <p:cNvPr id="93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53" name="Group"/>
                  <p:cNvGrpSpPr/>
                  <p:nvPr/>
                </p:nvGrpSpPr>
                <p:grpSpPr>
                  <a:xfrm>
                    <a:off x="236802" y="0"/>
                    <a:ext cx="80444" cy="957325"/>
                    <a:chOff x="0" y="0"/>
                    <a:chExt cx="80442" cy="957324"/>
                  </a:xfrm>
                </p:grpSpPr>
                <p:sp>
                  <p:nvSpPr>
                    <p:cNvPr id="94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62" name="Group"/>
                  <p:cNvGrpSpPr/>
                  <p:nvPr/>
                </p:nvGrpSpPr>
                <p:grpSpPr>
                  <a:xfrm>
                    <a:off x="355204" y="0"/>
                    <a:ext cx="80443" cy="957325"/>
                    <a:chOff x="0" y="0"/>
                    <a:chExt cx="80442" cy="957324"/>
                  </a:xfrm>
                </p:grpSpPr>
                <p:sp>
                  <p:nvSpPr>
                    <p:cNvPr id="95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00" name="Group"/>
                <p:cNvGrpSpPr/>
                <p:nvPr/>
              </p:nvGrpSpPr>
              <p:grpSpPr>
                <a:xfrm>
                  <a:off x="475513" y="0"/>
                  <a:ext cx="435647" cy="957325"/>
                  <a:chOff x="0" y="0"/>
                  <a:chExt cx="435646" cy="957324"/>
                </a:xfrm>
              </p:grpSpPr>
              <p:grpSp>
                <p:nvGrpSpPr>
                  <p:cNvPr id="972" name="Group"/>
                  <p:cNvGrpSpPr/>
                  <p:nvPr/>
                </p:nvGrpSpPr>
                <p:grpSpPr>
                  <a:xfrm>
                    <a:off x="0" y="0"/>
                    <a:ext cx="80443" cy="957325"/>
                    <a:chOff x="0" y="0"/>
                    <a:chExt cx="80442" cy="957324"/>
                  </a:xfrm>
                </p:grpSpPr>
                <p:sp>
                  <p:nvSpPr>
                    <p:cNvPr id="96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81" name="Group"/>
                  <p:cNvGrpSpPr/>
                  <p:nvPr/>
                </p:nvGrpSpPr>
                <p:grpSpPr>
                  <a:xfrm>
                    <a:off x="118401" y="0"/>
                    <a:ext cx="80443" cy="957325"/>
                    <a:chOff x="0" y="0"/>
                    <a:chExt cx="80442" cy="957324"/>
                  </a:xfrm>
                </p:grpSpPr>
                <p:sp>
                  <p:nvSpPr>
                    <p:cNvPr id="97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90" name="Group"/>
                  <p:cNvGrpSpPr/>
                  <p:nvPr/>
                </p:nvGrpSpPr>
                <p:grpSpPr>
                  <a:xfrm>
                    <a:off x="236802" y="0"/>
                    <a:ext cx="80444" cy="957325"/>
                    <a:chOff x="0" y="0"/>
                    <a:chExt cx="80442" cy="957324"/>
                  </a:xfrm>
                </p:grpSpPr>
                <p:sp>
                  <p:nvSpPr>
                    <p:cNvPr id="98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99" name="Group"/>
                  <p:cNvGrpSpPr/>
                  <p:nvPr/>
                </p:nvGrpSpPr>
                <p:grpSpPr>
                  <a:xfrm>
                    <a:off x="355204" y="0"/>
                    <a:ext cx="80443" cy="957325"/>
                    <a:chOff x="0" y="0"/>
                    <a:chExt cx="80442" cy="957324"/>
                  </a:xfrm>
                </p:grpSpPr>
                <p:sp>
                  <p:nvSpPr>
                    <p:cNvPr id="99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153" name="Group"/>
            <p:cNvGrpSpPr/>
            <p:nvPr/>
          </p:nvGrpSpPr>
          <p:grpSpPr>
            <a:xfrm>
              <a:off x="1962866" y="1485868"/>
              <a:ext cx="1857250" cy="957325"/>
              <a:chOff x="0" y="0"/>
              <a:chExt cx="1857249" cy="957324"/>
            </a:xfrm>
          </p:grpSpPr>
          <p:grpSp>
            <p:nvGrpSpPr>
              <p:cNvPr id="1077" name="Group"/>
              <p:cNvGrpSpPr/>
              <p:nvPr/>
            </p:nvGrpSpPr>
            <p:grpSpPr>
              <a:xfrm>
                <a:off x="-1" y="0"/>
                <a:ext cx="911161" cy="957325"/>
                <a:chOff x="0" y="0"/>
                <a:chExt cx="911159" cy="957324"/>
              </a:xfrm>
            </p:grpSpPr>
            <p:grpSp>
              <p:nvGrpSpPr>
                <p:cNvPr id="1039" name="Group"/>
                <p:cNvGrpSpPr/>
                <p:nvPr/>
              </p:nvGrpSpPr>
              <p:grpSpPr>
                <a:xfrm>
                  <a:off x="-1" y="0"/>
                  <a:ext cx="435648" cy="957325"/>
                  <a:chOff x="0" y="0"/>
                  <a:chExt cx="435646" cy="957324"/>
                </a:xfrm>
              </p:grpSpPr>
              <p:grpSp>
                <p:nvGrpSpPr>
                  <p:cNvPr id="1011" name="Group"/>
                  <p:cNvGrpSpPr/>
                  <p:nvPr/>
                </p:nvGrpSpPr>
                <p:grpSpPr>
                  <a:xfrm>
                    <a:off x="0" y="0"/>
                    <a:ext cx="80443" cy="957325"/>
                    <a:chOff x="0" y="0"/>
                    <a:chExt cx="80442" cy="957324"/>
                  </a:xfrm>
                </p:grpSpPr>
                <p:sp>
                  <p:nvSpPr>
                    <p:cNvPr id="100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20" name="Group"/>
                  <p:cNvGrpSpPr/>
                  <p:nvPr/>
                </p:nvGrpSpPr>
                <p:grpSpPr>
                  <a:xfrm>
                    <a:off x="118401" y="0"/>
                    <a:ext cx="80443" cy="957325"/>
                    <a:chOff x="0" y="0"/>
                    <a:chExt cx="80442" cy="957324"/>
                  </a:xfrm>
                </p:grpSpPr>
                <p:sp>
                  <p:nvSpPr>
                    <p:cNvPr id="101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29" name="Group"/>
                  <p:cNvGrpSpPr/>
                  <p:nvPr/>
                </p:nvGrpSpPr>
                <p:grpSpPr>
                  <a:xfrm>
                    <a:off x="236802" y="0"/>
                    <a:ext cx="80444" cy="957325"/>
                    <a:chOff x="0" y="0"/>
                    <a:chExt cx="80442" cy="957324"/>
                  </a:xfrm>
                </p:grpSpPr>
                <p:sp>
                  <p:nvSpPr>
                    <p:cNvPr id="102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38" name="Group"/>
                  <p:cNvGrpSpPr/>
                  <p:nvPr/>
                </p:nvGrpSpPr>
                <p:grpSpPr>
                  <a:xfrm>
                    <a:off x="355204" y="0"/>
                    <a:ext cx="80443" cy="957325"/>
                    <a:chOff x="0" y="0"/>
                    <a:chExt cx="80442" cy="957324"/>
                  </a:xfrm>
                </p:grpSpPr>
                <p:sp>
                  <p:nvSpPr>
                    <p:cNvPr id="103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76" name="Group"/>
                <p:cNvGrpSpPr/>
                <p:nvPr/>
              </p:nvGrpSpPr>
              <p:grpSpPr>
                <a:xfrm>
                  <a:off x="475513" y="0"/>
                  <a:ext cx="435647" cy="957325"/>
                  <a:chOff x="0" y="0"/>
                  <a:chExt cx="435646" cy="957324"/>
                </a:xfrm>
              </p:grpSpPr>
              <p:grpSp>
                <p:nvGrpSpPr>
                  <p:cNvPr id="1048" name="Group"/>
                  <p:cNvGrpSpPr/>
                  <p:nvPr/>
                </p:nvGrpSpPr>
                <p:grpSpPr>
                  <a:xfrm>
                    <a:off x="0" y="0"/>
                    <a:ext cx="80443" cy="957325"/>
                    <a:chOff x="0" y="0"/>
                    <a:chExt cx="80442" cy="957324"/>
                  </a:xfrm>
                </p:grpSpPr>
                <p:sp>
                  <p:nvSpPr>
                    <p:cNvPr id="104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57" name="Group"/>
                  <p:cNvGrpSpPr/>
                  <p:nvPr/>
                </p:nvGrpSpPr>
                <p:grpSpPr>
                  <a:xfrm>
                    <a:off x="118401" y="0"/>
                    <a:ext cx="80443" cy="957325"/>
                    <a:chOff x="0" y="0"/>
                    <a:chExt cx="80442" cy="957324"/>
                  </a:xfrm>
                </p:grpSpPr>
                <p:sp>
                  <p:nvSpPr>
                    <p:cNvPr id="104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66" name="Group"/>
                  <p:cNvGrpSpPr/>
                  <p:nvPr/>
                </p:nvGrpSpPr>
                <p:grpSpPr>
                  <a:xfrm>
                    <a:off x="236802" y="0"/>
                    <a:ext cx="80444" cy="957325"/>
                    <a:chOff x="0" y="0"/>
                    <a:chExt cx="80442" cy="957324"/>
                  </a:xfrm>
                </p:grpSpPr>
                <p:sp>
                  <p:nvSpPr>
                    <p:cNvPr id="105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75" name="Group"/>
                  <p:cNvGrpSpPr/>
                  <p:nvPr/>
                </p:nvGrpSpPr>
                <p:grpSpPr>
                  <a:xfrm>
                    <a:off x="355204" y="0"/>
                    <a:ext cx="80443" cy="957325"/>
                    <a:chOff x="0" y="0"/>
                    <a:chExt cx="80442" cy="957324"/>
                  </a:xfrm>
                </p:grpSpPr>
                <p:sp>
                  <p:nvSpPr>
                    <p:cNvPr id="106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152" name="Group"/>
              <p:cNvGrpSpPr/>
              <p:nvPr/>
            </p:nvGrpSpPr>
            <p:grpSpPr>
              <a:xfrm>
                <a:off x="946089" y="0"/>
                <a:ext cx="911161" cy="957325"/>
                <a:chOff x="0" y="0"/>
                <a:chExt cx="911159" cy="957324"/>
              </a:xfrm>
            </p:grpSpPr>
            <p:grpSp>
              <p:nvGrpSpPr>
                <p:cNvPr id="1114" name="Group"/>
                <p:cNvGrpSpPr/>
                <p:nvPr/>
              </p:nvGrpSpPr>
              <p:grpSpPr>
                <a:xfrm>
                  <a:off x="-1" y="0"/>
                  <a:ext cx="435648" cy="957325"/>
                  <a:chOff x="0" y="0"/>
                  <a:chExt cx="435646" cy="957324"/>
                </a:xfrm>
              </p:grpSpPr>
              <p:grpSp>
                <p:nvGrpSpPr>
                  <p:cNvPr id="1086" name="Group"/>
                  <p:cNvGrpSpPr/>
                  <p:nvPr/>
                </p:nvGrpSpPr>
                <p:grpSpPr>
                  <a:xfrm>
                    <a:off x="0" y="0"/>
                    <a:ext cx="80443" cy="957325"/>
                    <a:chOff x="0" y="0"/>
                    <a:chExt cx="80442" cy="957324"/>
                  </a:xfrm>
                </p:grpSpPr>
                <p:sp>
                  <p:nvSpPr>
                    <p:cNvPr id="107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95" name="Group"/>
                  <p:cNvGrpSpPr/>
                  <p:nvPr/>
                </p:nvGrpSpPr>
                <p:grpSpPr>
                  <a:xfrm>
                    <a:off x="118401" y="0"/>
                    <a:ext cx="80443" cy="957325"/>
                    <a:chOff x="0" y="0"/>
                    <a:chExt cx="80442" cy="957324"/>
                  </a:xfrm>
                </p:grpSpPr>
                <p:sp>
                  <p:nvSpPr>
                    <p:cNvPr id="108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04" name="Group"/>
                  <p:cNvGrpSpPr/>
                  <p:nvPr/>
                </p:nvGrpSpPr>
                <p:grpSpPr>
                  <a:xfrm>
                    <a:off x="236802" y="0"/>
                    <a:ext cx="80444" cy="957325"/>
                    <a:chOff x="0" y="0"/>
                    <a:chExt cx="80442" cy="957324"/>
                  </a:xfrm>
                </p:grpSpPr>
                <p:sp>
                  <p:nvSpPr>
                    <p:cNvPr id="109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13" name="Group"/>
                  <p:cNvGrpSpPr/>
                  <p:nvPr/>
                </p:nvGrpSpPr>
                <p:grpSpPr>
                  <a:xfrm>
                    <a:off x="355204" y="0"/>
                    <a:ext cx="80443" cy="957325"/>
                    <a:chOff x="0" y="0"/>
                    <a:chExt cx="80442" cy="957324"/>
                  </a:xfrm>
                </p:grpSpPr>
                <p:sp>
                  <p:nvSpPr>
                    <p:cNvPr id="11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151" name="Group"/>
                <p:cNvGrpSpPr/>
                <p:nvPr/>
              </p:nvGrpSpPr>
              <p:grpSpPr>
                <a:xfrm>
                  <a:off x="475513" y="0"/>
                  <a:ext cx="435647" cy="957325"/>
                  <a:chOff x="0" y="0"/>
                  <a:chExt cx="435646" cy="957324"/>
                </a:xfrm>
              </p:grpSpPr>
              <p:grpSp>
                <p:nvGrpSpPr>
                  <p:cNvPr id="1123" name="Group"/>
                  <p:cNvGrpSpPr/>
                  <p:nvPr/>
                </p:nvGrpSpPr>
                <p:grpSpPr>
                  <a:xfrm>
                    <a:off x="0" y="0"/>
                    <a:ext cx="80443" cy="957325"/>
                    <a:chOff x="0" y="0"/>
                    <a:chExt cx="80442" cy="957324"/>
                  </a:xfrm>
                </p:grpSpPr>
                <p:sp>
                  <p:nvSpPr>
                    <p:cNvPr id="111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32" name="Group"/>
                  <p:cNvGrpSpPr/>
                  <p:nvPr/>
                </p:nvGrpSpPr>
                <p:grpSpPr>
                  <a:xfrm>
                    <a:off x="118401" y="0"/>
                    <a:ext cx="80443" cy="957325"/>
                    <a:chOff x="0" y="0"/>
                    <a:chExt cx="80442" cy="957324"/>
                  </a:xfrm>
                </p:grpSpPr>
                <p:sp>
                  <p:nvSpPr>
                    <p:cNvPr id="112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41" name="Group"/>
                  <p:cNvGrpSpPr/>
                  <p:nvPr/>
                </p:nvGrpSpPr>
                <p:grpSpPr>
                  <a:xfrm>
                    <a:off x="236802" y="0"/>
                    <a:ext cx="80444" cy="957325"/>
                    <a:chOff x="0" y="0"/>
                    <a:chExt cx="80442" cy="957324"/>
                  </a:xfrm>
                </p:grpSpPr>
                <p:sp>
                  <p:nvSpPr>
                    <p:cNvPr id="113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50" name="Group"/>
                  <p:cNvGrpSpPr/>
                  <p:nvPr/>
                </p:nvGrpSpPr>
                <p:grpSpPr>
                  <a:xfrm>
                    <a:off x="355204" y="0"/>
                    <a:ext cx="80443" cy="957325"/>
                    <a:chOff x="0" y="0"/>
                    <a:chExt cx="80442" cy="957324"/>
                  </a:xfrm>
                </p:grpSpPr>
                <p:sp>
                  <p:nvSpPr>
                    <p:cNvPr id="114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54"/>
                                        </p:tgtEl>
                                        <p:attrNameLst>
                                          <p:attrName>style.visibility</p:attrName>
                                        </p:attrNameLst>
                                      </p:cBhvr>
                                      <p:to>
                                        <p:strVal val="visible"/>
                                      </p:to>
                                    </p:set>
                                    <p:animEffect filter="fade" transition="in">
                                      <p:cBhvr>
                                        <p:cTn id="7" dur="1000"/>
                                        <p:tgtEl>
                                          <p:spTgt spid="1154"/>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47"/>
                                        </p:tgtEl>
                                        <p:attrNameLst>
                                          <p:attrName>style.visibility</p:attrName>
                                        </p:attrNameLst>
                                      </p:cBhvr>
                                      <p:to>
                                        <p:strVal val="visible"/>
                                      </p:to>
                                    </p:set>
                                    <p:animEffect filter="wipe(left)" transition="in">
                                      <p:cBhvr>
                                        <p:cTn id="11" dur="1000"/>
                                        <p:tgtEl>
                                          <p:spTgt spid="547"/>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46"/>
                                        </p:tgtEl>
                                        <p:attrNameLst>
                                          <p:attrName>style.visibility</p:attrName>
                                        </p:attrNameLst>
                                      </p:cBhvr>
                                      <p:to>
                                        <p:strVal val="visible"/>
                                      </p:to>
                                    </p:set>
                                    <p:animEffect filter="fade" transition="in">
                                      <p:cBhvr>
                                        <p:cTn id="15" dur="1000"/>
                                        <p:tgtEl>
                                          <p:spTgt spid="5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46" grpId="3"/>
      <p:bldP build="whole" bldLvl="1" animBg="1" rev="0" advAuto="0" spid="547" grpId="2"/>
      <p:bldP build="whole" bldLvl="1" animBg="1" rev="0" advAuto="0" spid="1154" grpId="1"/>
    </p:bldLst>
  </p:timing>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6"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5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5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5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60"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vs GPU</a:t>
            </a:r>
          </a:p>
        </p:txBody>
      </p:sp>
      <p:sp>
        <p:nvSpPr>
          <p:cNvPr id="1161" name="Rectangle"/>
          <p:cNvSpPr/>
          <p:nvPr/>
        </p:nvSpPr>
        <p:spPr>
          <a:xfrm>
            <a:off x="2908019" y="1007292"/>
            <a:ext cx="4006458" cy="5528496"/>
          </a:xfrm>
          <a:prstGeom prst="rect">
            <a:avLst/>
          </a:prstGeom>
          <a:solidFill>
            <a:srgbClr val="FFFFFF"/>
          </a:solidFill>
          <a:ln w="50800">
            <a:solidFill>
              <a:schemeClr val="accent2"/>
            </a:solidFill>
            <a:miter/>
          </a:ln>
        </p:spPr>
        <p:txBody>
          <a:bodyPr lIns="45719" rIns="45719" anchor="ctr"/>
          <a:lstStyle/>
          <a:p>
            <a:pPr/>
          </a:p>
        </p:txBody>
      </p:sp>
      <p:sp>
        <p:nvSpPr>
          <p:cNvPr id="1162" name="Rectangle"/>
          <p:cNvSpPr/>
          <p:nvPr/>
        </p:nvSpPr>
        <p:spPr>
          <a:xfrm>
            <a:off x="7113848" y="1007292"/>
            <a:ext cx="4006458" cy="5528496"/>
          </a:xfrm>
          <a:prstGeom prst="rect">
            <a:avLst/>
          </a:prstGeom>
          <a:solidFill>
            <a:srgbClr val="FFFFFF"/>
          </a:solidFill>
          <a:ln w="50800">
            <a:solidFill>
              <a:schemeClr val="accent1"/>
            </a:solidFill>
            <a:miter/>
          </a:ln>
        </p:spPr>
        <p:txBody>
          <a:bodyPr lIns="45719" rIns="45719" anchor="ctr"/>
          <a:lstStyle/>
          <a:p>
            <a:pPr/>
          </a:p>
        </p:txBody>
      </p:sp>
      <p:sp>
        <p:nvSpPr>
          <p:cNvPr id="1163" name="CPU excels at"/>
          <p:cNvSpPr txBox="1"/>
          <p:nvPr/>
        </p:nvSpPr>
        <p:spPr>
          <a:xfrm>
            <a:off x="3894462" y="1336543"/>
            <a:ext cx="2033573"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CPU excels at</a:t>
            </a:r>
          </a:p>
        </p:txBody>
      </p:sp>
      <p:sp>
        <p:nvSpPr>
          <p:cNvPr id="1164" name="GPU excels at"/>
          <p:cNvSpPr txBox="1"/>
          <p:nvPr/>
        </p:nvSpPr>
        <p:spPr>
          <a:xfrm>
            <a:off x="7972358" y="1336543"/>
            <a:ext cx="2055774"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GPU excels at</a:t>
            </a:r>
          </a:p>
        </p:txBody>
      </p:sp>
      <p:sp>
        <p:nvSpPr>
          <p:cNvPr id="1165" name="Data loading and preprocessing (pandas, file I/O)…"/>
          <p:cNvSpPr txBox="1"/>
          <p:nvPr/>
        </p:nvSpPr>
        <p:spPr>
          <a:xfrm>
            <a:off x="3012415" y="2417418"/>
            <a:ext cx="3797667" cy="3025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Data loading and preprocessing (pandas, file I/O)</a:t>
            </a:r>
            <a:br/>
          </a:p>
          <a:p>
            <a:pPr marL="200526" indent="-200526">
              <a:buSzPct val="100000"/>
              <a:buChar char="•"/>
              <a:defRPr sz="1700"/>
            </a:pPr>
            <a:r>
              <a:t>Control flow and branching logic</a:t>
            </a:r>
            <a:br/>
          </a:p>
          <a:p>
            <a:pPr marL="200526" indent="-200526">
              <a:buSzPct val="100000"/>
              <a:buChar char="•"/>
              <a:defRPr sz="1700"/>
            </a:pPr>
            <a:r>
              <a:t>Classical ML models (sklearn, XGBoost on small data)</a:t>
            </a:r>
            <a:br/>
          </a:p>
          <a:p>
            <a:pPr marL="200526" indent="-200526">
              <a:buSzPct val="100000"/>
              <a:buChar char="•"/>
              <a:defRPr sz="1700"/>
            </a:pPr>
            <a:r>
              <a:t>Orchestrating the training pipeline</a:t>
            </a:r>
            <a:br/>
          </a:p>
        </p:txBody>
      </p:sp>
      <p:sp>
        <p:nvSpPr>
          <p:cNvPr id="1166" name="Matrix multiplications (core of every neural network)…"/>
          <p:cNvSpPr txBox="1"/>
          <p:nvPr/>
        </p:nvSpPr>
        <p:spPr>
          <a:xfrm>
            <a:off x="7218243" y="2401978"/>
            <a:ext cx="3797668" cy="24917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Matrix multiplications (core of every neural network)</a:t>
            </a:r>
            <a:br/>
          </a:p>
          <a:p>
            <a:pPr marL="200526" indent="-200526">
              <a:buSzPct val="100000"/>
              <a:buChar char="•"/>
              <a:defRPr sz="1700"/>
            </a:pPr>
            <a:r>
              <a:t>Model Training and Inference</a:t>
            </a:r>
            <a:br/>
          </a:p>
          <a:p>
            <a:pPr marL="200526" indent="-200526">
              <a:buSzPct val="100000"/>
              <a:buChar char="•"/>
              <a:defRPr sz="1700"/>
            </a:pPr>
            <a:r>
              <a:t>Applying the same operation to lots of data in parallel </a:t>
            </a:r>
            <a:br/>
            <a:r>
              <a:t>(Single Instruction Multiple Data,</a:t>
            </a:r>
            <a:r>
              <a:rPr b="1"/>
              <a:t> SIMD</a:t>
            </a:r>
            <a:r>
              <a: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65"/>
                                        </p:tgtEl>
                                        <p:attrNameLst>
                                          <p:attrName>style.visibility</p:attrName>
                                        </p:attrNameLst>
                                      </p:cBhvr>
                                      <p:to>
                                        <p:strVal val="visible"/>
                                      </p:to>
                                    </p:set>
                                    <p:animEffect filter="fade" transition="in">
                                      <p:cBhvr>
                                        <p:cTn id="7" dur="1000"/>
                                        <p:tgtEl>
                                          <p:spTgt spid="1165"/>
                                        </p:tgtEl>
                                      </p:cBhvr>
                                    </p:animEffect>
                                  </p:childTnLst>
                                </p:cTn>
                              </p:par>
                            </p:childTnLst>
                          </p:cTn>
                        </p:par>
                      </p:childTnLst>
                    </p:cTn>
                  </p:par>
                  <p:par>
                    <p:cTn id="8" fill="hold">
                      <p:stCondLst>
                        <p:cond delay="indefinite"/>
                      </p:stCondLst>
                      <p:childTnLst>
                        <p:par>
                          <p:cTn id="9" fill="hold">
                            <p:stCondLst>
                              <p:cond delay="0"/>
                            </p:stCondLst>
                            <p:childTnLst>
                              <p:par>
                                <p:cTn id="10" presetClass="entr" nodeType="clickEffect" presetID="10" grpId="2" fill="hold">
                                  <p:stCondLst>
                                    <p:cond delay="0"/>
                                  </p:stCondLst>
                                  <p:iterate type="el" backwards="0">
                                    <p:tmAbs val="0"/>
                                  </p:iterate>
                                  <p:childTnLst>
                                    <p:set>
                                      <p:cBhvr>
                                        <p:cTn id="11" fill="hold"/>
                                        <p:tgtEl>
                                          <p:spTgt spid="1166"/>
                                        </p:tgtEl>
                                        <p:attrNameLst>
                                          <p:attrName>style.visibility</p:attrName>
                                        </p:attrNameLst>
                                      </p:cBhvr>
                                      <p:to>
                                        <p:strVal val="visible"/>
                                      </p:to>
                                    </p:set>
                                    <p:animEffect filter="fade" transition="in">
                                      <p:cBhvr>
                                        <p:cTn id="12" dur="1000"/>
                                        <p:tgtEl>
                                          <p:spTgt spid="11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165" grpId="1"/>
      <p:bldP build="whole" bldLvl="1" animBg="1" rev="0" advAuto="0" spid="1166" grpId="2"/>
    </p:bldLst>
  </p:timing>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8"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69"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7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7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72"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 GPU</a:t>
            </a:r>
          </a:p>
        </p:txBody>
      </p:sp>
      <p:grpSp>
        <p:nvGrpSpPr>
          <p:cNvPr id="1175" name="Group"/>
          <p:cNvGrpSpPr/>
          <p:nvPr/>
        </p:nvGrpSpPr>
        <p:grpSpPr>
          <a:xfrm>
            <a:off x="5971300" y="559016"/>
            <a:ext cx="1904984" cy="2941164"/>
            <a:chOff x="0" y="0"/>
            <a:chExt cx="1904983" cy="2941163"/>
          </a:xfrm>
        </p:grpSpPr>
        <p:sp>
          <p:nvSpPr>
            <p:cNvPr id="1173" name="GPU"/>
            <p:cNvSpPr/>
            <p:nvPr/>
          </p:nvSpPr>
          <p:spPr>
            <a:xfrm>
              <a:off x="0" y="0"/>
              <a:ext cx="1904984" cy="475095"/>
            </a:xfrm>
            <a:prstGeom prst="rect">
              <a:avLst/>
            </a:prstGeom>
            <a:solidFill>
              <a:schemeClr val="accent2"/>
            </a:solidFill>
            <a:ln w="381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GPU</a:t>
              </a:r>
            </a:p>
          </p:txBody>
        </p:sp>
        <p:sp>
          <p:nvSpPr>
            <p:cNvPr id="1174" name="Rectangle"/>
            <p:cNvSpPr/>
            <p:nvPr/>
          </p:nvSpPr>
          <p:spPr>
            <a:xfrm>
              <a:off x="0" y="450280"/>
              <a:ext cx="1904984" cy="2490884"/>
            </a:xfrm>
            <a:prstGeom prst="rect">
              <a:avLst/>
            </a:prstGeom>
            <a:solidFill>
              <a:srgbClr val="FFFFFF"/>
            </a:solidFill>
            <a:ln w="38100" cap="flat">
              <a:solidFill>
                <a:schemeClr val="accent2"/>
              </a:solidFill>
              <a:prstDash val="solid"/>
              <a:miter lim="800000"/>
            </a:ln>
            <a:effectLst/>
          </p:spPr>
          <p:txBody>
            <a:bodyPr wrap="square" lIns="45719" tIns="45719" rIns="45719" bIns="45719" numCol="1" anchor="t">
              <a:noAutofit/>
            </a:bodyPr>
            <a:lstStyle/>
            <a:p>
              <a:pPr algn="ctr"/>
            </a:p>
          </p:txBody>
        </p:sp>
      </p:grpSp>
      <p:sp>
        <p:nvSpPr>
          <p:cNvPr id="1176" name="Forward pass"/>
          <p:cNvSpPr txBox="1"/>
          <p:nvPr/>
        </p:nvSpPr>
        <p:spPr>
          <a:xfrm>
            <a:off x="6195050" y="1048879"/>
            <a:ext cx="1457485"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Forward pass</a:t>
            </a:r>
          </a:p>
        </p:txBody>
      </p:sp>
      <p:sp>
        <p:nvSpPr>
          <p:cNvPr id="1177" name="Compute loss"/>
          <p:cNvSpPr txBox="1"/>
          <p:nvPr/>
        </p:nvSpPr>
        <p:spPr>
          <a:xfrm>
            <a:off x="6195050" y="1725416"/>
            <a:ext cx="1485563"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Compute loss</a:t>
            </a:r>
          </a:p>
        </p:txBody>
      </p:sp>
      <p:sp>
        <p:nvSpPr>
          <p:cNvPr id="1178" name="Backward pass"/>
          <p:cNvSpPr txBox="1"/>
          <p:nvPr/>
        </p:nvSpPr>
        <p:spPr>
          <a:xfrm>
            <a:off x="6126291" y="2401954"/>
            <a:ext cx="162308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Backward pass</a:t>
            </a:r>
          </a:p>
        </p:txBody>
      </p:sp>
      <p:sp>
        <p:nvSpPr>
          <p:cNvPr id="1179" name="Update weights"/>
          <p:cNvSpPr txBox="1"/>
          <p:nvPr/>
        </p:nvSpPr>
        <p:spPr>
          <a:xfrm>
            <a:off x="6095385" y="3078491"/>
            <a:ext cx="1684894"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Update weights</a:t>
            </a:r>
          </a:p>
        </p:txBody>
      </p:sp>
      <p:sp>
        <p:nvSpPr>
          <p:cNvPr id="1180" name="Line"/>
          <p:cNvSpPr/>
          <p:nvPr/>
        </p:nvSpPr>
        <p:spPr>
          <a:xfrm>
            <a:off x="6923792" y="2113051"/>
            <a:ext cx="1" cy="283375"/>
          </a:xfrm>
          <a:prstGeom prst="line">
            <a:avLst/>
          </a:prstGeom>
          <a:ln w="38100">
            <a:solidFill>
              <a:schemeClr val="accent2"/>
            </a:solidFill>
            <a:miter/>
            <a:tailEnd type="triangle"/>
          </a:ln>
        </p:spPr>
        <p:txBody>
          <a:bodyPr lIns="45719" rIns="45719"/>
          <a:lstStyle/>
          <a:p>
            <a:pPr/>
          </a:p>
        </p:txBody>
      </p:sp>
      <p:sp>
        <p:nvSpPr>
          <p:cNvPr id="1181" name="Line"/>
          <p:cNvSpPr/>
          <p:nvPr/>
        </p:nvSpPr>
        <p:spPr>
          <a:xfrm>
            <a:off x="6937831" y="1441418"/>
            <a:ext cx="1" cy="283376"/>
          </a:xfrm>
          <a:prstGeom prst="line">
            <a:avLst/>
          </a:prstGeom>
          <a:ln w="38100">
            <a:solidFill>
              <a:schemeClr val="accent2"/>
            </a:solidFill>
            <a:miter/>
            <a:tailEnd type="triangle"/>
          </a:ln>
        </p:spPr>
        <p:txBody>
          <a:bodyPr lIns="45719" rIns="45719"/>
          <a:lstStyle/>
          <a:p>
            <a:pPr/>
          </a:p>
        </p:txBody>
      </p:sp>
      <p:sp>
        <p:nvSpPr>
          <p:cNvPr id="1182" name="Line"/>
          <p:cNvSpPr/>
          <p:nvPr/>
        </p:nvSpPr>
        <p:spPr>
          <a:xfrm>
            <a:off x="6923791" y="2784683"/>
            <a:ext cx="1" cy="283376"/>
          </a:xfrm>
          <a:prstGeom prst="line">
            <a:avLst/>
          </a:prstGeom>
          <a:ln w="38100">
            <a:solidFill>
              <a:schemeClr val="accent2"/>
            </a:solidFill>
            <a:miter/>
            <a:tailEnd type="triangle"/>
          </a:ln>
        </p:spPr>
        <p:txBody>
          <a:bodyPr lIns="45719" rIns="45719"/>
          <a:lstStyle/>
          <a:p>
            <a:pPr/>
          </a:p>
        </p:txBody>
      </p:sp>
      <p:grpSp>
        <p:nvGrpSpPr>
          <p:cNvPr id="1185" name="Group"/>
          <p:cNvGrpSpPr/>
          <p:nvPr/>
        </p:nvGrpSpPr>
        <p:grpSpPr>
          <a:xfrm>
            <a:off x="3293084" y="559016"/>
            <a:ext cx="1904984" cy="2941164"/>
            <a:chOff x="0" y="0"/>
            <a:chExt cx="1904983" cy="2941163"/>
          </a:xfrm>
        </p:grpSpPr>
        <p:sp>
          <p:nvSpPr>
            <p:cNvPr id="1183"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84"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86" name="Load data"/>
          <p:cNvSpPr txBox="1"/>
          <p:nvPr/>
        </p:nvSpPr>
        <p:spPr>
          <a:xfrm>
            <a:off x="3689871" y="1064086"/>
            <a:ext cx="1111410"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Load data</a:t>
            </a:r>
          </a:p>
        </p:txBody>
      </p:sp>
      <p:sp>
        <p:nvSpPr>
          <p:cNvPr id="1187" name="Augmentations"/>
          <p:cNvSpPr txBox="1"/>
          <p:nvPr/>
        </p:nvSpPr>
        <p:spPr>
          <a:xfrm>
            <a:off x="3425453" y="1745841"/>
            <a:ext cx="16402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Augmentations</a:t>
            </a:r>
          </a:p>
        </p:txBody>
      </p:sp>
      <p:sp>
        <p:nvSpPr>
          <p:cNvPr id="1188" name="Create batch"/>
          <p:cNvSpPr txBox="1"/>
          <p:nvPr/>
        </p:nvSpPr>
        <p:spPr>
          <a:xfrm>
            <a:off x="3539803" y="2422378"/>
            <a:ext cx="14115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Create batch</a:t>
            </a:r>
          </a:p>
        </p:txBody>
      </p:sp>
      <p:sp>
        <p:nvSpPr>
          <p:cNvPr id="1189" name="Line"/>
          <p:cNvSpPr/>
          <p:nvPr/>
        </p:nvSpPr>
        <p:spPr>
          <a:xfrm>
            <a:off x="4245575" y="2113051"/>
            <a:ext cx="1" cy="283375"/>
          </a:xfrm>
          <a:prstGeom prst="line">
            <a:avLst/>
          </a:prstGeom>
          <a:ln w="38100">
            <a:solidFill>
              <a:schemeClr val="accent1"/>
            </a:solidFill>
            <a:miter/>
            <a:tailEnd type="triangle"/>
          </a:ln>
        </p:spPr>
        <p:txBody>
          <a:bodyPr lIns="45719" rIns="45719"/>
          <a:lstStyle/>
          <a:p>
            <a:pPr/>
          </a:p>
        </p:txBody>
      </p:sp>
      <p:sp>
        <p:nvSpPr>
          <p:cNvPr id="1190" name="Line"/>
          <p:cNvSpPr/>
          <p:nvPr/>
        </p:nvSpPr>
        <p:spPr>
          <a:xfrm>
            <a:off x="4245575" y="1456625"/>
            <a:ext cx="1" cy="283376"/>
          </a:xfrm>
          <a:prstGeom prst="line">
            <a:avLst/>
          </a:prstGeom>
          <a:ln w="38100">
            <a:solidFill>
              <a:schemeClr val="accent1"/>
            </a:solidFill>
            <a:miter/>
            <a:tailEnd type="triangle"/>
          </a:ln>
        </p:spPr>
        <p:txBody>
          <a:bodyPr lIns="45719" rIns="45719"/>
          <a:lstStyle/>
          <a:p>
            <a:pPr/>
          </a:p>
        </p:txBody>
      </p:sp>
      <p:grpSp>
        <p:nvGrpSpPr>
          <p:cNvPr id="1193" name="Group"/>
          <p:cNvGrpSpPr/>
          <p:nvPr/>
        </p:nvGrpSpPr>
        <p:grpSpPr>
          <a:xfrm>
            <a:off x="8649517" y="559016"/>
            <a:ext cx="1904984" cy="2941164"/>
            <a:chOff x="0" y="0"/>
            <a:chExt cx="1904983" cy="2941163"/>
          </a:xfrm>
        </p:grpSpPr>
        <p:sp>
          <p:nvSpPr>
            <p:cNvPr id="1191"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92"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94" name="Log metrics"/>
          <p:cNvSpPr txBox="1"/>
          <p:nvPr/>
        </p:nvSpPr>
        <p:spPr>
          <a:xfrm>
            <a:off x="8956213" y="1505369"/>
            <a:ext cx="129159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Log metrics</a:t>
            </a:r>
          </a:p>
        </p:txBody>
      </p:sp>
      <p:sp>
        <p:nvSpPr>
          <p:cNvPr id="1195" name="Save checkpoint"/>
          <p:cNvSpPr txBox="1"/>
          <p:nvPr/>
        </p:nvSpPr>
        <p:spPr>
          <a:xfrm>
            <a:off x="8716798" y="2251429"/>
            <a:ext cx="177042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Save checkpoint</a:t>
            </a:r>
          </a:p>
        </p:txBody>
      </p:sp>
      <p:sp>
        <p:nvSpPr>
          <p:cNvPr id="1196" name="Line"/>
          <p:cNvSpPr/>
          <p:nvPr/>
        </p:nvSpPr>
        <p:spPr>
          <a:xfrm>
            <a:off x="9573929" y="1903082"/>
            <a:ext cx="1" cy="283376"/>
          </a:xfrm>
          <a:prstGeom prst="line">
            <a:avLst/>
          </a:prstGeom>
          <a:ln w="38100">
            <a:solidFill>
              <a:schemeClr val="accent1"/>
            </a:solidFill>
            <a:miter/>
            <a:tailEnd type="triangle"/>
          </a:ln>
        </p:spPr>
        <p:txBody>
          <a:bodyPr lIns="45719" rIns="45719"/>
          <a:lstStyle/>
          <a:p>
            <a:pPr/>
          </a:p>
        </p:txBody>
      </p:sp>
      <p:sp>
        <p:nvSpPr>
          <p:cNvPr id="1203" name="Connection Line"/>
          <p:cNvSpPr/>
          <p:nvPr/>
        </p:nvSpPr>
        <p:spPr>
          <a:xfrm>
            <a:off x="7302500" y="3519170"/>
            <a:ext cx="2298700"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21600"/>
                </a:lnTo>
                <a:lnTo>
                  <a:pt x="0" y="21600"/>
                </a:lnTo>
              </a:path>
            </a:pathLst>
          </a:custGeom>
          <a:ln w="38100">
            <a:solidFill>
              <a:schemeClr val="accent1"/>
            </a:solidFill>
            <a:miter/>
            <a:headEnd type="oval"/>
            <a:tailEnd type="triangle"/>
          </a:ln>
        </p:spPr>
        <p:txBody>
          <a:bodyPr/>
          <a:lstStyle/>
          <a:p>
            <a:pPr/>
          </a:p>
        </p:txBody>
      </p:sp>
      <p:sp>
        <p:nvSpPr>
          <p:cNvPr id="1198" name="Loop"/>
          <p:cNvSpPr txBox="1"/>
          <p:nvPr/>
        </p:nvSpPr>
        <p:spPr>
          <a:xfrm>
            <a:off x="6544823" y="3733800"/>
            <a:ext cx="757937" cy="383540"/>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1900"/>
            </a:lvl1pPr>
          </a:lstStyle>
          <a:p>
            <a:pPr/>
            <a:r>
              <a:t>Loop</a:t>
            </a:r>
          </a:p>
        </p:txBody>
      </p:sp>
      <p:sp>
        <p:nvSpPr>
          <p:cNvPr id="1204" name="Connection Line"/>
          <p:cNvSpPr/>
          <p:nvPr/>
        </p:nvSpPr>
        <p:spPr>
          <a:xfrm>
            <a:off x="4244340" y="3519170"/>
            <a:ext cx="2299971"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path>
            </a:pathLst>
          </a:custGeom>
          <a:ln w="38100">
            <a:solidFill>
              <a:schemeClr val="accent1"/>
            </a:solidFill>
            <a:miter/>
            <a:tailEnd type="triangle"/>
          </a:ln>
        </p:spPr>
        <p:txBody>
          <a:bodyPr/>
          <a:lstStyle/>
          <a:p>
            <a:pPr/>
          </a:p>
        </p:txBody>
      </p:sp>
      <p:sp>
        <p:nvSpPr>
          <p:cNvPr id="1200" name="Arrow"/>
          <p:cNvSpPr/>
          <p:nvPr/>
        </p:nvSpPr>
        <p:spPr>
          <a:xfrm>
            <a:off x="5205825" y="2044339"/>
            <a:ext cx="743262" cy="220317"/>
          </a:xfrm>
          <a:prstGeom prst="rightArrow">
            <a:avLst>
              <a:gd name="adj1" fmla="val 26721"/>
              <a:gd name="adj2" fmla="val 96701"/>
            </a:avLst>
          </a:prstGeom>
          <a:solidFill>
            <a:schemeClr val="accent1"/>
          </a:solidFill>
          <a:ln w="12700">
            <a:solidFill>
              <a:schemeClr val="accent1"/>
            </a:solidFill>
            <a:miter/>
          </a:ln>
        </p:spPr>
        <p:txBody>
          <a:bodyPr lIns="45719" rIns="45719" anchor="ctr"/>
          <a:lstStyle/>
          <a:p>
            <a:pPr/>
          </a:p>
        </p:txBody>
      </p:sp>
      <p:sp>
        <p:nvSpPr>
          <p:cNvPr id="1201" name="Arrow"/>
          <p:cNvSpPr/>
          <p:nvPr/>
        </p:nvSpPr>
        <p:spPr>
          <a:xfrm>
            <a:off x="7902857" y="2044339"/>
            <a:ext cx="743263" cy="220317"/>
          </a:xfrm>
          <a:prstGeom prst="rightArrow">
            <a:avLst>
              <a:gd name="adj1" fmla="val 26445"/>
              <a:gd name="adj2" fmla="val 96701"/>
            </a:avLst>
          </a:prstGeom>
          <a:solidFill>
            <a:schemeClr val="accent2"/>
          </a:solidFill>
          <a:ln w="12700">
            <a:solidFill>
              <a:schemeClr val="accent2"/>
            </a:solidFill>
            <a:miter/>
          </a:ln>
        </p:spPr>
        <p:txBody>
          <a:bodyPr lIns="45719" rIns="45719" anchor="ctr"/>
          <a:lstStyle/>
          <a:p>
            <a:pPr/>
          </a:p>
        </p:txBody>
      </p:sp>
      <p:sp>
        <p:nvSpPr>
          <p:cNvPr id="1202" name="CPU feeds data, GPU does the math…"/>
          <p:cNvSpPr txBox="1"/>
          <p:nvPr>
            <p:ph type="body" sz="half" idx="4294967295"/>
          </p:nvPr>
        </p:nvSpPr>
        <p:spPr>
          <a:xfrm>
            <a:off x="3079457" y="4329967"/>
            <a:ext cx="7688670" cy="2180738"/>
          </a:xfrm>
          <a:prstGeom prst="rect">
            <a:avLst/>
          </a:prstGeom>
        </p:spPr>
        <p:txBody>
          <a:bodyPr/>
          <a:lstStyle/>
          <a:p>
            <a:pPr marL="508000" indent="-254000">
              <a:buClrTx/>
              <a:buChar char="•"/>
            </a:pPr>
            <a:r>
              <a:t>CPU feeds data, GPU does the math</a:t>
            </a:r>
          </a:p>
          <a:p>
            <a:pPr marL="508000" indent="-254000">
              <a:buClrTx/>
              <a:buChar char="•"/>
            </a:pPr>
            <a:r>
              <a:t>CPU too slow → GPU sits idle ("CPU bottleneck")</a:t>
            </a:r>
          </a:p>
          <a:p>
            <a:pPr marL="508000" indent="-254000">
              <a:buClrTx/>
              <a:buChar char="•"/>
            </a:pPr>
            <a:r>
              <a:t>Request both in SLURM: </a:t>
            </a:r>
            <a:r>
              <a:rPr b="1">
                <a:solidFill>
                  <a:schemeClr val="accent1"/>
                </a:solidFill>
                <a:latin typeface="Courier New"/>
                <a:ea typeface="Courier New"/>
                <a:cs typeface="Courier New"/>
                <a:sym typeface="Courier New"/>
              </a:rPr>
              <a:t>--cpus-per-task</a:t>
            </a:r>
            <a:r>
              <a:t> and </a:t>
            </a:r>
            <a:r>
              <a:rPr b="1">
                <a:solidFill>
                  <a:schemeClr val="accent1"/>
                </a:solidFill>
                <a:latin typeface="Courier New"/>
                <a:ea typeface="Courier New"/>
                <a:cs typeface="Courier New"/>
                <a:sym typeface="Courier New"/>
              </a:rPr>
              <a:t>--gpus</a:t>
            </a:r>
            <a:endParaRPr b="1">
              <a:solidFill>
                <a:schemeClr val="accent1"/>
              </a:solidFill>
              <a:latin typeface="Courier New"/>
              <a:ea typeface="Courier New"/>
              <a:cs typeface="Courier New"/>
              <a:sym typeface="Courier New"/>
            </a:endParaRPr>
          </a:p>
          <a:p>
            <a:pPr marL="508000" indent="-254000">
              <a:buClrTx/>
              <a:buChar char="•"/>
            </a:pPr>
            <a:r>
              <a:t>Rule of thumb: 4-8 CPUs per GPU</a:t>
            </a:r>
          </a:p>
          <a:p>
            <a:pPr marL="508000" indent="-254000">
              <a:buClrTx/>
              <a:buChar char="•"/>
            </a:pPr>
            <a:r>
              <a:t>Our H100 nodes: up to 14 CPU cores per GPU available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85"/>
                                        </p:tgtEl>
                                        <p:attrNameLst>
                                          <p:attrName>style.visibility</p:attrName>
                                        </p:attrNameLst>
                                      </p:cBhvr>
                                      <p:to>
                                        <p:strVal val="visible"/>
                                      </p:to>
                                    </p:set>
                                    <p:animEffect filter="fade" transition="in">
                                      <p:cBhvr>
                                        <p:cTn id="7" dur="1000"/>
                                        <p:tgtEl>
                                          <p:spTgt spid="1185"/>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186"/>
                                        </p:tgtEl>
                                        <p:attrNameLst>
                                          <p:attrName>style.visibility</p:attrName>
                                        </p:attrNameLst>
                                      </p:cBhvr>
                                      <p:to>
                                        <p:strVal val="visible"/>
                                      </p:to>
                                    </p:set>
                                    <p:animEffect filter="fade" transition="in">
                                      <p:cBhvr>
                                        <p:cTn id="11" dur="1000"/>
                                        <p:tgtEl>
                                          <p:spTgt spid="1186"/>
                                        </p:tgtEl>
                                      </p:cBhvr>
                                    </p:animEffect>
                                  </p:childTnLst>
                                </p:cTn>
                              </p:par>
                            </p:childTnLst>
                          </p:cTn>
                        </p:par>
                        <p:par>
                          <p:cTn id="12" fill="hold">
                            <p:stCondLst>
                              <p:cond delay="2000"/>
                            </p:stCondLst>
                            <p:childTnLst>
                              <p:par>
                                <p:cTn id="13" presetClass="entr" nodeType="afterEffect" presetSubtype="1" presetID="22" grpId="3" fill="hold">
                                  <p:stCondLst>
                                    <p:cond delay="0"/>
                                  </p:stCondLst>
                                  <p:iterate type="el" backwards="0">
                                    <p:tmAbs val="0"/>
                                  </p:iterate>
                                  <p:childTnLst>
                                    <p:set>
                                      <p:cBhvr>
                                        <p:cTn id="14" fill="hold"/>
                                        <p:tgtEl>
                                          <p:spTgt spid="1190"/>
                                        </p:tgtEl>
                                        <p:attrNameLst>
                                          <p:attrName>style.visibility</p:attrName>
                                        </p:attrNameLst>
                                      </p:cBhvr>
                                      <p:to>
                                        <p:strVal val="visible"/>
                                      </p:to>
                                    </p:set>
                                    <p:animEffect filter="wipe(up)" transition="in">
                                      <p:cBhvr>
                                        <p:cTn id="15" dur="500"/>
                                        <p:tgtEl>
                                          <p:spTgt spid="1190"/>
                                        </p:tgtEl>
                                      </p:cBhvr>
                                    </p:animEffect>
                                  </p:childTnLst>
                                </p:cTn>
                              </p:par>
                            </p:childTnLst>
                          </p:cTn>
                        </p:par>
                        <p:par>
                          <p:cTn id="16" fill="hold">
                            <p:stCondLst>
                              <p:cond delay="2500"/>
                            </p:stCondLst>
                            <p:childTnLst>
                              <p:par>
                                <p:cTn id="17" presetClass="entr" nodeType="afterEffect" presetID="10" grpId="4" fill="hold">
                                  <p:stCondLst>
                                    <p:cond delay="0"/>
                                  </p:stCondLst>
                                  <p:iterate type="el" backwards="0">
                                    <p:tmAbs val="0"/>
                                  </p:iterate>
                                  <p:childTnLst>
                                    <p:set>
                                      <p:cBhvr>
                                        <p:cTn id="18" fill="hold"/>
                                        <p:tgtEl>
                                          <p:spTgt spid="1187"/>
                                        </p:tgtEl>
                                        <p:attrNameLst>
                                          <p:attrName>style.visibility</p:attrName>
                                        </p:attrNameLst>
                                      </p:cBhvr>
                                      <p:to>
                                        <p:strVal val="visible"/>
                                      </p:to>
                                    </p:set>
                                    <p:animEffect filter="fade" transition="in">
                                      <p:cBhvr>
                                        <p:cTn id="19" dur="1000"/>
                                        <p:tgtEl>
                                          <p:spTgt spid="1187"/>
                                        </p:tgtEl>
                                      </p:cBhvr>
                                    </p:animEffect>
                                  </p:childTnLst>
                                </p:cTn>
                              </p:par>
                            </p:childTnLst>
                          </p:cTn>
                        </p:par>
                        <p:par>
                          <p:cTn id="20" fill="hold">
                            <p:stCondLst>
                              <p:cond delay="3500"/>
                            </p:stCondLst>
                            <p:childTnLst>
                              <p:par>
                                <p:cTn id="21" presetClass="entr" nodeType="afterEffect" presetSubtype="1" presetID="22" grpId="5" fill="hold">
                                  <p:stCondLst>
                                    <p:cond delay="0"/>
                                  </p:stCondLst>
                                  <p:iterate type="el" backwards="0">
                                    <p:tmAbs val="0"/>
                                  </p:iterate>
                                  <p:childTnLst>
                                    <p:set>
                                      <p:cBhvr>
                                        <p:cTn id="22" fill="hold"/>
                                        <p:tgtEl>
                                          <p:spTgt spid="1189"/>
                                        </p:tgtEl>
                                        <p:attrNameLst>
                                          <p:attrName>style.visibility</p:attrName>
                                        </p:attrNameLst>
                                      </p:cBhvr>
                                      <p:to>
                                        <p:strVal val="visible"/>
                                      </p:to>
                                    </p:set>
                                    <p:animEffect filter="wipe(up)" transition="in">
                                      <p:cBhvr>
                                        <p:cTn id="23" dur="500"/>
                                        <p:tgtEl>
                                          <p:spTgt spid="1189"/>
                                        </p:tgtEl>
                                      </p:cBhvr>
                                    </p:animEffect>
                                  </p:childTnLst>
                                </p:cTn>
                              </p:par>
                            </p:childTnLst>
                          </p:cTn>
                        </p:par>
                        <p:par>
                          <p:cTn id="24" fill="hold">
                            <p:stCondLst>
                              <p:cond delay="4000"/>
                            </p:stCondLst>
                            <p:childTnLst>
                              <p:par>
                                <p:cTn id="25" presetClass="entr" nodeType="afterEffect" presetID="10" grpId="6" fill="hold">
                                  <p:stCondLst>
                                    <p:cond delay="0"/>
                                  </p:stCondLst>
                                  <p:iterate type="el" backwards="0">
                                    <p:tmAbs val="0"/>
                                  </p:iterate>
                                  <p:childTnLst>
                                    <p:set>
                                      <p:cBhvr>
                                        <p:cTn id="26" fill="hold"/>
                                        <p:tgtEl>
                                          <p:spTgt spid="1188"/>
                                        </p:tgtEl>
                                        <p:attrNameLst>
                                          <p:attrName>style.visibility</p:attrName>
                                        </p:attrNameLst>
                                      </p:cBhvr>
                                      <p:to>
                                        <p:strVal val="visible"/>
                                      </p:to>
                                    </p:set>
                                    <p:animEffect filter="fade" transition="in">
                                      <p:cBhvr>
                                        <p:cTn id="27" dur="1000"/>
                                        <p:tgtEl>
                                          <p:spTgt spid="1188"/>
                                        </p:tgtEl>
                                      </p:cBhvr>
                                    </p:animEffect>
                                  </p:childTnLst>
                                </p:cTn>
                              </p:par>
                            </p:childTnLst>
                          </p:cTn>
                        </p:par>
                        <p:par>
                          <p:cTn id="28" fill="hold">
                            <p:stCondLst>
                              <p:cond delay="5000"/>
                            </p:stCondLst>
                            <p:childTnLst>
                              <p:par>
                                <p:cTn id="29" presetClass="entr" nodeType="afterEffect" presetSubtype="8" presetID="22" grpId="7" fill="hold">
                                  <p:stCondLst>
                                    <p:cond delay="0"/>
                                  </p:stCondLst>
                                  <p:iterate type="el" backwards="0">
                                    <p:tmAbs val="0"/>
                                  </p:iterate>
                                  <p:childTnLst>
                                    <p:set>
                                      <p:cBhvr>
                                        <p:cTn id="30" fill="hold"/>
                                        <p:tgtEl>
                                          <p:spTgt spid="1200"/>
                                        </p:tgtEl>
                                        <p:attrNameLst>
                                          <p:attrName>style.visibility</p:attrName>
                                        </p:attrNameLst>
                                      </p:cBhvr>
                                      <p:to>
                                        <p:strVal val="visible"/>
                                      </p:to>
                                    </p:set>
                                    <p:animEffect filter="wipe(left)" transition="in">
                                      <p:cBhvr>
                                        <p:cTn id="31" dur="800"/>
                                        <p:tgtEl>
                                          <p:spTgt spid="1200"/>
                                        </p:tgtEl>
                                      </p:cBhvr>
                                    </p:animEffect>
                                  </p:childTnLst>
                                </p:cTn>
                              </p:par>
                            </p:childTnLst>
                          </p:cTn>
                        </p:par>
                        <p:par>
                          <p:cTn id="32" fill="hold">
                            <p:stCondLst>
                              <p:cond delay="5800"/>
                            </p:stCondLst>
                            <p:childTnLst>
                              <p:par>
                                <p:cTn id="33" presetClass="entr" nodeType="afterEffect" presetID="10" grpId="8" fill="hold">
                                  <p:stCondLst>
                                    <p:cond delay="0"/>
                                  </p:stCondLst>
                                  <p:iterate type="el" backwards="0">
                                    <p:tmAbs val="0"/>
                                  </p:iterate>
                                  <p:childTnLst>
                                    <p:set>
                                      <p:cBhvr>
                                        <p:cTn id="34" fill="hold"/>
                                        <p:tgtEl>
                                          <p:spTgt spid="1175"/>
                                        </p:tgtEl>
                                        <p:attrNameLst>
                                          <p:attrName>style.visibility</p:attrName>
                                        </p:attrNameLst>
                                      </p:cBhvr>
                                      <p:to>
                                        <p:strVal val="visible"/>
                                      </p:to>
                                    </p:set>
                                    <p:animEffect filter="fade" transition="in">
                                      <p:cBhvr>
                                        <p:cTn id="35" dur="1000"/>
                                        <p:tgtEl>
                                          <p:spTgt spid="1175"/>
                                        </p:tgtEl>
                                      </p:cBhvr>
                                    </p:animEffect>
                                  </p:childTnLst>
                                </p:cTn>
                              </p:par>
                            </p:childTnLst>
                          </p:cTn>
                        </p:par>
                        <p:par>
                          <p:cTn id="36" fill="hold">
                            <p:stCondLst>
                              <p:cond delay="6800"/>
                            </p:stCondLst>
                            <p:childTnLst>
                              <p:par>
                                <p:cTn id="37" presetClass="entr" nodeType="afterEffect" presetID="10" grpId="9" fill="hold">
                                  <p:stCondLst>
                                    <p:cond delay="0"/>
                                  </p:stCondLst>
                                  <p:iterate type="el" backwards="0">
                                    <p:tmAbs val="0"/>
                                  </p:iterate>
                                  <p:childTnLst>
                                    <p:set>
                                      <p:cBhvr>
                                        <p:cTn id="38" fill="hold"/>
                                        <p:tgtEl>
                                          <p:spTgt spid="1176"/>
                                        </p:tgtEl>
                                        <p:attrNameLst>
                                          <p:attrName>style.visibility</p:attrName>
                                        </p:attrNameLst>
                                      </p:cBhvr>
                                      <p:to>
                                        <p:strVal val="visible"/>
                                      </p:to>
                                    </p:set>
                                    <p:animEffect filter="fade" transition="in">
                                      <p:cBhvr>
                                        <p:cTn id="39" dur="1000"/>
                                        <p:tgtEl>
                                          <p:spTgt spid="1176"/>
                                        </p:tgtEl>
                                      </p:cBhvr>
                                    </p:animEffect>
                                  </p:childTnLst>
                                </p:cTn>
                              </p:par>
                            </p:childTnLst>
                          </p:cTn>
                        </p:par>
                        <p:par>
                          <p:cTn id="40" fill="hold">
                            <p:stCondLst>
                              <p:cond delay="7800"/>
                            </p:stCondLst>
                            <p:childTnLst>
                              <p:par>
                                <p:cTn id="41" presetClass="entr" nodeType="afterEffect" presetSubtype="1" presetID="22" grpId="10" fill="hold">
                                  <p:stCondLst>
                                    <p:cond delay="0"/>
                                  </p:stCondLst>
                                  <p:iterate type="el" backwards="0">
                                    <p:tmAbs val="0"/>
                                  </p:iterate>
                                  <p:childTnLst>
                                    <p:set>
                                      <p:cBhvr>
                                        <p:cTn id="42" fill="hold"/>
                                        <p:tgtEl>
                                          <p:spTgt spid="1181"/>
                                        </p:tgtEl>
                                        <p:attrNameLst>
                                          <p:attrName>style.visibility</p:attrName>
                                        </p:attrNameLst>
                                      </p:cBhvr>
                                      <p:to>
                                        <p:strVal val="visible"/>
                                      </p:to>
                                    </p:set>
                                    <p:animEffect filter="wipe(up)" transition="in">
                                      <p:cBhvr>
                                        <p:cTn id="43" dur="500"/>
                                        <p:tgtEl>
                                          <p:spTgt spid="1181"/>
                                        </p:tgtEl>
                                      </p:cBhvr>
                                    </p:animEffect>
                                  </p:childTnLst>
                                </p:cTn>
                              </p:par>
                            </p:childTnLst>
                          </p:cTn>
                        </p:par>
                        <p:par>
                          <p:cTn id="44" fill="hold">
                            <p:stCondLst>
                              <p:cond delay="8300"/>
                            </p:stCondLst>
                            <p:childTnLst>
                              <p:par>
                                <p:cTn id="45" presetClass="entr" nodeType="afterEffect" presetID="10" grpId="11" fill="hold">
                                  <p:stCondLst>
                                    <p:cond delay="0"/>
                                  </p:stCondLst>
                                  <p:iterate type="el" backwards="0">
                                    <p:tmAbs val="0"/>
                                  </p:iterate>
                                  <p:childTnLst>
                                    <p:set>
                                      <p:cBhvr>
                                        <p:cTn id="46" fill="hold"/>
                                        <p:tgtEl>
                                          <p:spTgt spid="1177"/>
                                        </p:tgtEl>
                                        <p:attrNameLst>
                                          <p:attrName>style.visibility</p:attrName>
                                        </p:attrNameLst>
                                      </p:cBhvr>
                                      <p:to>
                                        <p:strVal val="visible"/>
                                      </p:to>
                                    </p:set>
                                    <p:animEffect filter="fade" transition="in">
                                      <p:cBhvr>
                                        <p:cTn id="47" dur="1000"/>
                                        <p:tgtEl>
                                          <p:spTgt spid="1177"/>
                                        </p:tgtEl>
                                      </p:cBhvr>
                                    </p:animEffect>
                                  </p:childTnLst>
                                </p:cTn>
                              </p:par>
                            </p:childTnLst>
                          </p:cTn>
                        </p:par>
                        <p:par>
                          <p:cTn id="48" fill="hold">
                            <p:stCondLst>
                              <p:cond delay="9300"/>
                            </p:stCondLst>
                            <p:childTnLst>
                              <p:par>
                                <p:cTn id="49" presetClass="entr" nodeType="afterEffect" presetSubtype="1" presetID="22" grpId="12" fill="hold">
                                  <p:stCondLst>
                                    <p:cond delay="0"/>
                                  </p:stCondLst>
                                  <p:iterate type="el" backwards="0">
                                    <p:tmAbs val="0"/>
                                  </p:iterate>
                                  <p:childTnLst>
                                    <p:set>
                                      <p:cBhvr>
                                        <p:cTn id="50" fill="hold"/>
                                        <p:tgtEl>
                                          <p:spTgt spid="1180"/>
                                        </p:tgtEl>
                                        <p:attrNameLst>
                                          <p:attrName>style.visibility</p:attrName>
                                        </p:attrNameLst>
                                      </p:cBhvr>
                                      <p:to>
                                        <p:strVal val="visible"/>
                                      </p:to>
                                    </p:set>
                                    <p:animEffect filter="wipe(up)" transition="in">
                                      <p:cBhvr>
                                        <p:cTn id="51" dur="500"/>
                                        <p:tgtEl>
                                          <p:spTgt spid="1180"/>
                                        </p:tgtEl>
                                      </p:cBhvr>
                                    </p:animEffect>
                                  </p:childTnLst>
                                </p:cTn>
                              </p:par>
                            </p:childTnLst>
                          </p:cTn>
                        </p:par>
                        <p:par>
                          <p:cTn id="52" fill="hold">
                            <p:stCondLst>
                              <p:cond delay="9800"/>
                            </p:stCondLst>
                            <p:childTnLst>
                              <p:par>
                                <p:cTn id="53" presetClass="entr" nodeType="afterEffect" presetID="10" grpId="13" fill="hold">
                                  <p:stCondLst>
                                    <p:cond delay="0"/>
                                  </p:stCondLst>
                                  <p:iterate type="el" backwards="0">
                                    <p:tmAbs val="0"/>
                                  </p:iterate>
                                  <p:childTnLst>
                                    <p:set>
                                      <p:cBhvr>
                                        <p:cTn id="54" fill="hold"/>
                                        <p:tgtEl>
                                          <p:spTgt spid="1178"/>
                                        </p:tgtEl>
                                        <p:attrNameLst>
                                          <p:attrName>style.visibility</p:attrName>
                                        </p:attrNameLst>
                                      </p:cBhvr>
                                      <p:to>
                                        <p:strVal val="visible"/>
                                      </p:to>
                                    </p:set>
                                    <p:animEffect filter="fade" transition="in">
                                      <p:cBhvr>
                                        <p:cTn id="55" dur="1000"/>
                                        <p:tgtEl>
                                          <p:spTgt spid="1178"/>
                                        </p:tgtEl>
                                      </p:cBhvr>
                                    </p:animEffect>
                                  </p:childTnLst>
                                </p:cTn>
                              </p:par>
                            </p:childTnLst>
                          </p:cTn>
                        </p:par>
                        <p:par>
                          <p:cTn id="56" fill="hold">
                            <p:stCondLst>
                              <p:cond delay="10800"/>
                            </p:stCondLst>
                            <p:childTnLst>
                              <p:par>
                                <p:cTn id="57" presetClass="entr" nodeType="afterEffect" presetSubtype="1" presetID="22" grpId="14" fill="hold">
                                  <p:stCondLst>
                                    <p:cond delay="0"/>
                                  </p:stCondLst>
                                  <p:iterate type="el" backwards="0">
                                    <p:tmAbs val="0"/>
                                  </p:iterate>
                                  <p:childTnLst>
                                    <p:set>
                                      <p:cBhvr>
                                        <p:cTn id="58" fill="hold"/>
                                        <p:tgtEl>
                                          <p:spTgt spid="1182"/>
                                        </p:tgtEl>
                                        <p:attrNameLst>
                                          <p:attrName>style.visibility</p:attrName>
                                        </p:attrNameLst>
                                      </p:cBhvr>
                                      <p:to>
                                        <p:strVal val="visible"/>
                                      </p:to>
                                    </p:set>
                                    <p:animEffect filter="wipe(up)" transition="in">
                                      <p:cBhvr>
                                        <p:cTn id="59" dur="500"/>
                                        <p:tgtEl>
                                          <p:spTgt spid="1182"/>
                                        </p:tgtEl>
                                      </p:cBhvr>
                                    </p:animEffect>
                                  </p:childTnLst>
                                </p:cTn>
                              </p:par>
                            </p:childTnLst>
                          </p:cTn>
                        </p:par>
                        <p:par>
                          <p:cTn id="60" fill="hold">
                            <p:stCondLst>
                              <p:cond delay="11300"/>
                            </p:stCondLst>
                            <p:childTnLst>
                              <p:par>
                                <p:cTn id="61" presetClass="entr" nodeType="afterEffect" presetID="10" grpId="15" fill="hold">
                                  <p:stCondLst>
                                    <p:cond delay="0"/>
                                  </p:stCondLst>
                                  <p:iterate type="el" backwards="0">
                                    <p:tmAbs val="0"/>
                                  </p:iterate>
                                  <p:childTnLst>
                                    <p:set>
                                      <p:cBhvr>
                                        <p:cTn id="62" fill="hold"/>
                                        <p:tgtEl>
                                          <p:spTgt spid="1179"/>
                                        </p:tgtEl>
                                        <p:attrNameLst>
                                          <p:attrName>style.visibility</p:attrName>
                                        </p:attrNameLst>
                                      </p:cBhvr>
                                      <p:to>
                                        <p:strVal val="visible"/>
                                      </p:to>
                                    </p:set>
                                    <p:animEffect filter="fade" transition="in">
                                      <p:cBhvr>
                                        <p:cTn id="63" dur="1000"/>
                                        <p:tgtEl>
                                          <p:spTgt spid="1179"/>
                                        </p:tgtEl>
                                      </p:cBhvr>
                                    </p:animEffect>
                                  </p:childTnLst>
                                </p:cTn>
                              </p:par>
                            </p:childTnLst>
                          </p:cTn>
                        </p:par>
                        <p:par>
                          <p:cTn id="64" fill="hold">
                            <p:stCondLst>
                              <p:cond delay="12300"/>
                            </p:stCondLst>
                            <p:childTnLst>
                              <p:par>
                                <p:cTn id="65" presetClass="entr" nodeType="afterEffect" presetSubtype="8" presetID="22" grpId="16" fill="hold">
                                  <p:stCondLst>
                                    <p:cond delay="0"/>
                                  </p:stCondLst>
                                  <p:iterate type="el" backwards="0">
                                    <p:tmAbs val="0"/>
                                  </p:iterate>
                                  <p:childTnLst>
                                    <p:set>
                                      <p:cBhvr>
                                        <p:cTn id="66" fill="hold"/>
                                        <p:tgtEl>
                                          <p:spTgt spid="1201"/>
                                        </p:tgtEl>
                                        <p:attrNameLst>
                                          <p:attrName>style.visibility</p:attrName>
                                        </p:attrNameLst>
                                      </p:cBhvr>
                                      <p:to>
                                        <p:strVal val="visible"/>
                                      </p:to>
                                    </p:set>
                                    <p:animEffect filter="wipe(left)" transition="in">
                                      <p:cBhvr>
                                        <p:cTn id="67" dur="800"/>
                                        <p:tgtEl>
                                          <p:spTgt spid="1201"/>
                                        </p:tgtEl>
                                      </p:cBhvr>
                                    </p:animEffect>
                                  </p:childTnLst>
                                </p:cTn>
                              </p:par>
                            </p:childTnLst>
                          </p:cTn>
                        </p:par>
                        <p:par>
                          <p:cTn id="68" fill="hold">
                            <p:stCondLst>
                              <p:cond delay="13100"/>
                            </p:stCondLst>
                            <p:childTnLst>
                              <p:par>
                                <p:cTn id="69" presetClass="entr" nodeType="afterEffect" presetID="10" grpId="17" fill="hold">
                                  <p:stCondLst>
                                    <p:cond delay="0"/>
                                  </p:stCondLst>
                                  <p:iterate type="el" backwards="0">
                                    <p:tmAbs val="0"/>
                                  </p:iterate>
                                  <p:childTnLst>
                                    <p:set>
                                      <p:cBhvr>
                                        <p:cTn id="70" fill="hold"/>
                                        <p:tgtEl>
                                          <p:spTgt spid="1193"/>
                                        </p:tgtEl>
                                        <p:attrNameLst>
                                          <p:attrName>style.visibility</p:attrName>
                                        </p:attrNameLst>
                                      </p:cBhvr>
                                      <p:to>
                                        <p:strVal val="visible"/>
                                      </p:to>
                                    </p:set>
                                    <p:animEffect filter="fade" transition="in">
                                      <p:cBhvr>
                                        <p:cTn id="71" dur="1000"/>
                                        <p:tgtEl>
                                          <p:spTgt spid="1193"/>
                                        </p:tgtEl>
                                      </p:cBhvr>
                                    </p:animEffect>
                                  </p:childTnLst>
                                </p:cTn>
                              </p:par>
                            </p:childTnLst>
                          </p:cTn>
                        </p:par>
                        <p:par>
                          <p:cTn id="72" fill="hold">
                            <p:stCondLst>
                              <p:cond delay="14100"/>
                            </p:stCondLst>
                            <p:childTnLst>
                              <p:par>
                                <p:cTn id="73" presetClass="entr" nodeType="afterEffect" presetID="10" grpId="18" fill="hold">
                                  <p:stCondLst>
                                    <p:cond delay="0"/>
                                  </p:stCondLst>
                                  <p:iterate type="el" backwards="0">
                                    <p:tmAbs val="0"/>
                                  </p:iterate>
                                  <p:childTnLst>
                                    <p:set>
                                      <p:cBhvr>
                                        <p:cTn id="74" fill="hold"/>
                                        <p:tgtEl>
                                          <p:spTgt spid="1194"/>
                                        </p:tgtEl>
                                        <p:attrNameLst>
                                          <p:attrName>style.visibility</p:attrName>
                                        </p:attrNameLst>
                                      </p:cBhvr>
                                      <p:to>
                                        <p:strVal val="visible"/>
                                      </p:to>
                                    </p:set>
                                    <p:animEffect filter="fade" transition="in">
                                      <p:cBhvr>
                                        <p:cTn id="75" dur="1000"/>
                                        <p:tgtEl>
                                          <p:spTgt spid="1194"/>
                                        </p:tgtEl>
                                      </p:cBhvr>
                                    </p:animEffect>
                                  </p:childTnLst>
                                </p:cTn>
                              </p:par>
                            </p:childTnLst>
                          </p:cTn>
                        </p:par>
                        <p:par>
                          <p:cTn id="76" fill="hold">
                            <p:stCondLst>
                              <p:cond delay="15100"/>
                            </p:stCondLst>
                            <p:childTnLst>
                              <p:par>
                                <p:cTn id="77" presetClass="entr" nodeType="afterEffect" presetSubtype="1" presetID="22" grpId="19" fill="hold">
                                  <p:stCondLst>
                                    <p:cond delay="0"/>
                                  </p:stCondLst>
                                  <p:iterate type="el" backwards="0">
                                    <p:tmAbs val="0"/>
                                  </p:iterate>
                                  <p:childTnLst>
                                    <p:set>
                                      <p:cBhvr>
                                        <p:cTn id="78" fill="hold"/>
                                        <p:tgtEl>
                                          <p:spTgt spid="1196"/>
                                        </p:tgtEl>
                                        <p:attrNameLst>
                                          <p:attrName>style.visibility</p:attrName>
                                        </p:attrNameLst>
                                      </p:cBhvr>
                                      <p:to>
                                        <p:strVal val="visible"/>
                                      </p:to>
                                    </p:set>
                                    <p:animEffect filter="wipe(up)" transition="in">
                                      <p:cBhvr>
                                        <p:cTn id="79" dur="500"/>
                                        <p:tgtEl>
                                          <p:spTgt spid="1196"/>
                                        </p:tgtEl>
                                      </p:cBhvr>
                                    </p:animEffect>
                                  </p:childTnLst>
                                </p:cTn>
                              </p:par>
                            </p:childTnLst>
                          </p:cTn>
                        </p:par>
                        <p:par>
                          <p:cTn id="80" fill="hold">
                            <p:stCondLst>
                              <p:cond delay="15600"/>
                            </p:stCondLst>
                            <p:childTnLst>
                              <p:par>
                                <p:cTn id="81" presetClass="entr" nodeType="afterEffect" presetID="10" grpId="20" fill="hold">
                                  <p:stCondLst>
                                    <p:cond delay="0"/>
                                  </p:stCondLst>
                                  <p:iterate type="el" backwards="0">
                                    <p:tmAbs val="0"/>
                                  </p:iterate>
                                  <p:childTnLst>
                                    <p:set>
                                      <p:cBhvr>
                                        <p:cTn id="82" fill="hold"/>
                                        <p:tgtEl>
                                          <p:spTgt spid="1195"/>
                                        </p:tgtEl>
                                        <p:attrNameLst>
                                          <p:attrName>style.visibility</p:attrName>
                                        </p:attrNameLst>
                                      </p:cBhvr>
                                      <p:to>
                                        <p:strVal val="visible"/>
                                      </p:to>
                                    </p:set>
                                    <p:animEffect filter="fade" transition="in">
                                      <p:cBhvr>
                                        <p:cTn id="83" dur="1000"/>
                                        <p:tgtEl>
                                          <p:spTgt spid="1195"/>
                                        </p:tgtEl>
                                      </p:cBhvr>
                                    </p:animEffect>
                                  </p:childTnLst>
                                </p:cTn>
                              </p:par>
                            </p:childTnLst>
                          </p:cTn>
                        </p:par>
                        <p:par>
                          <p:cTn id="84" fill="hold">
                            <p:stCondLst>
                              <p:cond delay="16600"/>
                            </p:stCondLst>
                            <p:childTnLst>
                              <p:par>
                                <p:cTn id="85" presetClass="entr" nodeType="afterEffect" presetID="9" grpId="21" fill="hold">
                                  <p:stCondLst>
                                    <p:cond delay="0"/>
                                  </p:stCondLst>
                                  <p:iterate type="el" backwards="0">
                                    <p:tmAbs val="0"/>
                                  </p:iterate>
                                  <p:childTnLst>
                                    <p:set>
                                      <p:cBhvr>
                                        <p:cTn id="86" fill="hold"/>
                                        <p:tgtEl>
                                          <p:spTgt spid="1203"/>
                                        </p:tgtEl>
                                        <p:attrNameLst>
                                          <p:attrName>style.visibility</p:attrName>
                                        </p:attrNameLst>
                                      </p:cBhvr>
                                      <p:to>
                                        <p:strVal val="visible"/>
                                      </p:to>
                                    </p:set>
                                    <p:animEffect filter="dissolve" transition="in">
                                      <p:cBhvr>
                                        <p:cTn id="87" dur="1250"/>
                                        <p:tgtEl>
                                          <p:spTgt spid="1203"/>
                                        </p:tgtEl>
                                      </p:cBhvr>
                                    </p:animEffect>
                                  </p:childTnLst>
                                </p:cTn>
                              </p:par>
                            </p:childTnLst>
                          </p:cTn>
                        </p:par>
                        <p:par>
                          <p:cTn id="88" fill="hold">
                            <p:stCondLst>
                              <p:cond delay="17850"/>
                            </p:stCondLst>
                            <p:childTnLst>
                              <p:par>
                                <p:cTn id="89" presetClass="entr" nodeType="afterEffect" presetID="10" grpId="22" fill="hold">
                                  <p:stCondLst>
                                    <p:cond delay="0"/>
                                  </p:stCondLst>
                                  <p:iterate type="el" backwards="0">
                                    <p:tmAbs val="0"/>
                                  </p:iterate>
                                  <p:childTnLst>
                                    <p:set>
                                      <p:cBhvr>
                                        <p:cTn id="90" fill="hold"/>
                                        <p:tgtEl>
                                          <p:spTgt spid="1198"/>
                                        </p:tgtEl>
                                        <p:attrNameLst>
                                          <p:attrName>style.visibility</p:attrName>
                                        </p:attrNameLst>
                                      </p:cBhvr>
                                      <p:to>
                                        <p:strVal val="visible"/>
                                      </p:to>
                                    </p:set>
                                    <p:animEffect filter="fade" transition="in">
                                      <p:cBhvr>
                                        <p:cTn id="91" dur="700"/>
                                        <p:tgtEl>
                                          <p:spTgt spid="1198"/>
                                        </p:tgtEl>
                                      </p:cBhvr>
                                    </p:animEffect>
                                  </p:childTnLst>
                                </p:cTn>
                              </p:par>
                            </p:childTnLst>
                          </p:cTn>
                        </p:par>
                        <p:par>
                          <p:cTn id="92" fill="hold">
                            <p:stCondLst>
                              <p:cond delay="18550"/>
                            </p:stCondLst>
                            <p:childTnLst>
                              <p:par>
                                <p:cTn id="93" presetClass="entr" nodeType="afterEffect" presetID="9" grpId="23" fill="hold">
                                  <p:stCondLst>
                                    <p:cond delay="0"/>
                                  </p:stCondLst>
                                  <p:iterate type="el" backwards="0">
                                    <p:tmAbs val="0"/>
                                  </p:iterate>
                                  <p:childTnLst>
                                    <p:set>
                                      <p:cBhvr>
                                        <p:cTn id="94" fill="hold"/>
                                        <p:tgtEl>
                                          <p:spTgt spid="1204"/>
                                        </p:tgtEl>
                                        <p:attrNameLst>
                                          <p:attrName>style.visibility</p:attrName>
                                        </p:attrNameLst>
                                      </p:cBhvr>
                                      <p:to>
                                        <p:strVal val="visible"/>
                                      </p:to>
                                    </p:set>
                                    <p:animEffect filter="dissolve" transition="in">
                                      <p:cBhvr>
                                        <p:cTn id="95" dur="1250"/>
                                        <p:tgtEl>
                                          <p:spTgt spid="1204"/>
                                        </p:tgtEl>
                                      </p:cBhvr>
                                    </p:animEffect>
                                  </p:childTnLst>
                                </p:cTn>
                              </p:par>
                            </p:childTnLst>
                          </p:cTn>
                        </p:par>
                        <p:par>
                          <p:cTn id="96" fill="hold">
                            <p:stCondLst>
                              <p:cond delay="19800"/>
                            </p:stCondLst>
                            <p:childTnLst>
                              <p:par>
                                <p:cTn id="97" presetClass="entr" nodeType="afterEffect" presetID="10" grpId="24" fill="hold">
                                  <p:stCondLst>
                                    <p:cond delay="0"/>
                                  </p:stCondLst>
                                  <p:iterate type="el" backwards="0">
                                    <p:tmAbs val="0"/>
                                  </p:iterate>
                                  <p:childTnLst>
                                    <p:set>
                                      <p:cBhvr>
                                        <p:cTn id="98" fill="hold"/>
                                        <p:tgtEl>
                                          <p:spTgt spid="1202"/>
                                        </p:tgtEl>
                                        <p:attrNameLst>
                                          <p:attrName>style.visibility</p:attrName>
                                        </p:attrNameLst>
                                      </p:cBhvr>
                                      <p:to>
                                        <p:strVal val="visible"/>
                                      </p:to>
                                    </p:set>
                                    <p:animEffect filter="fade" transition="in">
                                      <p:cBhvr>
                                        <p:cTn id="99" dur="1000"/>
                                        <p:tgtEl>
                                          <p:spTgt spid="12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01" grpId="16"/>
      <p:bldP build="whole" bldLvl="1" animBg="1" rev="0" advAuto="0" spid="1178" grpId="13"/>
      <p:bldP build="whole" bldLvl="1" animBg="1" rev="0" advAuto="0" spid="1175" grpId="8"/>
      <p:bldP build="whole" bldLvl="1" animBg="1" rev="0" advAuto="0" spid="1180" grpId="12"/>
      <p:bldP build="whole" bldLvl="1" animBg="1" rev="0" advAuto="0" spid="1186" grpId="2"/>
      <p:bldP build="whole" bldLvl="1" animBg="1" rev="0" advAuto="0" spid="1193" grpId="17"/>
      <p:bldP build="whole" bldLvl="1" animBg="1" rev="0" advAuto="0" spid="1181" grpId="10"/>
      <p:bldP build="whole" bldLvl="1" animBg="1" rev="0" advAuto="0" spid="1194" grpId="18"/>
      <p:bldP build="whole" bldLvl="1" animBg="1" rev="0" advAuto="0" spid="1190" grpId="3"/>
      <p:bldP build="whole" bldLvl="1" animBg="1" rev="0" advAuto="0" spid="1179" grpId="15"/>
      <p:bldP build="whole" bldLvl="1" animBg="1" rev="0" advAuto="0" spid="1187" grpId="4"/>
      <p:bldP build="whole" bldLvl="1" animBg="1" rev="0" advAuto="0" spid="1198" grpId="22"/>
      <p:bldP build="whole" bldLvl="1" animBg="1" rev="0" advAuto="0" spid="1185" grpId="1"/>
      <p:bldP build="whole" bldLvl="1" animBg="1" rev="0" advAuto="0" spid="1202" grpId="24"/>
      <p:bldP build="whole" bldLvl="1" animBg="1" rev="0" advAuto="0" spid="1203" grpId="21"/>
      <p:bldP build="whole" bldLvl="1" animBg="1" rev="0" advAuto="0" spid="1200" grpId="7"/>
      <p:bldP build="whole" bldLvl="1" animBg="1" rev="0" advAuto="0" spid="1177" grpId="11"/>
      <p:bldP build="whole" bldLvl="1" animBg="1" rev="0" advAuto="0" spid="1188" grpId="6"/>
      <p:bldP build="whole" bldLvl="1" animBg="1" rev="0" advAuto="0" spid="1189" grpId="5"/>
      <p:bldP build="whole" bldLvl="1" animBg="1" rev="0" advAuto="0" spid="1204" grpId="23"/>
      <p:bldP build="whole" bldLvl="1" animBg="1" rev="0" advAuto="0" spid="1182" grpId="14"/>
      <p:bldP build="whole" bldLvl="1" animBg="1" rev="0" advAuto="0" spid="1176" grpId="9"/>
      <p:bldP build="whole" bldLvl="1" animBg="1" rev="0" advAuto="0" spid="1195" grpId="20"/>
      <p:bldP build="whole" bldLvl="1" animBg="1" rev="0" advAuto="0" spid="1196" grpId="19"/>
    </p:bld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6"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07"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0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09"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10"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11"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12"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13"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14"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15" name="RAM (system memory):…"/>
          <p:cNvSpPr txBox="1"/>
          <p:nvPr>
            <p:ph type="body" sz="quarter" idx="4294967295"/>
          </p:nvPr>
        </p:nvSpPr>
        <p:spPr>
          <a:xfrm>
            <a:off x="2885833" y="3665153"/>
            <a:ext cx="4542869" cy="2117924"/>
          </a:xfrm>
          <a:prstGeom prst="rect">
            <a:avLst/>
          </a:prstGeom>
        </p:spPr>
        <p:txBody>
          <a:bodyPr/>
          <a:lstStyle>
            <a:lvl1pPr marL="0" indent="0">
              <a:buClrTx/>
              <a:buSzTx/>
              <a:buNone/>
              <a:defRPr b="1"/>
            </a:lvl1pPr>
            <a:lvl2pPr marL="0" indent="228600">
              <a:buClrTx/>
              <a:buSzTx/>
              <a:buNone/>
            </a:lvl2pPr>
          </a:lstStyle>
          <a:p>
            <a:pPr/>
            <a:r>
              <a:t>RAM (system memory):</a:t>
            </a:r>
          </a:p>
          <a:p>
            <a:pPr lvl="1"/>
            <a:r>
              <a:t>used by the CPU. Holds your dataset, preprocessing pipelines, OS, and everything else. Our H100 nodes have ~2 TB.</a:t>
            </a:r>
          </a:p>
        </p:txBody>
      </p:sp>
      <p:sp>
        <p:nvSpPr>
          <p:cNvPr id="1216"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17"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
        <p:nvSpPr>
          <p:cNvPr id="1218" name="VRAM (GPU memory):…"/>
          <p:cNvSpPr txBox="1"/>
          <p:nvPr/>
        </p:nvSpPr>
        <p:spPr>
          <a:xfrm>
            <a:off x="7855401" y="3665153"/>
            <a:ext cx="4233962" cy="211792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50000"/>
              </a:lnSpc>
              <a:defRPr b="1"/>
            </a:lvl1pPr>
            <a:lvl2pPr indent="228600">
              <a:lnSpc>
                <a:spcPct val="150000"/>
              </a:lnSpc>
            </a:lvl2pPr>
          </a:lstStyle>
          <a:p>
            <a:pPr/>
            <a:r>
              <a:t>VRAM (GPU memory):</a:t>
            </a:r>
          </a:p>
          <a:p>
            <a:pPr lvl="1"/>
            <a:r>
              <a:t>dedicated memory on the GPU. Holds model weights, activations, and gradients during training. An H100 has 80 GB.</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15"/>
                                        </p:tgtEl>
                                        <p:attrNameLst>
                                          <p:attrName>style.visibility</p:attrName>
                                        </p:attrNameLst>
                                      </p:cBhvr>
                                      <p:to>
                                        <p:strVal val="visible"/>
                                      </p:to>
                                    </p:set>
                                    <p:animEffect filter="fade" transition="in">
                                      <p:cBhvr>
                                        <p:cTn id="7" dur="1000"/>
                                        <p:tgtEl>
                                          <p:spTgt spid="1215"/>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218"/>
                                        </p:tgtEl>
                                        <p:attrNameLst>
                                          <p:attrName>style.visibility</p:attrName>
                                        </p:attrNameLst>
                                      </p:cBhvr>
                                      <p:to>
                                        <p:strVal val="visible"/>
                                      </p:to>
                                    </p:set>
                                    <p:animEffect filter="fade" transition="in">
                                      <p:cBhvr>
                                        <p:cTn id="11" dur="1000"/>
                                        <p:tgtEl>
                                          <p:spTgt spid="121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8" grpId="2"/>
      <p:bldP build="whole" bldLvl="1" animBg="1" rev="0" advAuto="0" spid="1215" grpId="1"/>
    </p:bld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0"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21"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2"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23"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24"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5"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26"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27"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28"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29" name="7B parameter model in fp16 ≈ 14 GB just for weights. Add activations and gradients → easily fills 80 GB…"/>
          <p:cNvSpPr txBox="1"/>
          <p:nvPr>
            <p:ph type="body" sz="quarter" idx="4294967295"/>
          </p:nvPr>
        </p:nvSpPr>
        <p:spPr>
          <a:xfrm>
            <a:off x="2982037" y="3665153"/>
            <a:ext cx="8433296" cy="1952089"/>
          </a:xfrm>
          <a:prstGeom prst="rect">
            <a:avLst/>
          </a:prstGeom>
        </p:spPr>
        <p:txBody>
          <a:bodyPr/>
          <a:lstStyle/>
          <a:p>
            <a:pPr marL="228600" indent="-228600">
              <a:buClrTx/>
              <a:buChar char="•"/>
            </a:pPr>
            <a:r>
              <a:t>7B parameter model in fp16 ≈ 14 GB just for weights. Add activations and gradients → easily fills 80 GB</a:t>
            </a:r>
          </a:p>
          <a:p>
            <a:pPr marL="228600" indent="-228600">
              <a:buClrTx/>
              <a:buChar char="•"/>
            </a:pPr>
            <a:r>
              <a:t>Out of RAM → job gets killed</a:t>
            </a:r>
          </a:p>
          <a:p>
            <a:pPr marL="228600" indent="-228600">
              <a:buClrTx/>
              <a:buChar char="•"/>
            </a:pPr>
            <a:r>
              <a:t>Out of VRAM → </a:t>
            </a:r>
            <a:r>
              <a:rPr b="1">
                <a:solidFill>
                  <a:schemeClr val="accent1"/>
                </a:solidFill>
              </a:rPr>
              <a:t>CUDA out of memory</a:t>
            </a:r>
          </a:p>
        </p:txBody>
      </p:sp>
      <p:sp>
        <p:nvSpPr>
          <p:cNvPr id="1230"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31"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29"/>
                                        </p:tgtEl>
                                        <p:attrNameLst>
                                          <p:attrName>style.visibility</p:attrName>
                                        </p:attrNameLst>
                                      </p:cBhvr>
                                      <p:to>
                                        <p:strVal val="visible"/>
                                      </p:to>
                                    </p:set>
                                    <p:animEffect filter="fade" transition="in">
                                      <p:cBhvr>
                                        <p:cTn id="7" dur="1000"/>
                                        <p:tgtEl>
                                          <p:spTgt spid="12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29" grpId="1"/>
    </p:bldLst>
  </p:timing>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3" name="Rectangle"/>
          <p:cNvSpPr/>
          <p:nvPr/>
        </p:nvSpPr>
        <p:spPr>
          <a:xfrm>
            <a:off x="3178255" y="335475"/>
            <a:ext cx="6823374" cy="1703032"/>
          </a:xfrm>
          <a:prstGeom prst="rect">
            <a:avLst/>
          </a:prstGeom>
          <a:solidFill>
            <a:srgbClr val="FFFFFF"/>
          </a:solidFill>
          <a:ln w="25400">
            <a:solidFill>
              <a:schemeClr val="accent1"/>
            </a:solidFill>
            <a:miter/>
          </a:ln>
        </p:spPr>
        <p:txBody>
          <a:bodyPr lIns="45719" rIns="45719" anchor="ctr"/>
          <a:lstStyle/>
          <a:p>
            <a:pPr/>
          </a:p>
        </p:txBody>
      </p:sp>
      <p:sp>
        <p:nvSpPr>
          <p:cNvPr id="1234"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3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3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3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38"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Training vs Inference</a:t>
            </a:r>
          </a:p>
        </p:txBody>
      </p:sp>
      <p:sp>
        <p:nvSpPr>
          <p:cNvPr id="1239" name="Input"/>
          <p:cNvSpPr/>
          <p:nvPr/>
        </p:nvSpPr>
        <p:spPr>
          <a:xfrm>
            <a:off x="3628868" y="821810"/>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40" name="Layer 1"/>
          <p:cNvSpPr/>
          <p:nvPr/>
        </p:nvSpPr>
        <p:spPr>
          <a:xfrm>
            <a:off x="4805015" y="821810"/>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41" name="Line"/>
          <p:cNvSpPr/>
          <p:nvPr/>
        </p:nvSpPr>
        <p:spPr>
          <a:xfrm>
            <a:off x="6975267" y="1023928"/>
            <a:ext cx="400935" cy="1"/>
          </a:xfrm>
          <a:prstGeom prst="line">
            <a:avLst/>
          </a:prstGeom>
          <a:ln w="50800">
            <a:solidFill>
              <a:schemeClr val="accent1"/>
            </a:solidFill>
            <a:miter/>
            <a:tailEnd type="triangle"/>
          </a:ln>
        </p:spPr>
        <p:txBody>
          <a:bodyPr lIns="45719" rIns="45719"/>
          <a:lstStyle/>
          <a:p>
            <a:pPr/>
          </a:p>
        </p:txBody>
      </p:sp>
      <p:sp>
        <p:nvSpPr>
          <p:cNvPr id="1242" name="Line"/>
          <p:cNvSpPr/>
          <p:nvPr/>
        </p:nvSpPr>
        <p:spPr>
          <a:xfrm>
            <a:off x="5679872" y="1023928"/>
            <a:ext cx="400936" cy="1"/>
          </a:xfrm>
          <a:prstGeom prst="line">
            <a:avLst/>
          </a:prstGeom>
          <a:ln w="50800">
            <a:solidFill>
              <a:schemeClr val="accent1"/>
            </a:solidFill>
            <a:miter/>
            <a:tailEnd type="triangle"/>
          </a:ln>
        </p:spPr>
        <p:txBody>
          <a:bodyPr lIns="45719" rIns="45719"/>
          <a:lstStyle/>
          <a:p>
            <a:pPr/>
          </a:p>
        </p:txBody>
      </p:sp>
      <p:sp>
        <p:nvSpPr>
          <p:cNvPr id="1243" name="Line"/>
          <p:cNvSpPr/>
          <p:nvPr/>
        </p:nvSpPr>
        <p:spPr>
          <a:xfrm>
            <a:off x="4395695" y="1023928"/>
            <a:ext cx="400936" cy="1"/>
          </a:xfrm>
          <a:prstGeom prst="line">
            <a:avLst/>
          </a:prstGeom>
          <a:ln w="50800">
            <a:solidFill>
              <a:schemeClr val="accent1"/>
            </a:solidFill>
            <a:miter/>
            <a:tailEnd type="triangle"/>
          </a:ln>
        </p:spPr>
        <p:txBody>
          <a:bodyPr lIns="45719" rIns="45719"/>
          <a:lstStyle/>
          <a:p>
            <a:pPr/>
          </a:p>
        </p:txBody>
      </p:sp>
      <p:sp>
        <p:nvSpPr>
          <p:cNvPr id="1244" name="Line"/>
          <p:cNvSpPr/>
          <p:nvPr/>
        </p:nvSpPr>
        <p:spPr>
          <a:xfrm>
            <a:off x="8289166" y="1023928"/>
            <a:ext cx="447135" cy="1"/>
          </a:xfrm>
          <a:prstGeom prst="line">
            <a:avLst/>
          </a:prstGeom>
          <a:ln w="50800">
            <a:solidFill>
              <a:schemeClr val="accent1"/>
            </a:solidFill>
            <a:miter/>
            <a:tailEnd type="triangle"/>
          </a:ln>
        </p:spPr>
        <p:txBody>
          <a:bodyPr lIns="45719" rIns="45719"/>
          <a:lstStyle/>
          <a:p>
            <a:pPr/>
          </a:p>
        </p:txBody>
      </p:sp>
      <p:sp>
        <p:nvSpPr>
          <p:cNvPr id="1245" name="Loss"/>
          <p:cNvSpPr/>
          <p:nvPr/>
        </p:nvSpPr>
        <p:spPr>
          <a:xfrm>
            <a:off x="8749000" y="821810"/>
            <a:ext cx="732457"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Loss</a:t>
            </a:r>
          </a:p>
        </p:txBody>
      </p:sp>
      <p:sp>
        <p:nvSpPr>
          <p:cNvPr id="1246" name="Update all layers"/>
          <p:cNvSpPr/>
          <p:nvPr/>
        </p:nvSpPr>
        <p:spPr>
          <a:xfrm>
            <a:off x="5574217" y="1433268"/>
            <a:ext cx="1917684"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Update all layers</a:t>
            </a:r>
          </a:p>
        </p:txBody>
      </p:sp>
      <p:cxnSp>
        <p:nvCxnSpPr>
          <p:cNvPr id="1247" name="Connection Line"/>
          <p:cNvCxnSpPr>
            <a:stCxn id="1246" idx="0"/>
            <a:endCxn id="1245" idx="0"/>
          </p:cNvCxnSpPr>
          <p:nvPr/>
        </p:nvCxnSpPr>
        <p:spPr>
          <a:xfrm flipV="1">
            <a:off x="6527800" y="1028700"/>
            <a:ext cx="2590800" cy="609600"/>
          </a:xfrm>
          <a:prstGeom prst="bentConnector3">
            <a:avLst>
              <a:gd name="adj1" fmla="val 128921"/>
            </a:avLst>
          </a:prstGeom>
          <a:ln w="50800">
            <a:solidFill>
              <a:schemeClr val="accent2"/>
            </a:solidFill>
            <a:miter/>
            <a:headEnd type="triangle"/>
          </a:ln>
        </p:spPr>
      </p:cxnSp>
      <p:sp>
        <p:nvSpPr>
          <p:cNvPr id="1248" name="Training"/>
          <p:cNvSpPr txBox="1"/>
          <p:nvPr/>
        </p:nvSpPr>
        <p:spPr>
          <a:xfrm>
            <a:off x="3205911" y="376222"/>
            <a:ext cx="1168113"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Training</a:t>
            </a:r>
          </a:p>
        </p:txBody>
      </p:sp>
      <p:sp>
        <p:nvSpPr>
          <p:cNvPr id="1249" name="…"/>
          <p:cNvSpPr/>
          <p:nvPr/>
        </p:nvSpPr>
        <p:spPr>
          <a:xfrm>
            <a:off x="6094003" y="821810"/>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50" name="Layer N"/>
          <p:cNvSpPr/>
          <p:nvPr/>
        </p:nvSpPr>
        <p:spPr>
          <a:xfrm>
            <a:off x="7399355" y="821810"/>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cxnSp>
        <p:nvCxnSpPr>
          <p:cNvPr id="1251" name="Connection Line"/>
          <p:cNvCxnSpPr>
            <a:stCxn id="1239" idx="0"/>
            <a:endCxn id="1246" idx="0"/>
          </p:cNvCxnSpPr>
          <p:nvPr/>
        </p:nvCxnSpPr>
        <p:spPr>
          <a:xfrm flipH="1" rot="16200000">
            <a:off x="4959350" y="69850"/>
            <a:ext cx="609600" cy="2527300"/>
          </a:xfrm>
          <a:prstGeom prst="bentConnector2">
            <a:avLst/>
          </a:prstGeom>
          <a:ln w="50800">
            <a:solidFill>
              <a:schemeClr val="accent2"/>
            </a:solidFill>
            <a:miter/>
            <a:headEnd type="triangle"/>
          </a:ln>
        </p:spPr>
      </p:cxnSp>
      <p:sp>
        <p:nvSpPr>
          <p:cNvPr id="1252" name="Rectangle"/>
          <p:cNvSpPr/>
          <p:nvPr/>
        </p:nvSpPr>
        <p:spPr>
          <a:xfrm>
            <a:off x="3178255" y="2152864"/>
            <a:ext cx="6823374" cy="1273038"/>
          </a:xfrm>
          <a:prstGeom prst="rect">
            <a:avLst/>
          </a:prstGeom>
          <a:solidFill>
            <a:srgbClr val="FFFFFF"/>
          </a:solidFill>
          <a:ln w="25400">
            <a:solidFill>
              <a:schemeClr val="accent2"/>
            </a:solidFill>
            <a:miter/>
          </a:ln>
        </p:spPr>
        <p:txBody>
          <a:bodyPr lIns="45719" rIns="45719" anchor="ctr"/>
          <a:lstStyle/>
          <a:p>
            <a:pPr/>
          </a:p>
        </p:txBody>
      </p:sp>
      <p:sp>
        <p:nvSpPr>
          <p:cNvPr id="1253" name="Input"/>
          <p:cNvSpPr/>
          <p:nvPr/>
        </p:nvSpPr>
        <p:spPr>
          <a:xfrm>
            <a:off x="3628868" y="2639199"/>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54" name="Layer 1"/>
          <p:cNvSpPr/>
          <p:nvPr/>
        </p:nvSpPr>
        <p:spPr>
          <a:xfrm>
            <a:off x="4805015" y="2639199"/>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55" name="Line"/>
          <p:cNvSpPr/>
          <p:nvPr/>
        </p:nvSpPr>
        <p:spPr>
          <a:xfrm>
            <a:off x="6975267" y="2841317"/>
            <a:ext cx="400936" cy="1"/>
          </a:xfrm>
          <a:prstGeom prst="line">
            <a:avLst/>
          </a:prstGeom>
          <a:ln w="50800">
            <a:solidFill>
              <a:schemeClr val="accent1"/>
            </a:solidFill>
            <a:miter/>
            <a:tailEnd type="triangle"/>
          </a:ln>
        </p:spPr>
        <p:txBody>
          <a:bodyPr lIns="45719" rIns="45719"/>
          <a:lstStyle/>
          <a:p>
            <a:pPr/>
          </a:p>
        </p:txBody>
      </p:sp>
      <p:sp>
        <p:nvSpPr>
          <p:cNvPr id="1256" name="Line"/>
          <p:cNvSpPr/>
          <p:nvPr/>
        </p:nvSpPr>
        <p:spPr>
          <a:xfrm>
            <a:off x="5679872" y="2841317"/>
            <a:ext cx="400936" cy="1"/>
          </a:xfrm>
          <a:prstGeom prst="line">
            <a:avLst/>
          </a:prstGeom>
          <a:ln w="50800">
            <a:solidFill>
              <a:schemeClr val="accent1"/>
            </a:solidFill>
            <a:miter/>
            <a:tailEnd type="triangle"/>
          </a:ln>
        </p:spPr>
        <p:txBody>
          <a:bodyPr lIns="45719" rIns="45719"/>
          <a:lstStyle/>
          <a:p>
            <a:pPr/>
          </a:p>
        </p:txBody>
      </p:sp>
      <p:sp>
        <p:nvSpPr>
          <p:cNvPr id="1257" name="Line"/>
          <p:cNvSpPr/>
          <p:nvPr/>
        </p:nvSpPr>
        <p:spPr>
          <a:xfrm>
            <a:off x="4395695" y="2841317"/>
            <a:ext cx="374950" cy="1"/>
          </a:xfrm>
          <a:prstGeom prst="line">
            <a:avLst/>
          </a:prstGeom>
          <a:ln w="50800">
            <a:solidFill>
              <a:schemeClr val="accent1"/>
            </a:solidFill>
            <a:miter/>
            <a:tailEnd type="triangle"/>
          </a:ln>
        </p:spPr>
        <p:txBody>
          <a:bodyPr lIns="45719" rIns="45719"/>
          <a:lstStyle/>
          <a:p>
            <a:pPr/>
          </a:p>
        </p:txBody>
      </p:sp>
      <p:sp>
        <p:nvSpPr>
          <p:cNvPr id="1258" name="Line"/>
          <p:cNvSpPr/>
          <p:nvPr/>
        </p:nvSpPr>
        <p:spPr>
          <a:xfrm>
            <a:off x="8289166" y="2841317"/>
            <a:ext cx="447135" cy="1"/>
          </a:xfrm>
          <a:prstGeom prst="line">
            <a:avLst/>
          </a:prstGeom>
          <a:ln w="50800">
            <a:solidFill>
              <a:schemeClr val="accent1"/>
            </a:solidFill>
            <a:miter/>
            <a:tailEnd type="triangle"/>
          </a:ln>
        </p:spPr>
        <p:txBody>
          <a:bodyPr lIns="45719" rIns="45719"/>
          <a:lstStyle/>
          <a:p>
            <a:pPr/>
          </a:p>
        </p:txBody>
      </p:sp>
      <p:sp>
        <p:nvSpPr>
          <p:cNvPr id="1259" name="Output"/>
          <p:cNvSpPr/>
          <p:nvPr/>
        </p:nvSpPr>
        <p:spPr>
          <a:xfrm>
            <a:off x="8749000" y="2639199"/>
            <a:ext cx="904957"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Output</a:t>
            </a:r>
          </a:p>
        </p:txBody>
      </p:sp>
      <p:sp>
        <p:nvSpPr>
          <p:cNvPr id="1260" name="Inference"/>
          <p:cNvSpPr txBox="1"/>
          <p:nvPr/>
        </p:nvSpPr>
        <p:spPr>
          <a:xfrm>
            <a:off x="3205911" y="2193611"/>
            <a:ext cx="1354744"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Inference</a:t>
            </a:r>
          </a:p>
        </p:txBody>
      </p:sp>
      <p:sp>
        <p:nvSpPr>
          <p:cNvPr id="1261" name="…"/>
          <p:cNvSpPr/>
          <p:nvPr/>
        </p:nvSpPr>
        <p:spPr>
          <a:xfrm>
            <a:off x="6094003" y="2639199"/>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62" name="Layer N"/>
          <p:cNvSpPr/>
          <p:nvPr/>
        </p:nvSpPr>
        <p:spPr>
          <a:xfrm>
            <a:off x="7399355" y="2639199"/>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sp>
        <p:nvSpPr>
          <p:cNvPr id="1263" name="Training: forward + backward pass, store activations, update weights. Repeat millions of times.…"/>
          <p:cNvSpPr txBox="1"/>
          <p:nvPr>
            <p:ph type="body" sz="half" idx="4294967295"/>
          </p:nvPr>
        </p:nvSpPr>
        <p:spPr>
          <a:xfrm>
            <a:off x="3165555" y="3631429"/>
            <a:ext cx="8586936" cy="2963096"/>
          </a:xfrm>
          <a:prstGeom prst="rect">
            <a:avLst/>
          </a:prstGeom>
        </p:spPr>
        <p:txBody>
          <a:bodyPr/>
          <a:lstStyle/>
          <a:p>
            <a:pPr marL="508000" indent="-254000">
              <a:buClrTx/>
              <a:buChar char="•"/>
            </a:pPr>
            <a:r>
              <a:t>Training: forward + backward pass, store activations, update weights. Repeat millions of times.</a:t>
            </a:r>
          </a:p>
          <a:p>
            <a:pPr marL="508000" indent="-254000">
              <a:buClrTx/>
              <a:buChar char="•"/>
            </a:pPr>
            <a:r>
              <a:t>Inference: forward pass only. Less VRAM, less compute.</a:t>
            </a:r>
          </a:p>
          <a:p>
            <a:pPr marL="508000" indent="-254000">
              <a:buClrTx/>
              <a:buChar char="•"/>
            </a:pPr>
            <a:r>
              <a:t>H100s (80 GB) for training, A30s (24 GB) for inference.</a:t>
            </a:r>
          </a:p>
          <a:p>
            <a:pPr marL="508000" indent="-254000">
              <a:buClrTx/>
              <a:buChar char="•"/>
            </a:pPr>
            <a:r>
              <a:t>Our inference infrastructure runs on Kubernetes with ArgoCD.</a:t>
            </a:r>
          </a:p>
          <a:p>
            <a:pPr marL="508000" indent="-254000">
              <a:buClrTx/>
              <a:buChar char="•"/>
            </a:pPr>
            <a:r>
              <a:t>Future workshop planned for model deployment.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63"/>
                                        </p:tgtEl>
                                        <p:attrNameLst>
                                          <p:attrName>style.visibility</p:attrName>
                                        </p:attrNameLst>
                                      </p:cBhvr>
                                      <p:to>
                                        <p:strVal val="visible"/>
                                      </p:to>
                                    </p:set>
                                    <p:animEffect filter="fade" transition="in">
                                      <p:cBhvr>
                                        <p:cTn id="7" dur="1000"/>
                                        <p:tgtEl>
                                          <p:spTgt spid="126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63" grpId="1"/>
    </p:bldLst>
  </p:timing>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5"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66"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67"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68"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69"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grpSp>
        <p:nvGrpSpPr>
          <p:cNvPr id="1284" name="Group"/>
          <p:cNvGrpSpPr/>
          <p:nvPr/>
        </p:nvGrpSpPr>
        <p:grpSpPr>
          <a:xfrm>
            <a:off x="3580313" y="357490"/>
            <a:ext cx="6019258" cy="2919545"/>
            <a:chOff x="0" y="0"/>
            <a:chExt cx="6019256" cy="2919543"/>
          </a:xfrm>
        </p:grpSpPr>
        <p:sp>
          <p:nvSpPr>
            <p:cNvPr id="1270" name="Rectangle"/>
            <p:cNvSpPr/>
            <p:nvPr/>
          </p:nvSpPr>
          <p:spPr>
            <a:xfrm>
              <a:off x="0" y="0"/>
              <a:ext cx="6019257" cy="2919544"/>
            </a:xfrm>
            <a:prstGeom prst="rect">
              <a:avLst/>
            </a:prstGeom>
            <a:solidFill>
              <a:srgbClr val="FFFFFF"/>
            </a:solidFill>
            <a:ln w="25400" cap="flat">
              <a:solidFill>
                <a:srgbClr val="535353"/>
              </a:solidFill>
              <a:prstDash val="solid"/>
              <a:miter lim="800000"/>
            </a:ln>
            <a:effectLst/>
          </p:spPr>
          <p:txBody>
            <a:bodyPr wrap="square" lIns="45719" tIns="45719" rIns="45719" bIns="45719" numCol="1" anchor="ctr">
              <a:noAutofit/>
            </a:bodyPr>
            <a:lstStyle/>
            <a:p>
              <a:pPr/>
            </a:p>
          </p:txBody>
        </p:sp>
        <p:sp>
          <p:nvSpPr>
            <p:cNvPr id="1271" name="Data Parallelism"/>
            <p:cNvSpPr txBox="1"/>
            <p:nvPr/>
          </p:nvSpPr>
          <p:spPr>
            <a:xfrm>
              <a:off x="15822" y="59345"/>
              <a:ext cx="2209984"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lvl1pPr>
            </a:lstStyle>
            <a:p>
              <a:pPr/>
              <a:r>
                <a:t>Data Parallelism</a:t>
              </a:r>
            </a:p>
          </p:txBody>
        </p:sp>
        <p:sp>
          <p:nvSpPr>
            <p:cNvPr id="1272" name="Chart Document"/>
            <p:cNvSpPr/>
            <p:nvPr/>
          </p:nvSpPr>
          <p:spPr>
            <a:xfrm>
              <a:off x="334161" y="1178797"/>
              <a:ext cx="760680" cy="985069"/>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cap="flat">
              <a:solidFill>
                <a:srgbClr val="535353"/>
              </a:solidFill>
              <a:prstDash val="solid"/>
              <a:miter lim="800000"/>
            </a:ln>
            <a:effectLst/>
          </p:spPr>
          <p:txBody>
            <a:bodyPr wrap="square" lIns="45719" tIns="45719" rIns="45719" bIns="45719" numCol="1" anchor="ctr">
              <a:noAutofit/>
            </a:bodyPr>
            <a:lstStyle/>
            <a:p>
              <a:pPr/>
            </a:p>
          </p:txBody>
        </p:sp>
        <p:sp>
          <p:nvSpPr>
            <p:cNvPr id="1273" name="Data"/>
            <p:cNvSpPr txBox="1"/>
            <p:nvPr/>
          </p:nvSpPr>
          <p:spPr>
            <a:xfrm>
              <a:off x="392028" y="2318779"/>
              <a:ext cx="644946"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r>
                <a:t>Data</a:t>
              </a:r>
            </a:p>
          </p:txBody>
        </p:sp>
        <p:sp>
          <p:nvSpPr>
            <p:cNvPr id="1274" name="GPU 1…"/>
            <p:cNvSpPr txBox="1"/>
            <p:nvPr/>
          </p:nvSpPr>
          <p:spPr>
            <a:xfrm>
              <a:off x="2214734" y="537678"/>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1</a:t>
              </a:r>
            </a:p>
            <a:p>
              <a:pPr>
                <a:defRPr sz="1600"/>
              </a:pPr>
              <a:r>
                <a:t>Model</a:t>
              </a:r>
            </a:p>
            <a:p>
              <a:pPr>
                <a:defRPr sz="1600"/>
              </a:pPr>
              <a:r>
                <a:t>Batch 1</a:t>
              </a:r>
            </a:p>
          </p:txBody>
        </p:sp>
        <p:sp>
          <p:nvSpPr>
            <p:cNvPr id="1275" name="…"/>
            <p:cNvSpPr txBox="1"/>
            <p:nvPr/>
          </p:nvSpPr>
          <p:spPr>
            <a:xfrm>
              <a:off x="2214734" y="1498611"/>
              <a:ext cx="893327" cy="3581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1600"/>
              </a:lvl1pPr>
            </a:lstStyle>
            <a:p>
              <a:pPr/>
              <a:r>
                <a:t>…</a:t>
              </a:r>
            </a:p>
          </p:txBody>
        </p:sp>
        <p:sp>
          <p:nvSpPr>
            <p:cNvPr id="1276" name="GPU 8…"/>
            <p:cNvSpPr txBox="1"/>
            <p:nvPr/>
          </p:nvSpPr>
          <p:spPr>
            <a:xfrm>
              <a:off x="2214734" y="1976944"/>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8</a:t>
              </a:r>
            </a:p>
            <a:p>
              <a:pPr>
                <a:defRPr sz="1600"/>
              </a:pPr>
              <a:r>
                <a:t>Model</a:t>
              </a:r>
            </a:p>
            <a:p>
              <a:pPr>
                <a:defRPr sz="1600"/>
              </a:pPr>
              <a:r>
                <a:t>Batch 8</a:t>
              </a:r>
            </a:p>
          </p:txBody>
        </p:sp>
        <p:sp>
          <p:nvSpPr>
            <p:cNvPr id="1277" name="Average across  GPUs &amp; update"/>
            <p:cNvSpPr txBox="1"/>
            <p:nvPr/>
          </p:nvSpPr>
          <p:spPr>
            <a:xfrm>
              <a:off x="4081050" y="1377961"/>
              <a:ext cx="1748394" cy="599441"/>
            </a:xfrm>
            <a:prstGeom prst="rect">
              <a:avLst/>
            </a:prstGeom>
            <a:no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lgn="ctr">
                <a:defRPr sz="1600"/>
              </a:pPr>
              <a:r>
                <a:t>Average across </a:t>
              </a:r>
              <a:br/>
              <a:r>
                <a:t>GPUs &amp; update</a:t>
              </a:r>
            </a:p>
          </p:txBody>
        </p:sp>
        <p:cxnSp>
          <p:nvCxnSpPr>
            <p:cNvPr id="1278" name="Connection Line"/>
            <p:cNvCxnSpPr>
              <a:stCxn id="1272" idx="0"/>
              <a:endCxn id="1274" idx="0"/>
            </p:cNvCxnSpPr>
            <p:nvPr/>
          </p:nvCxnSpPr>
          <p:spPr>
            <a:xfrm flipV="1">
              <a:off x="711200" y="9525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79" name="Connection Line"/>
            <p:cNvCxnSpPr>
              <a:stCxn id="1272" idx="0"/>
              <a:endCxn id="1275" idx="0"/>
            </p:cNvCxnSpPr>
            <p:nvPr/>
          </p:nvCxnSpPr>
          <p:spPr>
            <a:xfrm>
              <a:off x="711200" y="1676400"/>
              <a:ext cx="1955800" cy="12700"/>
            </a:xfrm>
            <a:prstGeom prst="bentConnector3">
              <a:avLst>
                <a:gd name="adj1" fmla="val 38961"/>
              </a:avLst>
            </a:prstGeom>
            <a:ln w="25400" cap="flat">
              <a:solidFill>
                <a:srgbClr val="535353"/>
              </a:solidFill>
              <a:prstDash val="solid"/>
              <a:miter lim="800000"/>
              <a:tailEnd type="triangle" w="med" len="med"/>
            </a:ln>
            <a:effectLst/>
          </p:spPr>
        </p:cxnSp>
        <p:cxnSp>
          <p:nvCxnSpPr>
            <p:cNvPr id="1280" name="Connection Line"/>
            <p:cNvCxnSpPr>
              <a:stCxn id="1272" idx="0"/>
              <a:endCxn id="1276" idx="0"/>
            </p:cNvCxnSpPr>
            <p:nvPr/>
          </p:nvCxnSpPr>
          <p:spPr>
            <a:xfrm>
              <a:off x="711200" y="16764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81" name="Connection Line"/>
            <p:cNvCxnSpPr>
              <a:stCxn id="1274" idx="0"/>
              <a:endCxn id="1277" idx="0"/>
            </p:cNvCxnSpPr>
            <p:nvPr/>
          </p:nvCxnSpPr>
          <p:spPr>
            <a:xfrm>
              <a:off x="2667000" y="952500"/>
              <a:ext cx="2286000" cy="723900"/>
            </a:xfrm>
            <a:prstGeom prst="bentConnector3">
              <a:avLst>
                <a:gd name="adj1" fmla="val 45000"/>
              </a:avLst>
            </a:prstGeom>
            <a:ln w="25400" cap="flat">
              <a:solidFill>
                <a:schemeClr val="accent2"/>
              </a:solidFill>
              <a:prstDash val="solid"/>
              <a:miter lim="800000"/>
              <a:tailEnd type="triangle" w="med" len="med"/>
            </a:ln>
            <a:effectLst/>
          </p:spPr>
        </p:cxnSp>
        <p:cxnSp>
          <p:nvCxnSpPr>
            <p:cNvPr id="1282" name="Connection Line"/>
            <p:cNvCxnSpPr>
              <a:stCxn id="1275" idx="0"/>
              <a:endCxn id="1277" idx="0"/>
            </p:cNvCxnSpPr>
            <p:nvPr/>
          </p:nvCxnSpPr>
          <p:spPr>
            <a:xfrm>
              <a:off x="2667000" y="1676400"/>
              <a:ext cx="2286000" cy="12700"/>
            </a:xfrm>
            <a:prstGeom prst="bentConnector2">
              <a:avLst/>
            </a:prstGeom>
            <a:ln w="25400" cap="flat">
              <a:solidFill>
                <a:schemeClr val="accent2"/>
              </a:solidFill>
              <a:prstDash val="solid"/>
              <a:miter lim="800000"/>
              <a:tailEnd type="triangle" w="med" len="med"/>
            </a:ln>
            <a:effectLst/>
          </p:spPr>
        </p:cxnSp>
        <p:cxnSp>
          <p:nvCxnSpPr>
            <p:cNvPr id="1283" name="Connection Line"/>
            <p:cNvCxnSpPr>
              <a:stCxn id="1276" idx="0"/>
              <a:endCxn id="1277" idx="0"/>
            </p:cNvCxnSpPr>
            <p:nvPr/>
          </p:nvCxnSpPr>
          <p:spPr>
            <a:xfrm flipV="1">
              <a:off x="2667000" y="1676400"/>
              <a:ext cx="2286000" cy="723900"/>
            </a:xfrm>
            <a:prstGeom prst="bentConnector3">
              <a:avLst>
                <a:gd name="adj1" fmla="val 45000"/>
              </a:avLst>
            </a:prstGeom>
            <a:ln w="25400" cap="flat">
              <a:solidFill>
                <a:schemeClr val="accent2"/>
              </a:solidFill>
              <a:prstDash val="solid"/>
              <a:miter lim="800000"/>
              <a:tailEnd type="triangle" w="med" len="med"/>
            </a:ln>
            <a:effectLst/>
          </p:spPr>
        </p:cxnSp>
      </p:grpSp>
      <p:sp>
        <p:nvSpPr>
          <p:cNvPr id="1285" name="Same model copied to every GPU, each gets a different batch…"/>
          <p:cNvSpPr txBox="1"/>
          <p:nvPr>
            <p:ph type="body" sz="half" idx="4294967295"/>
          </p:nvPr>
        </p:nvSpPr>
        <p:spPr>
          <a:xfrm>
            <a:off x="3096837" y="3741377"/>
            <a:ext cx="8586937" cy="2126891"/>
          </a:xfrm>
          <a:prstGeom prst="rect">
            <a:avLst/>
          </a:prstGeom>
        </p:spPr>
        <p:txBody>
          <a:bodyPr/>
          <a:lstStyle/>
          <a:p>
            <a:pPr marL="508000" indent="-254000">
              <a:buClrTx/>
              <a:buChar char="•"/>
            </a:pPr>
            <a:r>
              <a:t>Same model copied to every GPU, each gets a different batch</a:t>
            </a:r>
          </a:p>
          <a:p>
            <a:pPr marL="508000" indent="-254000">
              <a:buClrTx/>
              <a:buChar char="•"/>
            </a:pPr>
            <a:r>
              <a:t>GPUs compute in parallel, then sync gradients</a:t>
            </a:r>
          </a:p>
          <a:p>
            <a:pPr marL="508000" indent="-254000">
              <a:buClrTx/>
              <a:buChar char="•"/>
            </a:pPr>
            <a:r>
              <a:t>Most common approach, scales training speed roughly linearly</a:t>
            </a:r>
          </a:p>
          <a:p>
            <a:pPr marL="508000" indent="-254000">
              <a:buClrTx/>
              <a:buChar char="•"/>
            </a:pPr>
            <a:r>
              <a:t>Frameworks: </a:t>
            </a:r>
            <a:r>
              <a:rPr b="1">
                <a:solidFill>
                  <a:schemeClr val="accent1"/>
                </a:solidFill>
              </a:rPr>
              <a:t>torchrun</a:t>
            </a:r>
            <a:r>
              <a:t>, </a:t>
            </a:r>
            <a:r>
              <a:rPr b="1">
                <a:solidFill>
                  <a:schemeClr val="accent1"/>
                </a:solidFill>
              </a:rPr>
              <a:t>Hugging Face Accelerate</a:t>
            </a:r>
            <a:r>
              <a:t>, </a:t>
            </a:r>
            <a:r>
              <a:rPr b="1">
                <a:solidFill>
                  <a:schemeClr val="accent1"/>
                </a:solidFill>
              </a:rPr>
              <a:t>DeepSpeed</a:t>
            </a:r>
          </a:p>
          <a:p>
            <a:pPr marL="508000" indent="-254000">
              <a:buClrTx/>
              <a:buChar char="•"/>
            </a:pPr>
            <a:r>
              <a:t>This is what we will use in the hands-on exercise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85"/>
                                        </p:tgtEl>
                                        <p:attrNameLst>
                                          <p:attrName>style.visibility</p:attrName>
                                        </p:attrNameLst>
                                      </p:cBhvr>
                                      <p:to>
                                        <p:strVal val="visible"/>
                                      </p:to>
                                    </p:set>
                                    <p:animEffect filter="fade" transition="in">
                                      <p:cBhvr>
                                        <p:cTn id="7" dur="1000"/>
                                        <p:tgtEl>
                                          <p:spTgt spid="12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85" grpId="1"/>
    </p:bldLst>
  </p:timing>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7" name="Rectangle"/>
          <p:cNvSpPr/>
          <p:nvPr/>
        </p:nvSpPr>
        <p:spPr>
          <a:xfrm>
            <a:off x="3281061" y="606212"/>
            <a:ext cx="6617762" cy="2101582"/>
          </a:xfrm>
          <a:prstGeom prst="rect">
            <a:avLst/>
          </a:prstGeom>
          <a:solidFill>
            <a:srgbClr val="FFFFFF"/>
          </a:solidFill>
          <a:ln w="25400">
            <a:solidFill>
              <a:srgbClr val="535353"/>
            </a:solidFill>
            <a:miter/>
          </a:ln>
        </p:spPr>
        <p:txBody>
          <a:bodyPr lIns="45719" rIns="45719" anchor="ctr"/>
          <a:lstStyle/>
          <a:p>
            <a:pPr/>
          </a:p>
        </p:txBody>
      </p:sp>
      <p:sp>
        <p:nvSpPr>
          <p:cNvPr id="1288" name="Model Parallelism"/>
          <p:cNvSpPr txBox="1"/>
          <p:nvPr/>
        </p:nvSpPr>
        <p:spPr>
          <a:xfrm>
            <a:off x="3379509" y="652486"/>
            <a:ext cx="237406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Model Parallelism</a:t>
            </a:r>
          </a:p>
        </p:txBody>
      </p:sp>
      <p:sp>
        <p:nvSpPr>
          <p:cNvPr id="1289" name="Chart Document"/>
          <p:cNvSpPr/>
          <p:nvPr/>
        </p:nvSpPr>
        <p:spPr>
          <a:xfrm>
            <a:off x="3491283" y="1164468"/>
            <a:ext cx="760679" cy="985070"/>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a:solidFill>
              <a:srgbClr val="535353"/>
            </a:solidFill>
            <a:miter/>
          </a:ln>
        </p:spPr>
        <p:txBody>
          <a:bodyPr lIns="45719" rIns="45719" anchor="ctr"/>
          <a:lstStyle/>
          <a:p>
            <a:pPr/>
          </a:p>
        </p:txBody>
      </p:sp>
      <p:sp>
        <p:nvSpPr>
          <p:cNvPr id="1290" name="Data"/>
          <p:cNvSpPr txBox="1"/>
          <p:nvPr/>
        </p:nvSpPr>
        <p:spPr>
          <a:xfrm>
            <a:off x="3549150" y="2290680"/>
            <a:ext cx="703435"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Data</a:t>
            </a:r>
          </a:p>
        </p:txBody>
      </p:sp>
      <p:sp>
        <p:nvSpPr>
          <p:cNvPr id="1291" name="GPU 1…"/>
          <p:cNvSpPr txBox="1"/>
          <p:nvPr/>
        </p:nvSpPr>
        <p:spPr>
          <a:xfrm>
            <a:off x="4666088" y="1453680"/>
            <a:ext cx="1111409"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1</a:t>
            </a:r>
          </a:p>
          <a:p>
            <a:pPr>
              <a:defRPr sz="1600"/>
            </a:pPr>
            <a:r>
              <a:t>Layer 1-3</a:t>
            </a:r>
          </a:p>
        </p:txBody>
      </p:sp>
      <p:sp>
        <p:nvSpPr>
          <p:cNvPr id="1292"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3"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9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9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6"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sp>
        <p:nvSpPr>
          <p:cNvPr id="1297" name="Model is split across GPUs, each holds a portion of the layers…"/>
          <p:cNvSpPr txBox="1"/>
          <p:nvPr>
            <p:ph type="body" sz="half" idx="4294967295"/>
          </p:nvPr>
        </p:nvSpPr>
        <p:spPr>
          <a:xfrm>
            <a:off x="3014210" y="3534810"/>
            <a:ext cx="8586937" cy="2913189"/>
          </a:xfrm>
          <a:prstGeom prst="rect">
            <a:avLst/>
          </a:prstGeom>
        </p:spPr>
        <p:txBody>
          <a:bodyPr/>
          <a:lstStyle/>
          <a:p>
            <a:pPr marL="508000" indent="-254000">
              <a:buClrTx/>
              <a:buChar char="•"/>
            </a:pPr>
            <a:r>
              <a:t>Model is split across GPUs, each holds a portion of the layers</a:t>
            </a:r>
          </a:p>
          <a:p>
            <a:pPr marL="508000" indent="-254000">
              <a:buClrTx/>
              <a:buChar char="•"/>
            </a:pPr>
            <a:r>
              <a:t>Needed when the model doesn't fit on a single GPU</a:t>
            </a:r>
          </a:p>
          <a:p>
            <a:pPr marL="508000" indent="-254000">
              <a:buClrTx/>
              <a:buChar char="•"/>
            </a:pPr>
            <a:r>
              <a:t>Example: 70B LLM in fp16 ≈ 140 GB, doesn't fit on one H100 (80 GB)</a:t>
            </a:r>
          </a:p>
          <a:p>
            <a:pPr marL="508000" indent="-254000">
              <a:buClrTx/>
              <a:buChar char="•"/>
            </a:pPr>
            <a:r>
              <a:t>More complex to set up, use when data parallelism isn't enough</a:t>
            </a:r>
          </a:p>
          <a:p>
            <a:pPr marL="508000" indent="-254000">
              <a:buClrTx/>
              <a:buChar char="•"/>
            </a:pPr>
            <a:r>
              <a:t>More common in inference, where large models need multiple GPUs just to be loaded</a:t>
            </a:r>
          </a:p>
          <a:p>
            <a:pPr marL="508000" indent="-254000">
              <a:buClrTx/>
              <a:buChar char="•"/>
            </a:pPr>
            <a:r>
              <a:t>Start with one GPU, scale up when you hit a bottleneck</a:t>
            </a:r>
          </a:p>
        </p:txBody>
      </p:sp>
      <p:sp>
        <p:nvSpPr>
          <p:cNvPr id="1298" name="GPU 8…"/>
          <p:cNvSpPr txBox="1"/>
          <p:nvPr/>
        </p:nvSpPr>
        <p:spPr>
          <a:xfrm>
            <a:off x="7027984" y="1453680"/>
            <a:ext cx="1369776"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8</a:t>
            </a:r>
          </a:p>
          <a:p>
            <a:pPr>
              <a:defRPr sz="1600"/>
            </a:pPr>
            <a:r>
              <a:t>Layer 22-24</a:t>
            </a:r>
          </a:p>
        </p:txBody>
      </p:sp>
      <p:sp>
        <p:nvSpPr>
          <p:cNvPr id="1299" name="…"/>
          <p:cNvSpPr txBox="1"/>
          <p:nvPr/>
        </p:nvSpPr>
        <p:spPr>
          <a:xfrm>
            <a:off x="6092968" y="1574330"/>
            <a:ext cx="61954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lIns="45719" rIns="45719">
            <a:spAutoFit/>
          </a:bodyPr>
          <a:lstStyle>
            <a:lvl1pPr algn="ctr">
              <a:defRPr b="1" sz="1600"/>
            </a:lvl1pPr>
          </a:lstStyle>
          <a:p>
            <a:pPr/>
            <a:r>
              <a:t>…</a:t>
            </a:r>
          </a:p>
        </p:txBody>
      </p:sp>
      <p:sp>
        <p:nvSpPr>
          <p:cNvPr id="1300" name="Output"/>
          <p:cNvSpPr txBox="1"/>
          <p:nvPr/>
        </p:nvSpPr>
        <p:spPr>
          <a:xfrm>
            <a:off x="8807906" y="1574330"/>
            <a:ext cx="91902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lvl1pPr>
              <a:defRPr b="1" sz="1600"/>
            </a:lvl1pPr>
          </a:lstStyle>
          <a:p>
            <a:pPr/>
            <a:r>
              <a:t>Output</a:t>
            </a:r>
          </a:p>
        </p:txBody>
      </p:sp>
      <p:sp>
        <p:nvSpPr>
          <p:cNvPr id="1301" name="Line"/>
          <p:cNvSpPr/>
          <p:nvPr/>
        </p:nvSpPr>
        <p:spPr>
          <a:xfrm>
            <a:off x="4280398" y="1753400"/>
            <a:ext cx="350904" cy="1"/>
          </a:xfrm>
          <a:prstGeom prst="line">
            <a:avLst/>
          </a:prstGeom>
          <a:ln w="38100">
            <a:solidFill>
              <a:schemeClr val="accent3"/>
            </a:solidFill>
            <a:miter/>
            <a:tailEnd type="triangle"/>
          </a:ln>
        </p:spPr>
        <p:txBody>
          <a:bodyPr lIns="45719" rIns="45719"/>
          <a:lstStyle/>
          <a:p>
            <a:pPr/>
          </a:p>
        </p:txBody>
      </p:sp>
      <p:sp>
        <p:nvSpPr>
          <p:cNvPr id="1302" name="Line"/>
          <p:cNvSpPr/>
          <p:nvPr/>
        </p:nvSpPr>
        <p:spPr>
          <a:xfrm>
            <a:off x="5812283" y="1753400"/>
            <a:ext cx="245900" cy="1"/>
          </a:xfrm>
          <a:prstGeom prst="line">
            <a:avLst/>
          </a:prstGeom>
          <a:ln w="38100">
            <a:solidFill>
              <a:schemeClr val="accent2"/>
            </a:solidFill>
            <a:miter/>
            <a:tailEnd type="triangle"/>
          </a:ln>
        </p:spPr>
        <p:txBody>
          <a:bodyPr lIns="45719" rIns="45719"/>
          <a:lstStyle/>
          <a:p>
            <a:pPr/>
          </a:p>
        </p:txBody>
      </p:sp>
      <p:sp>
        <p:nvSpPr>
          <p:cNvPr id="1303" name="Line"/>
          <p:cNvSpPr/>
          <p:nvPr/>
        </p:nvSpPr>
        <p:spPr>
          <a:xfrm>
            <a:off x="6751818" y="1753400"/>
            <a:ext cx="236860" cy="1"/>
          </a:xfrm>
          <a:prstGeom prst="line">
            <a:avLst/>
          </a:prstGeom>
          <a:ln w="38100">
            <a:solidFill>
              <a:schemeClr val="accent2"/>
            </a:solidFill>
            <a:miter/>
            <a:tailEnd type="triangle"/>
          </a:ln>
        </p:spPr>
        <p:txBody>
          <a:bodyPr lIns="45719" rIns="45719"/>
          <a:lstStyle/>
          <a:p>
            <a:pPr/>
          </a:p>
        </p:txBody>
      </p:sp>
      <p:sp>
        <p:nvSpPr>
          <p:cNvPr id="1304" name="Line"/>
          <p:cNvSpPr/>
          <p:nvPr/>
        </p:nvSpPr>
        <p:spPr>
          <a:xfrm>
            <a:off x="8437065" y="1753400"/>
            <a:ext cx="350905" cy="1"/>
          </a:xfrm>
          <a:prstGeom prst="line">
            <a:avLst/>
          </a:prstGeom>
          <a:ln w="38100">
            <a:solidFill>
              <a:schemeClr val="accent1"/>
            </a:solidFill>
            <a:miter/>
            <a:tailEnd type="triangle"/>
          </a:ln>
        </p:spPr>
        <p:txBody>
          <a:bodyPr lIns="45719" rIns="45719"/>
          <a:lstStyle/>
          <a:p>
            <a:pP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97"/>
                                        </p:tgtEl>
                                        <p:attrNameLst>
                                          <p:attrName>style.visibility</p:attrName>
                                        </p:attrNameLst>
                                      </p:cBhvr>
                                      <p:to>
                                        <p:strVal val="visible"/>
                                      </p:to>
                                    </p:set>
                                    <p:animEffect filter="fade" transition="in">
                                      <p:cBhvr>
                                        <p:cTn id="7" dur="1000"/>
                                        <p:tgtEl>
                                          <p:spTgt spid="129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97" grpId="1"/>
    </p:bld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6"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0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0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0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10"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Our GPUs at a Glance</a:t>
            </a:r>
          </a:p>
        </p:txBody>
      </p:sp>
      <p:graphicFrame>
        <p:nvGraphicFramePr>
          <p:cNvPr id="1311" name="Table 1"/>
          <p:cNvGraphicFramePr/>
          <p:nvPr/>
        </p:nvGraphicFramePr>
        <p:xfrm>
          <a:off x="3219139" y="1260094"/>
          <a:ext cx="9821335" cy="5080001"/>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270000"/>
                <a:gridCol w="1270000"/>
                <a:gridCol w="1270000"/>
                <a:gridCol w="4356100"/>
              </a:tblGrid>
              <a:tr h="571500">
                <a:tc>
                  <a:txBody>
                    <a:bodyPr/>
                    <a:lstStyle/>
                    <a:p>
                      <a:pPr algn="ctr">
                        <a:defRPr b="0" sz="1800">
                          <a:solidFill>
                            <a:srgbClr val="000000"/>
                          </a:solidFill>
                        </a:defRPr>
                      </a:pPr>
                      <a:r>
                        <a:rPr b="1">
                          <a:solidFill>
                            <a:srgbClr val="FFFFFF"/>
                          </a:solidFill>
                        </a:rPr>
                        <a:t>GPU</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Count</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VRAM</a:t>
                      </a:r>
                    </a:p>
                  </a:txBody>
                  <a:tcPr marL="0" marR="0" marT="0" marB="0" anchor="ctr" anchorCtr="0" horzOverflow="overflow">
                    <a:solidFill>
                      <a:schemeClr val="accent2"/>
                    </a:solidFill>
                  </a:tcPr>
                </a:tc>
                <a:tc>
                  <a:txBody>
                    <a:bodyPr/>
                    <a:lstStyle/>
                    <a:p>
                      <a:pPr lvl="1" indent="228600" algn="l">
                        <a:spcBef>
                          <a:spcPts val="400"/>
                        </a:spcBef>
                        <a:defRPr sz="1800"/>
                      </a:pPr>
                      <a:r>
                        <a:t>Best for</a:t>
                      </a:r>
                    </a:p>
                  </a:txBody>
                  <a:tcPr marL="0" marR="0" marT="0" marB="0" anchor="ctr" anchorCtr="0" horzOverflow="overflow">
                    <a:solidFill>
                      <a:schemeClr val="accent2"/>
                    </a:solidFill>
                  </a:tcPr>
                </a:tc>
              </a:tr>
              <a:tr h="584200">
                <a:tc>
                  <a:txBody>
                    <a:bodyPr/>
                    <a:lstStyle/>
                    <a:p>
                      <a:pPr algn="ctr">
                        <a:defRPr b="0" sz="1800">
                          <a:solidFill>
                            <a:srgbClr val="000000"/>
                          </a:solidFill>
                        </a:defRPr>
                      </a:pPr>
                      <a:r>
                        <a:rPr b="1">
                          <a:solidFill>
                            <a:srgbClr val="FFFFFF"/>
                          </a:solidFill>
                        </a:rPr>
                        <a:t>H100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64</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80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Large model training, multi-GPU jobs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A30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40</a:t>
                      </a:r>
                    </a:p>
                  </a:txBody>
                  <a:tcPr marL="0" marR="0" marT="0" marB="0" anchor="ctr" anchorCtr="0" horzOverflow="overflow"/>
                </a:tc>
                <a:tc>
                  <a:txBody>
                    <a:bodyPr/>
                    <a:lstStyle/>
                    <a:p>
                      <a:pPr algn="ctr">
                        <a:defRPr sz="1800">
                          <a:solidFill>
                            <a:srgbClr val="000000"/>
                          </a:solidFill>
                        </a:defRPr>
                      </a:pPr>
                      <a:r>
                        <a:rPr b="1">
                          <a:solidFill>
                            <a:srgbClr val="5A6065"/>
                          </a:solidFill>
                        </a:rPr>
                        <a:t>24 GB</a:t>
                      </a:r>
                    </a:p>
                  </a:txBody>
                  <a:tcPr marL="0" marR="0" marT="0" marB="0" anchor="ctr" anchorCtr="0" horzOverflow="overflow"/>
                </a:tc>
                <a:tc>
                  <a:txBody>
                    <a:bodyPr/>
                    <a:lstStyle/>
                    <a:p>
                      <a:pPr algn="ctr">
                        <a:defRPr sz="1800">
                          <a:solidFill>
                            <a:srgbClr val="000000"/>
                          </a:solidFill>
                        </a:defRPr>
                      </a:pPr>
                      <a:r>
                        <a:rPr>
                          <a:solidFill>
                            <a:srgbClr val="5A6065"/>
                          </a:solidFill>
                        </a:rPr>
                        <a:t>Inference, smaller training,  interactive queues</a:t>
                      </a:r>
                    </a:p>
                  </a:txBody>
                  <a:tcPr marL="0" marR="0" marT="0" marB="0" anchor="ctr" anchorCtr="0" horzOverflow="overflow"/>
                </a:tc>
              </a:tr>
              <a:tr h="571500">
                <a:tc>
                  <a:txBody>
                    <a:bodyPr/>
                    <a:lstStyle/>
                    <a:p>
                      <a:pPr algn="ctr">
                        <a:defRPr b="0" sz="1800">
                          <a:solidFill>
                            <a:srgbClr val="000000"/>
                          </a:solidFill>
                        </a:defRPr>
                      </a:pPr>
                      <a:r>
                        <a:rPr b="1">
                          <a:solidFill>
                            <a:srgbClr val="FFFFFF"/>
                          </a:solidFill>
                        </a:rPr>
                        <a:t>L40s</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8</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48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Mixed workloads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L40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2</a:t>
                      </a:r>
                    </a:p>
                  </a:txBody>
                  <a:tcPr marL="0" marR="0" marT="0" marB="0" anchor="ctr" anchorCtr="0" horzOverflow="overflow"/>
                </a:tc>
                <a:tc>
                  <a:txBody>
                    <a:bodyPr/>
                    <a:lstStyle/>
                    <a:p>
                      <a:pPr algn="ctr">
                        <a:defRPr sz="1800">
                          <a:solidFill>
                            <a:srgbClr val="000000"/>
                          </a:solidFill>
                        </a:defRPr>
                      </a:pPr>
                      <a:r>
                        <a:rPr b="1">
                          <a:solidFill>
                            <a:srgbClr val="5A6065"/>
                          </a:solidFill>
                        </a:rPr>
                        <a:t>48 GB</a:t>
                      </a:r>
                    </a:p>
                  </a:txBody>
                  <a:tcPr marL="0" marR="0" marT="0" marB="0" anchor="ctr" anchorCtr="0" horzOverflow="overflow"/>
                </a:tc>
                <a:tc>
                  <a:txBody>
                    <a:bodyPr/>
                    <a:lstStyle/>
                    <a:p>
                      <a:pPr algn="ctr">
                        <a:defRPr sz="1800">
                          <a:solidFill>
                            <a:srgbClr val="000000"/>
                          </a:solidFill>
                        </a:defRPr>
                      </a:pPr>
                      <a:r>
                        <a:rPr>
                          <a:solidFill>
                            <a:srgbClr val="5A6065"/>
                          </a:solidFill>
                        </a:rPr>
                        <a:t>Mixed workloads (ARM server)</a:t>
                      </a:r>
                    </a:p>
                  </a:txBody>
                  <a:tcPr marL="0" marR="0" marT="0" marB="0" anchor="ctr" anchorCtr="0" horzOverflow="overflow"/>
                </a:tc>
              </a:tr>
            </a:tbl>
          </a:graphicData>
        </a:graphic>
      </p:graphicFrame>
      <p:sp>
        <p:nvSpPr>
          <p:cNvPr id="1312" name="Note: pot-hpi-aisc-interactive runs on A30s, pot-hpi-aisc-batch runs mainly on H100s."/>
          <p:cNvSpPr txBox="1"/>
          <p:nvPr/>
        </p:nvSpPr>
        <p:spPr>
          <a:xfrm>
            <a:off x="3213100" y="4152900"/>
            <a:ext cx="5852738" cy="691540"/>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b="1">
                <a:solidFill>
                  <a:schemeClr val="accent1"/>
                </a:solidFill>
              </a:defRPr>
            </a:pPr>
            <a:r>
              <a:rPr>
                <a:solidFill>
                  <a:srgbClr val="535353"/>
                </a:solidFill>
              </a:rPr>
              <a:t>Note:</a:t>
            </a:r>
            <a:r>
              <a:t> </a:t>
            </a:r>
            <a:r>
              <a:rPr>
                <a:latin typeface="Courier New"/>
                <a:ea typeface="Courier New"/>
                <a:cs typeface="Courier New"/>
                <a:sym typeface="Courier New"/>
              </a:rPr>
              <a:t>pot-hpi-aisc-interactive</a:t>
            </a:r>
            <a:r>
              <a:rPr b="0">
                <a:solidFill>
                  <a:srgbClr val="535353"/>
                </a:solidFill>
              </a:rPr>
              <a:t> runs on A30s,</a:t>
            </a:r>
            <a:br>
              <a:rPr b="0">
                <a:solidFill>
                  <a:srgbClr val="535353"/>
                </a:solidFill>
              </a:rPr>
            </a:br>
            <a:r>
              <a:rPr>
                <a:latin typeface="Courier New"/>
                <a:ea typeface="Courier New"/>
                <a:cs typeface="Courier New"/>
                <a:sym typeface="Courier New"/>
              </a:rPr>
              <a:t>pot-hpi-aisc-batch</a:t>
            </a:r>
            <a:r>
              <a:rPr b="0">
                <a:solidFill>
                  <a:srgbClr val="535353"/>
                </a:solidFill>
              </a:rPr>
              <a:t> runs mainly on H100s.</a:t>
            </a:r>
          </a:p>
        </p:txBody>
      </p:sp>
      <p:sp>
        <p:nvSpPr>
          <p:cNvPr id="1313" name="Rounded Rectangle"/>
          <p:cNvSpPr/>
          <p:nvPr/>
        </p:nvSpPr>
        <p:spPr>
          <a:xfrm>
            <a:off x="3212789" y="4841776"/>
            <a:ext cx="6678975" cy="1754982"/>
          </a:xfrm>
          <a:prstGeom prst="roundRect">
            <a:avLst>
              <a:gd name="adj" fmla="val 3178"/>
            </a:avLst>
          </a:prstGeom>
          <a:solidFill>
            <a:schemeClr val="accent2">
              <a:alpha val="40000"/>
            </a:schemeClr>
          </a:solidFill>
          <a:ln w="12700">
            <a:miter lim="400000"/>
          </a:ln>
        </p:spPr>
        <p:txBody>
          <a:bodyPr lIns="45719" rIns="45719" anchor="ctr"/>
          <a:lstStyle/>
          <a:p>
            <a:pPr/>
          </a:p>
        </p:txBody>
      </p:sp>
      <p:sp>
        <p:nvSpPr>
          <p:cNvPr id="1314" name="H100 Nodes (gx07-gx14)"/>
          <p:cNvSpPr txBox="1"/>
          <p:nvPr/>
        </p:nvSpPr>
        <p:spPr>
          <a:xfrm>
            <a:off x="3245302" y="4832057"/>
            <a:ext cx="337095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solidFill>
                  <a:srgbClr val="535353"/>
                </a:solidFill>
              </a:defRPr>
            </a:lvl1pPr>
          </a:lstStyle>
          <a:p>
            <a:pPr/>
            <a:r>
              <a:t>H100 Nodes (gx07-gx14)</a:t>
            </a:r>
          </a:p>
        </p:txBody>
      </p:sp>
      <p:sp>
        <p:nvSpPr>
          <p:cNvPr id="1315" name="2x Intel Xeon 8480C, 112 cores / 224 threads…"/>
          <p:cNvSpPr txBox="1"/>
          <p:nvPr/>
        </p:nvSpPr>
        <p:spPr>
          <a:xfrm>
            <a:off x="3389391" y="5205854"/>
            <a:ext cx="6325771" cy="1209264"/>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marL="180473" indent="-180473">
              <a:buSzPct val="100000"/>
              <a:buChar char="•"/>
              <a:defRPr>
                <a:solidFill>
                  <a:srgbClr val="535353"/>
                </a:solidFill>
              </a:defRPr>
            </a:pPr>
            <a:r>
              <a:t>2x Intel Xeon 8480C, 112 cores / 224 threads</a:t>
            </a:r>
          </a:p>
          <a:p>
            <a:pPr marL="180473" indent="-180473">
              <a:buSzPct val="100000"/>
              <a:buChar char="•"/>
              <a:defRPr>
                <a:solidFill>
                  <a:srgbClr val="535353"/>
                </a:solidFill>
              </a:defRPr>
            </a:pPr>
            <a:r>
              <a:t>~2 TB RAM </a:t>
            </a:r>
            <a:r>
              <a:rPr b="1"/>
              <a:t>·</a:t>
            </a:r>
            <a:r>
              <a:t> 8x H100 80 GB per node </a:t>
            </a:r>
            <a:r>
              <a:rPr b="1"/>
              <a:t>· </a:t>
            </a:r>
            <a:r>
              <a:t>28 TB NVMe</a:t>
            </a:r>
          </a:p>
          <a:p>
            <a:pPr marL="180473" indent="-180473">
              <a:buSzPct val="100000"/>
              <a:buChar char="•"/>
              <a:defRPr>
                <a:solidFill>
                  <a:srgbClr val="535353"/>
                </a:solidFill>
              </a:defRPr>
            </a:pPr>
            <a:r>
              <a:t>NDR InfiniBand + 100G Ethernet</a:t>
            </a:r>
            <a:br/>
            <a:r>
              <a:t>→ 14 CPU cores and ~256 GB RAM per GPU</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7"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1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19"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20"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21"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Fairshare</a:t>
            </a:r>
          </a:p>
        </p:txBody>
      </p:sp>
      <p:grpSp>
        <p:nvGrpSpPr>
          <p:cNvPr id="1324" name="Group"/>
          <p:cNvGrpSpPr/>
          <p:nvPr/>
        </p:nvGrpSpPr>
        <p:grpSpPr>
          <a:xfrm>
            <a:off x="2461888" y="655824"/>
            <a:ext cx="8055284" cy="3108078"/>
            <a:chOff x="-1381354" y="-279400"/>
            <a:chExt cx="8055283" cy="3108076"/>
          </a:xfrm>
        </p:grpSpPr>
        <p:graphicFrame>
          <p:nvGraphicFramePr>
            <p:cNvPr id="1322" name="2D Line Chart"/>
            <p:cNvGraphicFramePr/>
            <p:nvPr/>
          </p:nvGraphicFramePr>
          <p:xfrm>
            <a:off x="-1381355" y="-279400"/>
            <a:ext cx="8055285" cy="2422277"/>
          </p:xfrm>
          <a:graphic xmlns:a="http://schemas.openxmlformats.org/drawingml/2006/main">
            <a:graphicData uri="http://schemas.openxmlformats.org/drawingml/2006/chart">
              <c:chart xmlns:c="http://schemas.openxmlformats.org/drawingml/2006/chart" r:id="rId5"/>
            </a:graphicData>
          </a:graphic>
        </p:graphicFrame>
        <p:sp>
          <p:nvSpPr>
            <p:cNvPr id="1323" name="Caption"/>
            <p:cNvSpPr/>
            <p:nvPr/>
          </p:nvSpPr>
          <p:spPr>
            <a:xfrm>
              <a:off x="0" y="2244476"/>
              <a:ext cx="6444784" cy="584201"/>
            </a:xfrm>
            <a:prstGeom prst="roundRect">
              <a:avLst>
                <a:gd name="adj" fmla="val 0"/>
              </a:avLst>
            </a:prstGeom>
            <a:solidFill>
              <a:srgbClr val="000000">
                <a:alpha val="0"/>
              </a:srgbClr>
            </a:solidFill>
            <a:ln w="12700" cap="flat">
              <a:noFill/>
              <a:miter lim="400000"/>
            </a:ln>
            <a:effectLst/>
            <a:extLst>
              <a:ext uri="{C572A759-6A51-4108-AA02-DFA0A04FC94B}">
                <ma14:wrappingTextBoxFlag xmlns:ma14="http://schemas.microsoft.com/office/mac/drawingml/2011/main" val="1"/>
              </a:ext>
            </a:extLst>
          </p:spPr>
          <p:txBody>
            <a:bodyPr wrap="square" lIns="50800" tIns="50800" rIns="50800" bIns="50800" numCol="1" anchor="t">
              <a:noAutofit/>
            </a:bodyPr>
            <a:lstStyle/>
            <a:p>
              <a:pPr>
                <a:defRPr sz="1600"/>
              </a:pPr>
              <a:r>
                <a:rPr b="1">
                  <a:solidFill>
                    <a:schemeClr val="accent1"/>
                  </a:solidFill>
                </a:rPr>
                <a:t>Note: </a:t>
              </a:r>
              <a:r>
                <a:t>Your priority recovers over time when you're not using resources</a:t>
              </a:r>
            </a:p>
          </p:txBody>
        </p:sp>
      </p:grpSp>
      <p:sp>
        <p:nvSpPr>
          <p:cNvPr id="1325" name="Everyone wants GPUs. SLURM Fairshare decides who goes first.…"/>
          <p:cNvSpPr txBox="1"/>
          <p:nvPr>
            <p:ph type="body" sz="half" idx="4294967295"/>
          </p:nvPr>
        </p:nvSpPr>
        <p:spPr>
          <a:xfrm>
            <a:off x="2592481" y="4012711"/>
            <a:ext cx="8946307" cy="2648639"/>
          </a:xfrm>
          <a:prstGeom prst="rect">
            <a:avLst/>
          </a:prstGeom>
        </p:spPr>
        <p:txBody>
          <a:bodyPr/>
          <a:lstStyle/>
          <a:p>
            <a:pPr marL="508000" indent="-254000">
              <a:buClrTx/>
              <a:buChar char="•"/>
            </a:pPr>
            <a:r>
              <a:t>Everyone wants GPUs. SLURM Fairshare decides who goes first.</a:t>
            </a:r>
          </a:p>
          <a:p>
            <a:pPr marL="508000" indent="-254000">
              <a:buClrTx/>
              <a:buChar char="•"/>
            </a:pPr>
            <a:r>
              <a:t>Use more → priority drops. Stop using → priority recovers.</a:t>
            </a:r>
          </a:p>
          <a:p>
            <a:pPr marL="508000" indent="-254000">
              <a:buClrTx/>
              <a:buChar char="•"/>
            </a:pPr>
            <a:r>
              <a:t>Check your score: </a:t>
            </a:r>
            <a:r>
              <a:rPr b="1">
                <a:solidFill>
                  <a:schemeClr val="accent1"/>
                </a:solidFill>
                <a:latin typeface="Courier New"/>
                <a:ea typeface="Courier New"/>
                <a:cs typeface="Courier New"/>
                <a:sym typeface="Courier New"/>
              </a:rPr>
              <a:t>sshare -u $USER</a:t>
            </a:r>
            <a:endParaRPr b="1">
              <a:solidFill>
                <a:schemeClr val="accent1"/>
              </a:solidFill>
              <a:latin typeface="Courier New"/>
              <a:ea typeface="Courier New"/>
              <a:cs typeface="Courier New"/>
              <a:sym typeface="Courier New"/>
            </a:endParaRPr>
          </a:p>
          <a:p>
            <a:pPr marL="508000" indent="-254000">
              <a:buClrTx/>
              <a:buChar char="•"/>
              <a:defRPr>
                <a:solidFill>
                  <a:srgbClr val="535353"/>
                </a:solidFill>
              </a:defRPr>
            </a:pPr>
            <a:r>
              <a:t>Test your pipeline in </a:t>
            </a:r>
            <a:r>
              <a:rPr b="1">
                <a:solidFill>
                  <a:schemeClr val="accent1"/>
                </a:solidFill>
                <a:latin typeface="Courier New"/>
                <a:ea typeface="Courier New"/>
                <a:cs typeface="Courier New"/>
                <a:sym typeface="Courier New"/>
              </a:rPr>
              <a:t>pot-hpi-aisc-interactive</a:t>
            </a:r>
            <a:r>
              <a:t> first, then submit long runs via </a:t>
            </a:r>
            <a:r>
              <a:rPr b="1">
                <a:solidFill>
                  <a:schemeClr val="accent1"/>
                </a:solidFill>
                <a:latin typeface="Courier New"/>
                <a:ea typeface="Courier New"/>
                <a:cs typeface="Courier New"/>
                <a:sym typeface="Courier New"/>
              </a:rPr>
              <a:t>pot-hpi-aisc-batch</a:t>
            </a:r>
            <a:r>
              <a:t>.</a:t>
            </a:r>
          </a:p>
          <a:p>
            <a:pPr marL="508000" indent="-254000">
              <a:buClrTx/>
              <a:buChar char="•"/>
            </a:pPr>
            <a:r>
              <a:rPr b="1"/>
              <a:t>Important:</a:t>
            </a:r>
            <a:r>
              <a:t> don't request more than you need, don't leave jobs idle.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325"/>
                                        </p:tgtEl>
                                        <p:attrNameLst>
                                          <p:attrName>style.visibility</p:attrName>
                                        </p:attrNameLst>
                                      </p:cBhvr>
                                      <p:to>
                                        <p:strVal val="visible"/>
                                      </p:to>
                                    </p:set>
                                    <p:animEffect filter="fade" transition="in">
                                      <p:cBhvr>
                                        <p:cTn id="7" dur="1000"/>
                                        <p:tgtEl>
                                          <p:spTgt spid="132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325" grpId="1"/>
    </p:bldLst>
  </p:timing>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1327" name="Textplatzhalter 6"/>
          <p:cNvSpPr txBox="1"/>
          <p:nvPr>
            <p:ph type="body" sz="half" idx="1"/>
          </p:nvPr>
        </p:nvSpPr>
        <p:spPr>
          <a:xfrm>
            <a:off x="660820" y="1105199"/>
            <a:ext cx="5197012" cy="5166998"/>
          </a:xfrm>
          <a:prstGeom prst="rect">
            <a:avLst/>
          </a:prstGeom>
        </p:spPr>
        <p:txBody>
          <a:bodyPr/>
          <a:lstStyle/>
          <a:p>
            <a:pPr>
              <a:lnSpc>
                <a:spcPct val="100000"/>
              </a:lnSpc>
              <a:defRPr b="1"/>
            </a:pPr>
            <a:r>
              <a:t>Clone the repository</a:t>
            </a:r>
          </a:p>
          <a:p>
            <a:pPr>
              <a:lnSpc>
                <a:spcPct val="100000"/>
              </a:lnSpc>
              <a:defRPr b="1" spc="-7" sz="1800"/>
            </a:pPr>
            <a:r>
              <a:t>github.com/aihpi/workshop-slurm</a:t>
            </a:r>
          </a:p>
        </p:txBody>
      </p:sp>
      <p:pic>
        <p:nvPicPr>
          <p:cNvPr id="1328" name="Screenshot 2026-04-20 at 17.35.10.png" descr="Screenshot 2026-04-20 at 17.35.10.png"/>
          <p:cNvPicPr>
            <a:picLocks noChangeAspect="1"/>
          </p:cNvPicPr>
          <p:nvPr/>
        </p:nvPicPr>
        <p:blipFill>
          <a:blip r:embed="rId2">
            <a:extLst/>
          </a:blip>
          <a:stretch>
            <a:fillRect/>
          </a:stretch>
        </p:blipFill>
        <p:spPr>
          <a:xfrm>
            <a:off x="6405753" y="74000"/>
            <a:ext cx="5580885" cy="6710000"/>
          </a:xfrm>
          <a:prstGeom prst="rect">
            <a:avLst/>
          </a:prstGeom>
          <a:ln w="12700">
            <a:miter lim="400000"/>
          </a:ln>
        </p:spPr>
      </p:pic>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1330" name="SBATCH Jobs…"/>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SBATCH Jobs</a:t>
            </a:r>
          </a:p>
          <a:p>
            <a:pPr>
              <a:lnSpc>
                <a:spcPct val="100000"/>
              </a:lnSpc>
              <a:spcBef>
                <a:spcPts val="3000"/>
              </a:spcBef>
              <a:defRPr b="1" spc="-10"/>
            </a:pPr>
            <a:r>
              <a:t>Submit jobs via scripts.</a:t>
            </a:r>
            <a:br/>
            <a:r>
              <a:t>Follow along!</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2" name="Freeform 4"/>
          <p:cNvSpPr/>
          <p:nvPr/>
        </p:nvSpPr>
        <p:spPr>
          <a:xfrm>
            <a:off x="7874000" y="3650369"/>
            <a:ext cx="1901479" cy="3073401"/>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33" name="TextBox 8"/>
          <p:cNvSpPr txBox="1"/>
          <p:nvPr/>
        </p:nvSpPr>
        <p:spPr>
          <a:xfrm>
            <a:off x="685799" y="711339"/>
            <a:ext cx="2063801" cy="9293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3700"/>
              </a:lnSpc>
              <a:defRPr sz="2600" u="sng">
                <a:solidFill>
                  <a:srgbClr val="DC640D"/>
                </a:solidFill>
                <a:latin typeface="Codec Pro Bold"/>
                <a:ea typeface="Codec Pro Bold"/>
                <a:cs typeface="Codec Pro Bold"/>
                <a:sym typeface="Codec Pro Bold"/>
              </a:defRPr>
            </a:pPr>
            <a:r>
              <a:t>kisz@hpi.de</a:t>
            </a:r>
            <a:r>
              <a:rPr u="none"/>
              <a:t>    </a:t>
            </a:r>
            <a:r>
              <a:t>hpi.de/kisz</a:t>
            </a:r>
          </a:p>
        </p:txBody>
      </p:sp>
      <p:pic>
        <p:nvPicPr>
          <p:cNvPr id="1334" name="Graphic 11" descr="Graphic 11"/>
          <p:cNvPicPr>
            <a:picLocks noChangeAspect="1"/>
          </p:cNvPicPr>
          <p:nvPr/>
        </p:nvPicPr>
        <p:blipFill>
          <a:blip r:embed="rId3">
            <a:extLst/>
          </a:blip>
          <a:stretch>
            <a:fillRect/>
          </a:stretch>
        </p:blipFill>
        <p:spPr>
          <a:xfrm>
            <a:off x="3810000" y="2589430"/>
            <a:ext cx="2474741" cy="2474741"/>
          </a:xfrm>
          <a:prstGeom prst="rect">
            <a:avLst/>
          </a:prstGeom>
          <a:ln w="12700">
            <a:miter lim="400000"/>
          </a:ln>
        </p:spPr>
      </p:pic>
      <p:sp>
        <p:nvSpPr>
          <p:cNvPr id="1335" name="TextBox 6"/>
          <p:cNvSpPr txBox="1"/>
          <p:nvPr/>
        </p:nvSpPr>
        <p:spPr>
          <a:xfrm>
            <a:off x="3840479" y="1684911"/>
            <a:ext cx="2413781" cy="826285"/>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algn="ctr" defTabSz="609600">
              <a:defRPr sz="2600">
                <a:solidFill>
                  <a:srgbClr val="000000"/>
                </a:solidFill>
                <a:latin typeface="+mj-lt"/>
                <a:ea typeface="+mj-ea"/>
                <a:cs typeface="+mj-cs"/>
                <a:sym typeface="Calibri"/>
              </a:defRPr>
            </a:lvl1pPr>
          </a:lstStyle>
          <a:p>
            <a:pPr/>
            <a:r>
              <a:t>Ihre Meinung ist uns wichtig!</a:t>
            </a:r>
          </a:p>
        </p:txBody>
      </p:sp>
      <p:sp>
        <p:nvSpPr>
          <p:cNvPr id="1336" name="TextBox 9"/>
          <p:cNvSpPr txBox="1"/>
          <p:nvPr/>
        </p:nvSpPr>
        <p:spPr>
          <a:xfrm>
            <a:off x="3840479" y="5064169"/>
            <a:ext cx="2413781" cy="217826"/>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defTabSz="609600">
              <a:defRPr sz="1200">
                <a:solidFill>
                  <a:srgbClr val="000000"/>
                </a:solidFill>
                <a:latin typeface="+mj-lt"/>
                <a:ea typeface="+mj-ea"/>
                <a:cs typeface="+mj-cs"/>
                <a:sym typeface="Calibri"/>
              </a:defRPr>
            </a:lvl1pPr>
          </a:lstStyle>
          <a:p>
            <a:pPr/>
            <a:r>
              <a:t>QR-Code zum Feedback-Formular</a:t>
            </a:r>
          </a:p>
        </p:txBody>
      </p:sp>
      <p:sp>
        <p:nvSpPr>
          <p:cNvPr id="1337"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38" name="Picture 4" descr="Picture 4"/>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HPI">
  <a:themeElements>
    <a:clrScheme name="HPI">
      <a:dk1>
        <a:srgbClr val="5A6065"/>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HPI">
  <a:themeElements>
    <a:clrScheme name="HPI">
      <a:dk1>
        <a:srgbClr val="000000"/>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